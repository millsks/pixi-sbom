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headline out loud and then stop talking for a second. The room needs to feel that this is a gap in what we can assert about our own product, not a tooling preference. Do not name the tool on this slide. If someone asks what prompted this, the honest answer is whichever of the three is most live for us right now — a customer review, a regulation, or the last time we scrambled to answer whether we were exposed to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Executives decide faster when the ask is on slide two and it is small. Fill in the dollar figure with our loaded engineering rate before this meeting — a number you chose beats a vague "minimal". Be ready for the obvious question: if it's free and already written, why do you need approval. The answer is that you are asking for the standard to change, not for permission to run a program. Making it an expectation for every release is the part only they can authorize.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deliberately: one commercial, one operational, one regulatory, so nobody can file this under "a security thing". Lead with whichever is most real for us. If we have lost or delayed a deal over a security review, say so here with the customer's name if that is allowed in the room — one concrete story outweighs the other two bullets. Check the CRA timeline before you present and delete the footer note once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to land: for a financial institution this is not a future requirement. Do not read the table; say which rows apply to us. PCI DSS 4.0, Requirement 6.3.2: keep an inventory of our own software and the third-party components built into it, for vulnerability and patch management. Assessed since 31 March 2025, for anyone who stores, processes or transmits card data. EU DORA, Commission Delegated Regulation 2024/1774, Article 10(2)(d): track the third-party libraries, open source included, in the services behind critical or important functions. Applies since 17 January 2025. Cyber Resilience Act: a machine-readable SBOM for products sold in the EU from 11 December 2027; reporting of exploited vulnerabilities from 11 September 2026. If asked: neither financial rule uses the word "SBOM". An SBOM is how we show an auditor the inventory they require, produced the same way at every build. Have compliance confirm which rows apply to us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these in before the meeting. Sales or the deal desk can give you the questionnaire and deal numbers; whoever ran the last incident can give you the hours. Do not present this slide with brackets still on it — an executive audience will read placeholders as a case you have not built. If a number turns out to be small, use it anyway and say so; being straight about a modest cost buys you the benefit of the doubt on the risk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build-versus-buy slide and it is where a CFO or CTO will push. Two points to hold. First, the gap is silent: a tool that does not understand conda packages reports success, not failure, so we would not discover the hole until someone checked our answer. Second, we are not proposing to build anything — the thing exists and runs today. If they ask whether a vendor will close the gap eventually, say probably, and that we can switch when they do; the output is a standard format, so nothing here locks us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do not read them. The fourth is the one that tends to wake people up, because it is the only row where the answer today is that nobody is looking — a restricted license in a dependency is a legal exposure we are currently carrying without knowing. The fifth matters as soon as we buy software: suppliers now send their own bills of materials, and today we have no way to tell a thorough one from a hollow one. The tool grades a supplier's document and checks it before we rely on it. If someone asks whether stopping builds will slow delivery, the answer is that every check is off by default and we turn them on one at a time once we have seen what they would have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in front of the objection rather than waiting for it. Executives have been sold too much and they discount anyone who won't name a limit. The third bullet is doing quiet work: it flags that adopting this raises a governance question we have not answered, which is better coming from you now than from an auditor later. If someone asks who should own it, say you have a view and will bring it with the results rather than deciding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one to land on. The downside of this decision is genuinely one deleted CI step, and saying so plainly is more persuasive than any benefit on the earlier slides. Be honest about the bus factor if we are the maintainer — name who it is and say the codebase is small and documented. If the room would rather depend on a vendor, that is a reasonable instinct and worth hearing; the answer is that the output format is standard, so moving later costs us nothing we would not pay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decision in the room and then stop. Do not reopen the detail. The phrase that earns trust is the last one: you are willing to come back and recommend dropping it, which tells them the results will be real. Have the date and the product team picked before you walk in, so the yes has nowhere to slip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Verdana" pitchFamily="34" charset="0"/>
                <a:ea typeface="Verdana" pitchFamily="34" charset="-122"/>
                <a:cs typeface="Verdan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Verdana" pitchFamily="34" charset="0"/>
                <a:ea typeface="Verdana" pitchFamily="34" charset="-122"/>
                <a:cs typeface="Verdan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2B"/>
        </a:solidFill>
      </p:bgPr>
    </p:bg>
    <p:spTree>
      <p:nvGrpSpPr>
        <p:cNvPr id="1" name=""/>
        <p:cNvGrpSpPr/>
        <p:nvPr/>
      </p:nvGrpSpPr>
      <p:grpSpPr>
        <a:xfrm>
          <a:off x="0" y="0"/>
          <a:ext cx="0" cy="0"/>
          <a:chOff x="0" y="0"/>
          <a:chExt cx="0" cy="0"/>
        </a:xfrm>
      </p:grpSpPr>
      <p:sp>
        <p:nvSpPr>
          <p:cNvPr id="2" name="Text 0"/>
          <p:cNvSpPr/>
          <p:nvPr/>
        </p:nvSpPr>
        <p:spPr>
          <a:xfrm>
            <a:off x="812800" y="160213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BFAE"/>
                </a:solidFill>
                <a:latin typeface="Courier New" pitchFamily="49" charset="0"/>
                <a:ea typeface="Courier New" pitchFamily="49" charset="-122"/>
                <a:cs typeface="Courier New" pitchFamily="49" charset="-120"/>
              </a:rPr>
              <a:t>DECISION REQUESTED</a:t>
            </a:r>
            <a:endParaRPr lang="en-US" sz="1200" dirty="0"/>
          </a:p>
        </p:txBody>
      </p:sp>
      <p:sp>
        <p:nvSpPr>
          <p:cNvPr id="3" name="Text 1"/>
          <p:cNvSpPr/>
          <p:nvPr>
            <p:ph type="title"/>
          </p:nvPr>
        </p:nvSpPr>
        <p:spPr>
          <a:xfrm>
            <a:off x="812800" y="2094855"/>
            <a:ext cx="10203180" cy="1572220"/>
          </a:xfrm>
          <a:prstGeom prst="rect">
            <a:avLst/>
          </a:prstGeom>
          <a:noFill/>
          <a:ln/>
        </p:spPr>
        <p:txBody>
          <a:bodyPr wrap="square" lIns="0" tIns="0" rIns="0" bIns="0" rtlCol="0" anchor="t">
            <a:normAutofit/>
          </a:bodyPr>
          <a:lstStyle/>
          <a:p>
            <a:pPr algn="l" indent="0" marL="0">
              <a:lnSpc>
                <a:spcPts val="6090"/>
              </a:lnSpc>
              <a:buNone/>
            </a:pPr>
            <a:r>
              <a:rPr lang="en-US" sz="5800" b="1" i="0" dirty="0">
                <a:solidFill>
                  <a:srgbClr val="F7F8F6"/>
                </a:solidFill>
                <a:latin typeface="Verdana" pitchFamily="34" charset="0"/>
                <a:ea typeface="Verdana" pitchFamily="34" charset="-122"/>
                <a:cs typeface="Verdana" pitchFamily="34" charset="-120"/>
              </a:rPr>
              <a:t>We can't prove what's in our software</a:t>
            </a:r>
            <a:endParaRPr lang="en-US" sz="5800" dirty="0"/>
          </a:p>
        </p:txBody>
      </p:sp>
      <p:sp>
        <p:nvSpPr>
          <p:cNvPr id="4" name="Text 2"/>
          <p:cNvSpPr/>
          <p:nvPr/>
        </p:nvSpPr>
        <p:spPr>
          <a:xfrm>
            <a:off x="812800" y="3921075"/>
            <a:ext cx="9418320" cy="11569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5C4CA"/>
                </a:solidFill>
                <a:latin typeface="Verdana" pitchFamily="34" charset="0"/>
                <a:ea typeface="Verdana" pitchFamily="34" charset="-122"/>
                <a:cs typeface="Verdana" pitchFamily="34" charset="-120"/>
              </a:rPr>
              <a:t>Customers ask. Regulators are starting to. So does our own incident response. Today we answer by hand, slowly, and never quite the same way twice.</a:t>
            </a:r>
            <a:endParaRPr lang="en-US" sz="2200" dirty="0"/>
          </a:p>
        </p:txBody>
      </p:sp>
      <p:sp>
        <p:nvSpPr>
          <p:cNvPr id="5" name="Text 3"/>
          <p:cNvSpPr/>
          <p:nvPr/>
        </p:nvSpPr>
        <p:spPr>
          <a:xfrm>
            <a:off x="812800" y="6238280"/>
            <a:ext cx="1835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C93"/>
                </a:solidFill>
                <a:latin typeface="Verdana" pitchFamily="34" charset="0"/>
                <a:ea typeface="Verdana" pitchFamily="34" charset="-122"/>
                <a:cs typeface="Verdana" pitchFamily="34" charset="-120"/>
              </a:rPr>
              <a:t>[Presenter]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I'm asking you to approve</a:t>
            </a:r>
            <a:endParaRPr lang="en-US" sz="3600" dirty="0"/>
          </a:p>
        </p:txBody>
      </p:sp>
      <p:sp>
        <p:nvSpPr>
          <p:cNvPr id="3" name="Text 1"/>
          <p:cNvSpPr/>
          <p:nvPr/>
        </p:nvSpPr>
        <p:spPr>
          <a:xfrm>
            <a:off x="812800" y="1645890"/>
            <a:ext cx="10595610" cy="813991"/>
          </a:xfrm>
          <a:prstGeom prst="rect">
            <a:avLst/>
          </a:prstGeom>
          <a:noFill/>
          <a:ln/>
        </p:spPr>
        <p:txBody>
          <a:bodyPr wrap="square" lIns="0" tIns="0" rIns="0" bIns="0" rtlCol="0" anchor="t">
            <a:normAutofit/>
          </a:bodyPr>
          <a:lstStyle/>
          <a:p>
            <a:pPr algn="l" indent="0" marL="0">
              <a:lnSpc>
                <a:spcPts val="3105"/>
              </a:lnSpc>
              <a:buNone/>
            </a:pPr>
            <a:r>
              <a:rPr lang="en-US" sz="2300" dirty="0">
                <a:solidFill>
                  <a:srgbClr val="10212B"/>
                </a:solidFill>
                <a:latin typeface="Verdana" pitchFamily="34" charset="0"/>
                <a:ea typeface="Verdana" pitchFamily="34" charset="-122"/>
                <a:cs typeface="Verdana" pitchFamily="34" charset="-120"/>
              </a:rPr>
              <a:t>Make a bill of materials a standard output of every release, starting with one product team.</a:t>
            </a:r>
            <a:endParaRPr lang="en-US" sz="2300" dirty="0"/>
          </a:p>
        </p:txBody>
      </p:sp>
      <p:sp>
        <p:nvSpPr>
          <p:cNvPr id="4" name="Shape 2"/>
          <p:cNvSpPr/>
          <p:nvPr/>
        </p:nvSpPr>
        <p:spPr>
          <a:xfrm>
            <a:off x="815975" y="2767856"/>
            <a:ext cx="3380284" cy="1931541"/>
          </a:xfrm>
          <a:prstGeom prst="roundRect">
            <a:avLst>
              <a:gd name="adj" fmla="val 5096"/>
            </a:avLst>
          </a:prstGeom>
          <a:solidFill>
            <a:srgbClr val="FFFFFF"/>
          </a:solidFill>
          <a:ln w="6350">
            <a:solidFill>
              <a:srgbClr val="DFE3DE"/>
            </a:solidFill>
            <a:prstDash val="solid"/>
          </a:ln>
        </p:spPr>
      </p:sp>
      <p:sp>
        <p:nvSpPr>
          <p:cNvPr id="5" name="Text 3"/>
          <p:cNvSpPr/>
          <p:nvPr/>
        </p:nvSpPr>
        <p:spPr>
          <a:xfrm>
            <a:off x="1073150" y="3025031"/>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What it needs</a:t>
            </a:r>
            <a:endParaRPr lang="en-US" sz="1600" dirty="0"/>
          </a:p>
        </p:txBody>
      </p:sp>
      <p:sp>
        <p:nvSpPr>
          <p:cNvPr id="6" name="Text 4"/>
          <p:cNvSpPr/>
          <p:nvPr/>
        </p:nvSpPr>
        <p:spPr>
          <a:xfrm>
            <a:off x="1073150" y="3345061"/>
            <a:ext cx="2951912"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One engineer, part time, for two weeks. No purchase, no new vendor, no headcount.</a:t>
            </a:r>
            <a:endParaRPr lang="en-US" sz="1600" dirty="0"/>
          </a:p>
        </p:txBody>
      </p:sp>
      <p:sp>
        <p:nvSpPr>
          <p:cNvPr id="7" name="Shape 5"/>
          <p:cNvSpPr/>
          <p:nvPr/>
        </p:nvSpPr>
        <p:spPr>
          <a:xfrm>
            <a:off x="4405809" y="2767856"/>
            <a:ext cx="3380333" cy="1931541"/>
          </a:xfrm>
          <a:prstGeom prst="roundRect">
            <a:avLst>
              <a:gd name="adj" fmla="val 5096"/>
            </a:avLst>
          </a:prstGeom>
          <a:solidFill>
            <a:srgbClr val="FFFFFF"/>
          </a:solidFill>
          <a:ln w="6350">
            <a:solidFill>
              <a:srgbClr val="DFE3DE"/>
            </a:solidFill>
            <a:prstDash val="solid"/>
          </a:ln>
        </p:spPr>
      </p:sp>
      <p:sp>
        <p:nvSpPr>
          <p:cNvPr id="8" name="Text 6"/>
          <p:cNvSpPr/>
          <p:nvPr/>
        </p:nvSpPr>
        <p:spPr>
          <a:xfrm>
            <a:off x="4662984" y="302503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What it costs</a:t>
            </a:r>
            <a:endParaRPr lang="en-US" sz="1600" dirty="0"/>
          </a:p>
        </p:txBody>
      </p:sp>
      <p:sp>
        <p:nvSpPr>
          <p:cNvPr id="9" name="Text 7"/>
          <p:cNvSpPr/>
          <p:nvPr/>
        </p:nvSpPr>
        <p:spPr>
          <a:xfrm>
            <a:off x="4662984" y="3345061"/>
            <a:ext cx="295196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Roughly [$___] of engineering time to prove it. The software itself is free and already written.</a:t>
            </a:r>
            <a:endParaRPr lang="en-US" sz="1600" dirty="0"/>
          </a:p>
        </p:txBody>
      </p:sp>
      <p:sp>
        <p:nvSpPr>
          <p:cNvPr id="10" name="Shape 8"/>
          <p:cNvSpPr/>
          <p:nvPr/>
        </p:nvSpPr>
        <p:spPr>
          <a:xfrm>
            <a:off x="7995692" y="2767856"/>
            <a:ext cx="3380333" cy="1931541"/>
          </a:xfrm>
          <a:prstGeom prst="roundRect">
            <a:avLst>
              <a:gd name="adj" fmla="val 5096"/>
            </a:avLst>
          </a:prstGeom>
          <a:solidFill>
            <a:srgbClr val="FFFFFF"/>
          </a:solidFill>
          <a:ln w="6350">
            <a:solidFill>
              <a:srgbClr val="DFE3DE"/>
            </a:solidFill>
            <a:prstDash val="solid"/>
          </a:ln>
        </p:spPr>
      </p:sp>
      <p:sp>
        <p:nvSpPr>
          <p:cNvPr id="11" name="Text 9"/>
          <p:cNvSpPr/>
          <p:nvPr/>
        </p:nvSpPr>
        <p:spPr>
          <a:xfrm>
            <a:off x="8252867" y="302503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7A6C"/>
                </a:solidFill>
                <a:latin typeface="Verdana" pitchFamily="34" charset="0"/>
                <a:ea typeface="Verdana" pitchFamily="34" charset="-122"/>
                <a:cs typeface="Verdana" pitchFamily="34" charset="-120"/>
              </a:rPr>
              <a:t>What you get back</a:t>
            </a:r>
            <a:endParaRPr lang="en-US" sz="1600" dirty="0"/>
          </a:p>
        </p:txBody>
      </p:sp>
      <p:sp>
        <p:nvSpPr>
          <p:cNvPr id="12" name="Text 10"/>
          <p:cNvSpPr/>
          <p:nvPr/>
        </p:nvSpPr>
        <p:spPr>
          <a:xfrm>
            <a:off x="8252867" y="3345061"/>
            <a:ext cx="295196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Verdana" pitchFamily="34" charset="0"/>
                <a:ea typeface="Verdana" pitchFamily="34" charset="-122"/>
                <a:cs typeface="Verdana" pitchFamily="34" charset="-120"/>
              </a:rPr>
              <a:t>Evidence from our own code by [date], and a recommendation either way.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Three things that are true today</a:t>
            </a:r>
            <a:endParaRPr lang="en-US" sz="3600" dirty="0"/>
          </a:p>
        </p:txBody>
      </p:sp>
      <p:sp>
        <p:nvSpPr>
          <p:cNvPr id="3" name="Shape 1"/>
          <p:cNvSpPr/>
          <p:nvPr/>
        </p:nvSpPr>
        <p:spPr>
          <a:xfrm>
            <a:off x="815975" y="1623665"/>
            <a:ext cx="10560050" cy="1046460"/>
          </a:xfrm>
          <a:prstGeom prst="roundRect">
            <a:avLst>
              <a:gd name="adj" fmla="val 9406"/>
            </a:avLst>
          </a:prstGeom>
          <a:solidFill>
            <a:srgbClr val="FFFFFF"/>
          </a:solidFill>
          <a:ln w="6350">
            <a:solidFill>
              <a:srgbClr val="DFE3DE"/>
            </a:solidFill>
            <a:prstDash val="solid"/>
          </a:ln>
        </p:spPr>
      </p:sp>
      <p:pic>
        <p:nvPicPr>
          <p:cNvPr id="4" name="Image 0" descr="Users">    </p:cNvPr>
          <p:cNvPicPr>
            <a:picLocks noChangeAspect="1"/>
          </p:cNvPicPr>
          <p:nvPr/>
        </p:nvPicPr>
        <p:blipFill>
          <a:blip r:embed="rId1"/>
          <a:srcRect l="0" r="0" t="0" b="0"/>
          <a:stretch/>
        </p:blipFill>
        <p:spPr>
          <a:xfrm>
            <a:off x="1073150" y="1981795"/>
            <a:ext cx="330200" cy="330200"/>
          </a:xfrm>
          <a:prstGeom prst="rect">
            <a:avLst/>
          </a:prstGeom>
        </p:spPr>
      </p:pic>
      <p:sp>
        <p:nvSpPr>
          <p:cNvPr id="5" name="Text 2"/>
          <p:cNvSpPr/>
          <p:nvPr/>
        </p:nvSpPr>
        <p:spPr>
          <a:xfrm>
            <a:off x="1581150" y="1855440"/>
            <a:ext cx="9823831"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0212B"/>
                </a:solidFill>
                <a:latin typeface="Verdana" pitchFamily="34" charset="0"/>
                <a:ea typeface="Verdana" pitchFamily="34" charset="-122"/>
                <a:cs typeface="Verdana" pitchFamily="34" charset="-120"/>
              </a:rPr>
              <a:t>A customer asks what's inside the product. We assemble the answer by hand, and the deal waits while we do.</a:t>
            </a:r>
            <a:endParaRPr lang="en-US" sz="1700" dirty="0"/>
          </a:p>
        </p:txBody>
      </p:sp>
      <p:sp>
        <p:nvSpPr>
          <p:cNvPr id="6" name="Shape 3"/>
          <p:cNvSpPr/>
          <p:nvPr/>
        </p:nvSpPr>
        <p:spPr>
          <a:xfrm>
            <a:off x="815975" y="2854275"/>
            <a:ext cx="10560050" cy="1046460"/>
          </a:xfrm>
          <a:prstGeom prst="roundRect">
            <a:avLst>
              <a:gd name="adj" fmla="val 9406"/>
            </a:avLst>
          </a:prstGeom>
          <a:solidFill>
            <a:srgbClr val="FFFFFF"/>
          </a:solidFill>
          <a:ln w="6350">
            <a:solidFill>
              <a:srgbClr val="DFE3DE"/>
            </a:solidFill>
            <a:prstDash val="solid"/>
          </a:ln>
        </p:spPr>
      </p:sp>
      <p:pic>
        <p:nvPicPr>
          <p:cNvPr id="7" name="Image 1" descr="Warning">    </p:cNvPr>
          <p:cNvPicPr>
            <a:picLocks noChangeAspect="1"/>
          </p:cNvPicPr>
          <p:nvPr/>
        </p:nvPicPr>
        <p:blipFill>
          <a:blip r:embed="rId2"/>
          <a:srcRect l="0" r="0" t="0" b="0"/>
          <a:stretch/>
        </p:blipFill>
        <p:spPr>
          <a:xfrm>
            <a:off x="1073150" y="3212405"/>
            <a:ext cx="330200" cy="330200"/>
          </a:xfrm>
          <a:prstGeom prst="rect">
            <a:avLst/>
          </a:prstGeom>
        </p:spPr>
      </p:pic>
      <p:sp>
        <p:nvSpPr>
          <p:cNvPr id="8" name="Text 4"/>
          <p:cNvSpPr/>
          <p:nvPr/>
        </p:nvSpPr>
        <p:spPr>
          <a:xfrm>
            <a:off x="1581150" y="3086050"/>
            <a:ext cx="9823831"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0212B"/>
                </a:solidFill>
                <a:latin typeface="Verdana" pitchFamily="34" charset="0"/>
                <a:ea typeface="Verdana" pitchFamily="34" charset="-122"/>
                <a:cs typeface="Verdana" pitchFamily="34" charset="-120"/>
              </a:rPr>
              <a:t>A serious vulnerability hits the news. We can't say that morning whether it's in anything we ship.</a:t>
            </a:r>
            <a:endParaRPr lang="en-US" sz="1700" dirty="0"/>
          </a:p>
        </p:txBody>
      </p:sp>
      <p:sp>
        <p:nvSpPr>
          <p:cNvPr id="9" name="Shape 5"/>
          <p:cNvSpPr/>
          <p:nvPr/>
        </p:nvSpPr>
        <p:spPr>
          <a:xfrm>
            <a:off x="815975" y="4084886"/>
            <a:ext cx="10560050" cy="1046460"/>
          </a:xfrm>
          <a:prstGeom prst="roundRect">
            <a:avLst>
              <a:gd name="adj" fmla="val 9406"/>
            </a:avLst>
          </a:prstGeom>
          <a:solidFill>
            <a:srgbClr val="FFFFFF"/>
          </a:solidFill>
          <a:ln w="6350">
            <a:solidFill>
              <a:srgbClr val="DFE3DE"/>
            </a:solidFill>
            <a:prstDash val="solid"/>
          </a:ln>
        </p:spPr>
      </p:sp>
      <p:pic>
        <p:nvPicPr>
          <p:cNvPr id="10" name="Image 2" descr="Lock">    </p:cNvPr>
          <p:cNvPicPr>
            <a:picLocks noChangeAspect="1"/>
          </p:cNvPicPr>
          <p:nvPr/>
        </p:nvPicPr>
        <p:blipFill>
          <a:blip r:embed="rId3"/>
          <a:srcRect l="0" r="0" t="0" b="0"/>
          <a:stretch/>
        </p:blipFill>
        <p:spPr>
          <a:xfrm>
            <a:off x="1073150" y="4443016"/>
            <a:ext cx="330200" cy="330200"/>
          </a:xfrm>
          <a:prstGeom prst="rect">
            <a:avLst/>
          </a:prstGeom>
        </p:spPr>
      </p:pic>
      <p:sp>
        <p:nvSpPr>
          <p:cNvPr id="11" name="Text 6"/>
          <p:cNvSpPr/>
          <p:nvPr/>
        </p:nvSpPr>
        <p:spPr>
          <a:xfrm>
            <a:off x="1581150" y="4316661"/>
            <a:ext cx="9823831"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0212B"/>
                </a:solidFill>
                <a:latin typeface="Verdana" pitchFamily="34" charset="0"/>
                <a:ea typeface="Verdana" pitchFamily="34" charset="-122"/>
                <a:cs typeface="Verdana" pitchFamily="34" charset="-120"/>
              </a:rPr>
              <a:t>US federal purchasing already requires this list. The EU Cyber Resilience Act phases in through 2027.</a:t>
            </a:r>
            <a:endParaRPr lang="en-US" sz="1700" dirty="0"/>
          </a:p>
        </p:txBody>
      </p:sp>
      <p:sp>
        <p:nvSpPr>
          <p:cNvPr id="12" name="Text 7"/>
          <p:cNvSpPr/>
          <p:nvPr/>
        </p:nvSpPr>
        <p:spPr>
          <a:xfrm>
            <a:off x="812800" y="6238280"/>
            <a:ext cx="54710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Verdana" pitchFamily="34" charset="0"/>
                <a:ea typeface="Verdana" pitchFamily="34" charset="-122"/>
                <a:cs typeface="Verdana" pitchFamily="34" charset="-120"/>
              </a:rPr>
              <a:t>Confirm the current regulatory timelines before presenting.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The rules that already ask for this list</a:t>
            </a:r>
            <a:endParaRPr lang="en-US" sz="3600" dirty="0"/>
          </a:p>
        </p:txBody>
      </p:sp>
      <p:sp>
        <p:nvSpPr>
          <p:cNvPr id="3" name="Shape 1"/>
          <p:cNvSpPr/>
          <p:nvPr/>
        </p:nvSpPr>
        <p:spPr>
          <a:xfrm>
            <a:off x="812800" y="1601440"/>
            <a:ext cx="10566400" cy="0"/>
          </a:xfrm>
          <a:prstGeom prst="line">
            <a:avLst/>
          </a:prstGeom>
          <a:noFill/>
          <a:ln w="12700">
            <a:solidFill>
              <a:srgbClr val="141413">
                <a:alpha val="22000"/>
              </a:srgbClr>
            </a:solidFill>
            <a:prstDash val="solid"/>
          </a:ln>
        </p:spPr>
      </p:sp>
      <p:sp>
        <p:nvSpPr>
          <p:cNvPr id="4" name="Shape 2"/>
          <p:cNvSpPr/>
          <p:nvPr/>
        </p:nvSpPr>
        <p:spPr>
          <a:xfrm>
            <a:off x="819150" y="1595090"/>
            <a:ext cx="0" cy="2463403"/>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77900" y="1734790"/>
          <a:ext cx="10248900" cy="2196703"/>
        </p:xfrm>
        <a:graphic>
          <a:graphicData uri="http://schemas.openxmlformats.org/drawingml/2006/table">
            <a:tbl>
              <a:tblPr/>
              <a:tblGrid>
                <a:gridCol w="4099560"/>
                <a:gridCol w="4304538"/>
                <a:gridCol w="1844802"/>
              </a:tblGrid>
              <a:tr h="439341">
                <a:tc>
                  <a:txBody>
                    <a:bodyPr/>
                    <a:lstStyle/>
                    <a:p>
                      <a:pPr indent="0" marL="0">
                        <a:lnSpc>
                          <a:spcPts val="2240"/>
                        </a:lnSpc>
                        <a:buNone/>
                      </a:pPr>
                      <a:r>
                        <a:rPr lang="en-US" sz="1600" b="1" dirty="0">
                          <a:solidFill>
                            <a:srgbClr val="F7F8F6"/>
                          </a:solidFill>
                          <a:latin typeface="Verdana" pitchFamily="34" charset="0"/>
                          <a:ea typeface="Verdana" pitchFamily="34" charset="-122"/>
                          <a:cs typeface="Verdana" pitchFamily="34" charset="-120"/>
                        </a:rPr>
                        <a:t>Rule</a:t>
                      </a:r>
                      <a:endParaRPr lang="en-US" sz="1600" dirty="0">
                        <a:latin typeface="Verdana" charset="0"/>
                        <a:ea typeface="Verdana" charset="0"/>
                        <a:cs typeface="Verdana" charset="0"/>
                      </a:endParaRPr>
                    </a:p>
                  </a:txBody>
                  <a:tcPr marL="71120" marR="71120" marT="71120" marB="71120" anchor="t">
                    <a:lnL w="0" cap="flat" cmpd="sng" algn="ctr">
                      <a:noFill/>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240"/>
                        </a:lnSpc>
                        <a:buNone/>
                      </a:pPr>
                      <a:r>
                        <a:rPr lang="en-US" sz="1600" b="1" dirty="0">
                          <a:solidFill>
                            <a:srgbClr val="F7F8F6"/>
                          </a:solidFill>
                          <a:latin typeface="Verdana" pitchFamily="34" charset="0"/>
                          <a:ea typeface="Verdana" pitchFamily="34" charset="-122"/>
                          <a:cs typeface="Verdana" pitchFamily="34" charset="-120"/>
                        </a:rPr>
                        <a:t>Who it covers</a:t>
                      </a:r>
                      <a:endParaRPr lang="en-US" sz="1600" dirty="0">
                        <a:latin typeface="Verdana" charset="0"/>
                        <a:ea typeface="Verdana" charset="0"/>
                        <a:cs typeface="Verdana" charset="0"/>
                      </a:endParaRPr>
                    </a:p>
                  </a:txBody>
                  <a:tcPr marL="71120" marR="71120" marT="71120" marB="71120"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240"/>
                        </a:lnSpc>
                        <a:buNone/>
                      </a:pPr>
                      <a:r>
                        <a:rPr lang="en-US" sz="1600" b="1" dirty="0">
                          <a:solidFill>
                            <a:srgbClr val="F7F8F6"/>
                          </a:solidFill>
                          <a:latin typeface="Verdana" pitchFamily="34" charset="0"/>
                          <a:ea typeface="Verdana" pitchFamily="34" charset="-122"/>
                          <a:cs typeface="Verdana" pitchFamily="34" charset="-120"/>
                        </a:rPr>
                        <a:t>In force</a:t>
                      </a:r>
                      <a:endParaRPr lang="en-US" sz="1600" dirty="0">
                        <a:latin typeface="Verdana" charset="0"/>
                        <a:ea typeface="Verdana" charset="0"/>
                        <a:cs typeface="Verdana" charset="0"/>
                      </a:endParaRPr>
                    </a:p>
                  </a:txBody>
                  <a:tcPr marL="71120" marR="71120" marT="71120" marB="71120"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r>
              <a:tr h="439341">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PCI DSS 4.0</a:t>
                      </a:r>
                      <a:endParaRPr lang="en-US" sz="1600" dirty="0">
                        <a:latin typeface="Verdana" charset="0"/>
                        <a:ea typeface="Verdana" charset="0"/>
                        <a:cs typeface="Verdana" charset="0"/>
                      </a:endParaRPr>
                    </a:p>
                  </a:txBody>
                  <a:tcPr marL="71120" marR="71120" marT="71120" marB="7112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Banks and anyone handling card data</a:t>
                      </a:r>
                      <a:endParaRPr lang="en-US" sz="1600" dirty="0">
                        <a:latin typeface="Verdana" charset="0"/>
                        <a:ea typeface="Verdana" charset="0"/>
                        <a:cs typeface="Verdana" charset="0"/>
                      </a:endParaRPr>
                    </a:p>
                  </a:txBody>
                  <a:tcPr marL="71120" marR="71120" marT="71120" marB="7112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Mar 2025</a:t>
                      </a:r>
                      <a:endParaRPr lang="en-US" sz="1600" dirty="0">
                        <a:latin typeface="Verdana" charset="0"/>
                        <a:ea typeface="Verdana" charset="0"/>
                        <a:cs typeface="Verdana" charset="0"/>
                      </a:endParaRPr>
                    </a:p>
                  </a:txBody>
                  <a:tcPr marL="71120" marR="71120" marT="71120" marB="7112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EU DORA</a:t>
                      </a:r>
                      <a:endParaRPr lang="en-US" sz="1600" dirty="0">
                        <a:latin typeface="Verdana" charset="0"/>
                        <a:ea typeface="Verdana" charset="0"/>
                        <a:cs typeface="Verdana" charset="0"/>
                      </a:endParaRPr>
                    </a:p>
                  </a:txBody>
                  <a:tcPr marL="71120" marR="71120" marT="71120" marB="71120"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EU banks, insurers, investment firms</a:t>
                      </a:r>
                      <a:endParaRPr lang="en-US" sz="1600" dirty="0">
                        <a:latin typeface="Verdana" charset="0"/>
                        <a:ea typeface="Verdana" charset="0"/>
                        <a:cs typeface="Verdana" charset="0"/>
                      </a:endParaRPr>
                    </a:p>
                  </a:txBody>
                  <a:tcPr marL="71120" marR="71120" marT="71120" marB="71120"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Jan 2025</a:t>
                      </a:r>
                      <a:endParaRPr lang="en-US" sz="1600" dirty="0">
                        <a:latin typeface="Verdana" charset="0"/>
                        <a:ea typeface="Verdana" charset="0"/>
                        <a:cs typeface="Verdana" charset="0"/>
                      </a:endParaRPr>
                    </a:p>
                  </a:txBody>
                  <a:tcPr marL="71120" marR="71120" marT="71120" marB="71120"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r h="439341">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EU Cyber Resilience Act</a:t>
                      </a:r>
                      <a:endParaRPr lang="en-US" sz="1600" dirty="0">
                        <a:latin typeface="Verdana" charset="0"/>
                        <a:ea typeface="Verdana" charset="0"/>
                        <a:cs typeface="Verdana" charset="0"/>
                      </a:endParaRPr>
                    </a:p>
                  </a:txBody>
                  <a:tcPr marL="71120" marR="71120" marT="71120" marB="7112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Anyone selling software in the EU</a:t>
                      </a:r>
                      <a:endParaRPr lang="en-US" sz="1600" dirty="0">
                        <a:latin typeface="Verdana" charset="0"/>
                        <a:ea typeface="Verdana" charset="0"/>
                        <a:cs typeface="Verdana" charset="0"/>
                      </a:endParaRPr>
                    </a:p>
                  </a:txBody>
                  <a:tcPr marL="71120" marR="71120" marT="71120" marB="7112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Dec 2027</a:t>
                      </a:r>
                      <a:endParaRPr lang="en-US" sz="1600" dirty="0">
                        <a:latin typeface="Verdana" charset="0"/>
                        <a:ea typeface="Verdana" charset="0"/>
                        <a:cs typeface="Verdana" charset="0"/>
                      </a:endParaRPr>
                    </a:p>
                  </a:txBody>
                  <a:tcPr marL="71120" marR="71120" marT="71120" marB="7112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US Executive Order 14028</a:t>
                      </a:r>
                      <a:endParaRPr lang="en-US" sz="1600" dirty="0">
                        <a:latin typeface="Verdana" charset="0"/>
                        <a:ea typeface="Verdana" charset="0"/>
                        <a:cs typeface="Verdana" charset="0"/>
                      </a:endParaRPr>
                    </a:p>
                  </a:txBody>
                  <a:tcPr marL="71120" marR="71120" marT="71120" marB="71120"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Software sold to federal agencies</a:t>
                      </a:r>
                      <a:endParaRPr lang="en-US" sz="1600" dirty="0">
                        <a:latin typeface="Verdana" charset="0"/>
                        <a:ea typeface="Verdana" charset="0"/>
                        <a:cs typeface="Verdana" charset="0"/>
                      </a:endParaRPr>
                    </a:p>
                  </a:txBody>
                  <a:tcPr marL="71120" marR="71120" marT="71120" marB="71120"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240"/>
                        </a:lnSpc>
                        <a:buNone/>
                      </a:pPr>
                      <a:r>
                        <a:rPr lang="en-US" sz="1600" dirty="0">
                          <a:solidFill>
                            <a:srgbClr val="10212B"/>
                          </a:solidFill>
                          <a:latin typeface="Verdana" pitchFamily="34" charset="0"/>
                          <a:ea typeface="Verdana" pitchFamily="34" charset="-122"/>
                          <a:cs typeface="Verdana" pitchFamily="34" charset="-120"/>
                        </a:rPr>
                        <a:t>2021</a:t>
                      </a:r>
                      <a:endParaRPr lang="en-US" sz="1600" dirty="0">
                        <a:latin typeface="Verdana" charset="0"/>
                        <a:ea typeface="Verdana" charset="0"/>
                        <a:cs typeface="Verdana" charset="0"/>
                      </a:endParaRPr>
                    </a:p>
                  </a:txBody>
                  <a:tcPr marL="71120" marR="71120" marT="71120" marB="71120"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bl>
          </a:graphicData>
        </a:graphic>
      </p:graphicFrame>
      <p:sp>
        <p:nvSpPr>
          <p:cNvPr id="6" name="Text 3"/>
          <p:cNvSpPr/>
          <p:nvPr/>
        </p:nvSpPr>
        <p:spPr>
          <a:xfrm>
            <a:off x="812800" y="4337893"/>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Verdana" pitchFamily="34" charset="0"/>
                <a:ea typeface="Verdana" pitchFamily="34" charset="-122"/>
                <a:cs typeface="Verdana" pitchFamily="34" charset="-120"/>
              </a:rPr>
              <a:t>The two financial rules apply today. Each asks for an inventory of the software we build and the components inside it.</a:t>
            </a:r>
            <a:endParaRPr lang="en-US" sz="1600" dirty="0"/>
          </a:p>
        </p:txBody>
      </p:sp>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Verdana" pitchFamily="34" charset="0"/>
                <a:ea typeface="Verdana" pitchFamily="34" charset="-122"/>
                <a:cs typeface="Verdana" pitchFamily="34" charset="-120"/>
              </a:rPr>
              <a:t>Sources: PCI DSS v4.0 Req. 6.3.2 · Commission Delegated Reg. (EU) 2024/1774 Art. 10(2)(d) · Reg. (EU) 2024/2847 · EO 14028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8F6"/>
                </a:solidFill>
                <a:latin typeface="Verdana" pitchFamily="34" charset="0"/>
                <a:ea typeface="Verdana" pitchFamily="34" charset="-122"/>
                <a:cs typeface="Verdana" pitchFamily="34" charset="-120"/>
              </a:rPr>
              <a:t>What that costs us now</a:t>
            </a:r>
            <a:endParaRPr lang="en-US" sz="3600" dirty="0"/>
          </a:p>
        </p:txBody>
      </p:sp>
      <p:sp>
        <p:nvSpPr>
          <p:cNvPr id="3" name="Shape 1"/>
          <p:cNvSpPr/>
          <p:nvPr/>
        </p:nvSpPr>
        <p:spPr>
          <a:xfrm>
            <a:off x="812800" y="1645890"/>
            <a:ext cx="3403600" cy="2066925"/>
          </a:xfrm>
          <a:prstGeom prst="roundRect">
            <a:avLst>
              <a:gd name="adj" fmla="val 4916"/>
            </a:avLst>
          </a:prstGeom>
          <a:solidFill>
            <a:srgbClr val="18313E"/>
          </a:solidFill>
          <a:ln/>
        </p:spPr>
      </p:sp>
      <p:sp>
        <p:nvSpPr>
          <p:cNvPr id="4" name="Text 2"/>
          <p:cNvSpPr/>
          <p:nvPr/>
        </p:nvSpPr>
        <p:spPr>
          <a:xfrm>
            <a:off x="1092200" y="1925290"/>
            <a:ext cx="2930144"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6FBFAE"/>
                </a:solidFill>
                <a:latin typeface="Verdana" pitchFamily="34" charset="0"/>
                <a:ea typeface="Verdana" pitchFamily="34" charset="-122"/>
                <a:cs typeface="Verdana" pitchFamily="34" charset="-120"/>
              </a:rPr>
              <a:t>[__]</a:t>
            </a:r>
            <a:endParaRPr lang="en-US" sz="5200" dirty="0"/>
          </a:p>
        </p:txBody>
      </p:sp>
      <p:sp>
        <p:nvSpPr>
          <p:cNvPr id="5" name="Text 3"/>
          <p:cNvSpPr/>
          <p:nvPr/>
        </p:nvSpPr>
        <p:spPr>
          <a:xfrm>
            <a:off x="1092200" y="266189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engineer-days a quarter spent answering security questionnaires</a:t>
            </a:r>
            <a:endParaRPr lang="en-US" sz="1500" dirty="0"/>
          </a:p>
        </p:txBody>
      </p:sp>
      <p:sp>
        <p:nvSpPr>
          <p:cNvPr id="6" name="Shape 4"/>
          <p:cNvSpPr/>
          <p:nvPr/>
        </p:nvSpPr>
        <p:spPr>
          <a:xfrm>
            <a:off x="4394200" y="1645890"/>
            <a:ext cx="3403600" cy="2066925"/>
          </a:xfrm>
          <a:prstGeom prst="roundRect">
            <a:avLst>
              <a:gd name="adj" fmla="val 4916"/>
            </a:avLst>
          </a:prstGeom>
          <a:solidFill>
            <a:srgbClr val="18313E"/>
          </a:solidFill>
          <a:ln/>
        </p:spPr>
      </p:sp>
      <p:sp>
        <p:nvSpPr>
          <p:cNvPr id="7" name="Text 5"/>
          <p:cNvSpPr/>
          <p:nvPr/>
        </p:nvSpPr>
        <p:spPr>
          <a:xfrm>
            <a:off x="4673600" y="1925290"/>
            <a:ext cx="2930144"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6FBFAE"/>
                </a:solidFill>
                <a:latin typeface="Verdana" pitchFamily="34" charset="0"/>
                <a:ea typeface="Verdana" pitchFamily="34" charset="-122"/>
                <a:cs typeface="Verdana" pitchFamily="34" charset="-120"/>
              </a:rPr>
              <a:t>[__]</a:t>
            </a:r>
            <a:endParaRPr lang="en-US" sz="5200" dirty="0"/>
          </a:p>
        </p:txBody>
      </p:sp>
      <p:sp>
        <p:nvSpPr>
          <p:cNvPr id="8" name="Text 6"/>
          <p:cNvSpPr/>
          <p:nvPr/>
        </p:nvSpPr>
        <p:spPr>
          <a:xfrm>
            <a:off x="4673600" y="266189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deals last year where a compliance review pushed the close date</a:t>
            </a:r>
            <a:endParaRPr lang="en-US" sz="1500" dirty="0"/>
          </a:p>
        </p:txBody>
      </p:sp>
      <p:sp>
        <p:nvSpPr>
          <p:cNvPr id="9" name="Shape 7"/>
          <p:cNvSpPr/>
          <p:nvPr/>
        </p:nvSpPr>
        <p:spPr>
          <a:xfrm>
            <a:off x="7975600" y="1645890"/>
            <a:ext cx="3403600" cy="2066925"/>
          </a:xfrm>
          <a:prstGeom prst="roundRect">
            <a:avLst>
              <a:gd name="adj" fmla="val 4916"/>
            </a:avLst>
          </a:prstGeom>
          <a:solidFill>
            <a:srgbClr val="18313E"/>
          </a:solidFill>
          <a:ln/>
        </p:spPr>
      </p:sp>
      <p:sp>
        <p:nvSpPr>
          <p:cNvPr id="10" name="Text 8"/>
          <p:cNvSpPr/>
          <p:nvPr/>
        </p:nvSpPr>
        <p:spPr>
          <a:xfrm>
            <a:off x="8255000" y="1925290"/>
            <a:ext cx="2930144"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6FBFAE"/>
                </a:solidFill>
                <a:latin typeface="Verdana" pitchFamily="34" charset="0"/>
                <a:ea typeface="Verdana" pitchFamily="34" charset="-122"/>
                <a:cs typeface="Verdana" pitchFamily="34" charset="-120"/>
              </a:rPr>
              <a:t>[__]</a:t>
            </a:r>
            <a:endParaRPr lang="en-US" sz="5200" dirty="0"/>
          </a:p>
        </p:txBody>
      </p:sp>
      <p:sp>
        <p:nvSpPr>
          <p:cNvPr id="11" name="Text 9"/>
          <p:cNvSpPr/>
          <p:nvPr/>
        </p:nvSpPr>
        <p:spPr>
          <a:xfrm>
            <a:off x="8255000" y="266189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hours to answer "are we exposed?" the last time it mattered</a:t>
            </a:r>
            <a:endParaRPr lang="en-US" sz="1500" dirty="0"/>
          </a:p>
        </p:txBody>
      </p:sp>
      <p:sp>
        <p:nvSpPr>
          <p:cNvPr id="12" name="Text 10"/>
          <p:cNvSpPr/>
          <p:nvPr/>
        </p:nvSpPr>
        <p:spPr>
          <a:xfrm>
            <a:off x="812800" y="4043015"/>
            <a:ext cx="1059561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8F6"/>
                </a:solidFill>
                <a:latin typeface="Verdana" pitchFamily="34" charset="0"/>
                <a:ea typeface="Verdana" pitchFamily="34" charset="-122"/>
                <a:cs typeface="Verdana" pitchFamily="34" charset="-120"/>
              </a:rPr>
              <a:t>All three recur, and all three are paid for by pulling senior engineers off product work.</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Why we can't simply buy this</a:t>
            </a:r>
            <a:endParaRPr lang="en-US" sz="3600" dirty="0"/>
          </a:p>
        </p:txBody>
      </p:sp>
      <p:sp>
        <p:nvSpPr>
          <p:cNvPr id="3" name="Text 1"/>
          <p:cNvSpPr/>
          <p:nvPr/>
        </p:nvSpPr>
        <p:spPr>
          <a:xfrm>
            <a:off x="812800" y="1595090"/>
            <a:ext cx="10595610" cy="10387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4A5568"/>
                </a:solidFill>
                <a:latin typeface="Verdana" pitchFamily="34" charset="0"/>
                <a:ea typeface="Verdana" pitchFamily="34" charset="-122"/>
                <a:cs typeface="Verdana" pitchFamily="34" charset="-120"/>
              </a:rPr>
              <a:t>The tools on the market were built for the ecosystems most companies use. We build on conda packages and Python wheels together, and that combination is the part they handle badly.</a:t>
            </a:r>
            <a:endParaRPr lang="en-US" sz="1900" dirty="0"/>
          </a:p>
        </p:txBody>
      </p:sp>
      <p:sp>
        <p:nvSpPr>
          <p:cNvPr id="4" name="Shape 2"/>
          <p:cNvSpPr/>
          <p:nvPr/>
        </p:nvSpPr>
        <p:spPr>
          <a:xfrm>
            <a:off x="815975" y="2891036"/>
            <a:ext cx="5181600" cy="1702991"/>
          </a:xfrm>
          <a:prstGeom prst="roundRect">
            <a:avLst>
              <a:gd name="adj" fmla="val 5780"/>
            </a:avLst>
          </a:prstGeom>
          <a:solidFill>
            <a:srgbClr val="FFFFFF"/>
          </a:solidFill>
          <a:ln w="6350">
            <a:solidFill>
              <a:srgbClr val="DFE3DE"/>
            </a:solidFill>
            <a:prstDash val="solid"/>
          </a:ln>
        </p:spPr>
      </p:sp>
      <p:sp>
        <p:nvSpPr>
          <p:cNvPr id="5" name="Text 3"/>
          <p:cNvSpPr/>
          <p:nvPr/>
        </p:nvSpPr>
        <p:spPr>
          <a:xfrm>
            <a:off x="1073150" y="3148211"/>
            <a:ext cx="48072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212B"/>
                </a:solidFill>
                <a:latin typeface="Verdana" pitchFamily="34" charset="0"/>
                <a:ea typeface="Verdana" pitchFamily="34" charset="-122"/>
                <a:cs typeface="Verdana" pitchFamily="34" charset="-120"/>
              </a:rPr>
              <a:t>A bought tool reports</a:t>
            </a:r>
            <a:endParaRPr lang="en-US" sz="1700" dirty="0"/>
          </a:p>
        </p:txBody>
      </p:sp>
      <p:sp>
        <p:nvSpPr>
          <p:cNvPr id="6" name="Text 4"/>
          <p:cNvSpPr/>
          <p:nvPr/>
        </p:nvSpPr>
        <p:spPr>
          <a:xfrm>
            <a:off x="1073150" y="3483471"/>
            <a:ext cx="480726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Verdana" pitchFamily="34" charset="0"/>
                <a:ea typeface="Verdana" pitchFamily="34" charset="-122"/>
                <a:cs typeface="Verdana" pitchFamily="34" charset="-120"/>
              </a:rPr>
              <a:t>A clean inventory, missing a large share of what we actually install — with no error to tell us.</a:t>
            </a:r>
            <a:endParaRPr lang="en-US" sz="1600" dirty="0"/>
          </a:p>
        </p:txBody>
      </p:sp>
      <p:sp>
        <p:nvSpPr>
          <p:cNvPr id="7" name="Shape 5"/>
          <p:cNvSpPr/>
          <p:nvPr/>
        </p:nvSpPr>
        <p:spPr>
          <a:xfrm>
            <a:off x="6203950" y="2887861"/>
            <a:ext cx="5175250" cy="1709341"/>
          </a:xfrm>
          <a:prstGeom prst="roundRect">
            <a:avLst>
              <a:gd name="adj" fmla="val 5944"/>
            </a:avLst>
          </a:prstGeom>
          <a:solidFill>
            <a:srgbClr val="10212B"/>
          </a:solidFill>
          <a:ln/>
        </p:spPr>
      </p:sp>
      <p:sp>
        <p:nvSpPr>
          <p:cNvPr id="8" name="Text 6"/>
          <p:cNvSpPr/>
          <p:nvPr/>
        </p:nvSpPr>
        <p:spPr>
          <a:xfrm>
            <a:off x="6457950" y="3141861"/>
            <a:ext cx="480726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6FBFAE"/>
                </a:solidFill>
                <a:latin typeface="Verdana" pitchFamily="34" charset="0"/>
                <a:ea typeface="Verdana" pitchFamily="34" charset="-122"/>
                <a:cs typeface="Verdana" pitchFamily="34" charset="-120"/>
              </a:rPr>
              <a:t>Which is the dangerous case</a:t>
            </a:r>
            <a:endParaRPr lang="en-US" sz="1700" dirty="0"/>
          </a:p>
        </p:txBody>
      </p:sp>
      <p:sp>
        <p:nvSpPr>
          <p:cNvPr id="9" name="Text 7"/>
          <p:cNvSpPr/>
          <p:nvPr/>
        </p:nvSpPr>
        <p:spPr>
          <a:xfrm>
            <a:off x="6457950" y="3477121"/>
            <a:ext cx="480726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C4CA"/>
                </a:solidFill>
                <a:latin typeface="Verdana" pitchFamily="34" charset="0"/>
                <a:ea typeface="Verdana" pitchFamily="34" charset="-122"/>
                <a:cs typeface="Verdana" pitchFamily="34" charset="-120"/>
              </a:rPr>
              <a:t>An incomplete list we trust is worse than no list. We'd answer the customer, and be wrong.</a:t>
            </a:r>
            <a:endParaRPr lang="en-US" sz="1600" dirty="0"/>
          </a:p>
        </p:txBody>
      </p:sp>
      <p:sp>
        <p:nvSpPr>
          <p:cNvPr id="10" name="Text 8"/>
          <p:cNvSpPr/>
          <p:nvPr/>
        </p:nvSpPr>
        <p:spPr>
          <a:xfrm>
            <a:off x="812800" y="4876602"/>
            <a:ext cx="105956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212B"/>
                </a:solidFill>
                <a:latin typeface="Verdana" pitchFamily="34" charset="0"/>
                <a:ea typeface="Verdana" pitchFamily="34" charset="-122"/>
                <a:cs typeface="Verdana" pitchFamily="34" charset="-120"/>
              </a:rPr>
              <a:t>The tool we'd use instead is already built, already runs against our lockfiles, and costs nothing.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9658"/>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0212B"/>
                </a:solidFill>
                <a:latin typeface="Verdana" pitchFamily="34" charset="0"/>
                <a:ea typeface="Verdana" pitchFamily="34" charset="-122"/>
                <a:cs typeface="Verdana" pitchFamily="34" charset="-120"/>
              </a:rPr>
              <a:t>What changes</a:t>
            </a:r>
            <a:endParaRPr lang="en-US" sz="3566" dirty="0"/>
          </a:p>
        </p:txBody>
      </p:sp>
      <p:sp>
        <p:nvSpPr>
          <p:cNvPr id="3" name="Shape 1"/>
          <p:cNvSpPr/>
          <p:nvPr/>
        </p:nvSpPr>
        <p:spPr>
          <a:xfrm>
            <a:off x="812800" y="1592808"/>
            <a:ext cx="10566400" cy="0"/>
          </a:xfrm>
          <a:prstGeom prst="line">
            <a:avLst/>
          </a:prstGeom>
          <a:noFill/>
          <a:ln w="12700">
            <a:solidFill>
              <a:srgbClr val="141413">
                <a:alpha val="22000"/>
              </a:srgbClr>
            </a:solidFill>
            <a:prstDash val="solid"/>
          </a:ln>
        </p:spPr>
      </p:sp>
      <p:sp>
        <p:nvSpPr>
          <p:cNvPr id="4" name="Shape 2"/>
          <p:cNvSpPr/>
          <p:nvPr/>
        </p:nvSpPr>
        <p:spPr>
          <a:xfrm>
            <a:off x="819150" y="1586458"/>
            <a:ext cx="0" cy="3696543"/>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77900" y="1726158"/>
          <a:ext cx="10248900" cy="3429843"/>
        </p:xfrm>
        <a:graphic>
          <a:graphicData uri="http://schemas.openxmlformats.org/drawingml/2006/table">
            <a:tbl>
              <a:tblPr/>
              <a:tblGrid>
                <a:gridCol w="3894582"/>
                <a:gridCol w="3177159"/>
                <a:gridCol w="3177159"/>
              </a:tblGrid>
              <a:tr h="432048">
                <a:tc>
                  <a:txBody>
                    <a:bodyPr/>
                    <a:lstStyle/>
                    <a:p>
                      <a:pPr indent="0" marL="0">
                        <a:lnSpc>
                          <a:spcPts val="2198"/>
                        </a:lnSpc>
                        <a:buNone/>
                      </a:pPr>
                      <a:r>
                        <a:rPr lang="en-US" sz="1570" b="1" dirty="0">
                          <a:solidFill>
                            <a:srgbClr val="F7F8F6"/>
                          </a:solidFill>
                          <a:latin typeface="Verdana" pitchFamily="34" charset="0"/>
                          <a:ea typeface="Verdana" pitchFamily="34" charset="-122"/>
                          <a:cs typeface="Verdana" pitchFamily="34" charset="-120"/>
                        </a:rPr>
                        <a:t>The question</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198"/>
                        </a:lnSpc>
                        <a:buNone/>
                      </a:pPr>
                      <a:r>
                        <a:rPr lang="en-US" sz="1570" b="1" dirty="0">
                          <a:solidFill>
                            <a:srgbClr val="F7F8F6"/>
                          </a:solidFill>
                          <a:latin typeface="Verdana" pitchFamily="34" charset="0"/>
                          <a:ea typeface="Verdana" pitchFamily="34" charset="-122"/>
                          <a:cs typeface="Verdana" pitchFamily="34" charset="-120"/>
                        </a:rPr>
                        <a:t>Today</a:t>
                      </a:r>
                      <a:endParaRPr lang="en-US" sz="1570" dirty="0">
                        <a:latin typeface="Verdana" charset="0"/>
                        <a:ea typeface="Verdana" charset="0"/>
                        <a:cs typeface="Verdana" charset="0"/>
                      </a:endParaRPr>
                    </a:p>
                  </a:txBody>
                  <a:tcPr marL="69787" marR="69787" marT="69787" marB="69787"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c>
                  <a:txBody>
                    <a:bodyPr/>
                    <a:lstStyle/>
                    <a:p>
                      <a:pPr indent="0" marL="0">
                        <a:lnSpc>
                          <a:spcPts val="2198"/>
                        </a:lnSpc>
                        <a:buNone/>
                      </a:pPr>
                      <a:r>
                        <a:rPr lang="en-US" sz="1570" b="1" dirty="0">
                          <a:solidFill>
                            <a:srgbClr val="F7F8F6"/>
                          </a:solidFill>
                          <a:latin typeface="Verdana" pitchFamily="34" charset="0"/>
                          <a:ea typeface="Verdana" pitchFamily="34" charset="-122"/>
                          <a:cs typeface="Verdana" pitchFamily="34" charset="-120"/>
                        </a:rPr>
                        <a:t>After</a:t>
                      </a:r>
                      <a:endParaRPr lang="en-US" sz="1570" dirty="0">
                        <a:latin typeface="Verdana" charset="0"/>
                        <a:ea typeface="Verdana" charset="0"/>
                        <a:cs typeface="Verdana" charset="0"/>
                      </a:endParaRPr>
                    </a:p>
                  </a:txBody>
                  <a:tcPr marL="69787" marR="69787" marT="69787" marB="69787" anchor="t">
                    <a:lnL w="12700" cap="flat" cmpd="sng" algn="ctr">
                      <a:solidFill>
                        <a:srgbClr val="111E26"/>
                      </a:solidFill>
                      <a:prstDash val="solid"/>
                      <a:round/>
                      <a:headEnd type="none" w="med" len="med"/>
                      <a:tailEnd type="none" w="med" len="med"/>
                    </a:lnL>
                    <a:lnR w="12700" cap="flat" cmpd="sng" algn="ctr">
                      <a:solidFill>
                        <a:srgbClr val="111E26"/>
                      </a:solidFill>
                      <a:prstDash val="solid"/>
                      <a:round/>
                      <a:headEnd type="none" w="med" len="med"/>
                      <a:tailEnd type="none" w="med" len="med"/>
                    </a:lnR>
                    <a:lnT w="0" cap="flat" cmpd="sng" algn="ctr">
                      <a:noFill/>
                    </a:lnT>
                    <a:lnB w="12700" cap="flat" cmpd="sng" algn="ctr">
                      <a:solidFill>
                        <a:srgbClr val="111E26"/>
                      </a:solidFill>
                      <a:prstDash val="solid"/>
                      <a:round/>
                      <a:headEnd type="none" w="med" len="med"/>
                      <a:tailEnd type="none" w="med" len="med"/>
                    </a:lnB>
                    <a:solidFill>
                      <a:srgbClr val="10212B"/>
                    </a:solidFill>
                  </a:tcPr>
                </a:tc>
              </a:tr>
              <a:tr h="432098">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What's in release 4.2?</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Days of archaeology</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A file, written at build time</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111E26"/>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711200">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Are we exposed to this vulnerability?</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Ask every team, wait</a:t>
                      </a:r>
                      <a:endParaRPr lang="en-US" sz="1570" dirty="0">
                        <a:latin typeface="Verdana" charset="0"/>
                        <a:ea typeface="Verdana" charset="0"/>
                        <a:cs typeface="Verdana" charset="0"/>
                      </a:endParaRPr>
                    </a:p>
                  </a:txBody>
                  <a:tcPr marL="69787" marR="69787" marT="69787" marB="69787"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Search one document</a:t>
                      </a:r>
                      <a:endParaRPr lang="en-US" sz="1570" dirty="0">
                        <a:latin typeface="Verdana" charset="0"/>
                        <a:ea typeface="Verdana" charset="0"/>
                        <a:cs typeface="Verdana" charset="0"/>
                      </a:endParaRPr>
                    </a:p>
                  </a:txBody>
                  <a:tcPr marL="69787" marR="69787" marT="69787" marB="69787"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r h="711200">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Can we pass this customer's review?</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Rebuilt by hand each time</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Attach the standard file</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r h="711200">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Did a restricted license get in?</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Nobody is checking</a:t>
                      </a:r>
                      <a:endParaRPr lang="en-US" sz="1570" dirty="0">
                        <a:latin typeface="Verdana" charset="0"/>
                        <a:ea typeface="Verdana" charset="0"/>
                        <a:cs typeface="Verdana" charset="0"/>
                      </a:endParaRPr>
                    </a:p>
                  </a:txBody>
                  <a:tcPr marL="69787" marR="69787" marT="69787" marB="69787"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The build stops before it ships</a:t>
                      </a:r>
                      <a:endParaRPr lang="en-US" sz="1570" dirty="0">
                        <a:latin typeface="Verdana" charset="0"/>
                        <a:ea typeface="Verdana" charset="0"/>
                        <a:cs typeface="Verdana" charset="0"/>
                      </a:endParaRPr>
                    </a:p>
                  </a:txBody>
                  <a:tcPr marL="69787" marR="69787" marT="69787" marB="69787" anchor="t">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BFC1BE"/>
                      </a:solidFill>
                      <a:prstDash val="solid"/>
                      <a:round/>
                      <a:headEnd type="none" w="med" len="med"/>
                      <a:tailEnd type="none" w="med" len="med"/>
                    </a:lnB>
                    <a:solidFill>
                      <a:srgbClr val="EFF2EE"/>
                    </a:solidFill>
                  </a:tcPr>
                </a:tc>
              </a:tr>
              <a:tr h="432098">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Can we trust a supplier's SBOM?</a:t>
                      </a:r>
                      <a:endParaRPr lang="en-US" sz="1570" dirty="0">
                        <a:latin typeface="Verdana" charset="0"/>
                        <a:ea typeface="Verdana" charset="0"/>
                        <a:cs typeface="Verdana" charset="0"/>
                      </a:endParaRPr>
                    </a:p>
                  </a:txBody>
                  <a:tcPr marL="69787" marR="69787" marT="69787" marB="69787"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Take it on faith</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indent="0" marL="0">
                        <a:lnSpc>
                          <a:spcPts val="2198"/>
                        </a:lnSpc>
                        <a:buNone/>
                      </a:pPr>
                      <a:r>
                        <a:rPr lang="en-US" sz="1570" dirty="0">
                          <a:solidFill>
                            <a:srgbClr val="10212B"/>
                          </a:solidFill>
                          <a:latin typeface="Verdana" pitchFamily="34" charset="0"/>
                          <a:ea typeface="Verdana" pitchFamily="34" charset="-122"/>
                          <a:cs typeface="Verdana" pitchFamily="34" charset="-120"/>
                        </a:rPr>
                        <a:t>Checked before we accept it</a:t>
                      </a:r>
                      <a:endParaRPr lang="en-US" sz="1570" dirty="0">
                        <a:latin typeface="Verdana" charset="0"/>
                        <a:ea typeface="Verdana" charset="0"/>
                        <a:cs typeface="Verdana" charset="0"/>
                      </a:endParaRPr>
                    </a:p>
                  </a:txBody>
                  <a:tcPr marL="69787" marR="69787" marT="69787" marB="69787"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r>
            </a:tbl>
          </a:graphicData>
        </a:graphic>
      </p:graphicFrame>
      <p:sp>
        <p:nvSpPr>
          <p:cNvPr id="6" name="Text 3"/>
          <p:cNvSpPr/>
          <p:nvPr/>
        </p:nvSpPr>
        <p:spPr>
          <a:xfrm>
            <a:off x="812800" y="5562402"/>
            <a:ext cx="10595610" cy="304998"/>
          </a:xfrm>
          <a:prstGeom prst="rect">
            <a:avLst/>
          </a:prstGeom>
          <a:noFill/>
          <a:ln/>
        </p:spPr>
        <p:txBody>
          <a:bodyPr wrap="square" lIns="0" tIns="0" rIns="0" bIns="0" rtlCol="0" anchor="t">
            <a:normAutofit/>
          </a:bodyPr>
          <a:lstStyle/>
          <a:p>
            <a:pPr algn="l" indent="0" marL="0">
              <a:lnSpc>
                <a:spcPts val="2219"/>
              </a:lnSpc>
              <a:buNone/>
            </a:pPr>
            <a:r>
              <a:rPr lang="en-US" sz="1585" dirty="0">
                <a:solidFill>
                  <a:srgbClr val="4A5568"/>
                </a:solidFill>
                <a:latin typeface="Verdana" pitchFamily="34" charset="0"/>
                <a:ea typeface="Verdana" pitchFamily="34" charset="-122"/>
                <a:cs typeface="Verdana" pitchFamily="34" charset="-120"/>
              </a:rPr>
              <a:t>Same engineers, same release process. The answers stop being projects.</a:t>
            </a:r>
            <a:endParaRPr lang="en-US" sz="158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16483"/>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10212B"/>
                </a:solidFill>
                <a:latin typeface="Verdana" pitchFamily="34" charset="0"/>
                <a:ea typeface="Verdana" pitchFamily="34" charset="-122"/>
                <a:cs typeface="Verdana" pitchFamily="34" charset="-120"/>
              </a:rPr>
              <a:t>What I'm not claiming</a:t>
            </a:r>
            <a:endParaRPr lang="en-US" sz="3521" dirty="0"/>
          </a:p>
        </p:txBody>
      </p:sp>
      <p:sp>
        <p:nvSpPr>
          <p:cNvPr id="3" name="Shape 1"/>
          <p:cNvSpPr/>
          <p:nvPr/>
        </p:nvSpPr>
        <p:spPr>
          <a:xfrm>
            <a:off x="815975" y="1586458"/>
            <a:ext cx="10560050" cy="1303189"/>
          </a:xfrm>
          <a:prstGeom prst="roundRect">
            <a:avLst>
              <a:gd name="adj" fmla="val 7553"/>
            </a:avLst>
          </a:prstGeom>
          <a:solidFill>
            <a:srgbClr val="FFFFFF"/>
          </a:solidFill>
          <a:ln w="6350">
            <a:solidFill>
              <a:srgbClr val="DFE3DE"/>
            </a:solidFill>
            <a:prstDash val="solid"/>
          </a:ln>
        </p:spPr>
      </p:sp>
      <p:sp>
        <p:nvSpPr>
          <p:cNvPr id="4" name="Text 2"/>
          <p:cNvSpPr/>
          <p:nvPr/>
        </p:nvSpPr>
        <p:spPr>
          <a:xfrm>
            <a:off x="1073150" y="1818233"/>
            <a:ext cx="10347071" cy="288330"/>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10212B"/>
                </a:solidFill>
                <a:latin typeface="Verdana" pitchFamily="34" charset="0"/>
                <a:ea typeface="Verdana" pitchFamily="34" charset="-122"/>
                <a:cs typeface="Verdana" pitchFamily="34" charset="-120"/>
              </a:rPr>
              <a:t>This is not a security product</a:t>
            </a:r>
            <a:endParaRPr lang="en-US" sz="1727" dirty="0"/>
          </a:p>
        </p:txBody>
      </p:sp>
      <p:sp>
        <p:nvSpPr>
          <p:cNvPr id="5" name="Text 3"/>
          <p:cNvSpPr/>
          <p:nvPr/>
        </p:nvSpPr>
        <p:spPr>
          <a:xfrm>
            <a:off x="1073150" y="2131963"/>
            <a:ext cx="10347071" cy="551309"/>
          </a:xfrm>
          <a:prstGeom prst="rect">
            <a:avLst/>
          </a:prstGeom>
          <a:noFill/>
          <a:ln/>
        </p:spPr>
        <p:txBody>
          <a:bodyPr wrap="square" lIns="0" tIns="0" rIns="0" bIns="0" rtlCol="0" anchor="t">
            <a:normAutofit/>
          </a:bodyPr>
          <a:lstStyle/>
          <a:p>
            <a:pPr algn="l" indent="0" marL="0">
              <a:lnSpc>
                <a:spcPts val="2086"/>
              </a:lnSpc>
              <a:buNone/>
            </a:pPr>
            <a:r>
              <a:rPr lang="en-US" sz="1545" dirty="0">
                <a:solidFill>
                  <a:srgbClr val="4A5568"/>
                </a:solidFill>
                <a:latin typeface="Verdana" pitchFamily="34" charset="0"/>
                <a:ea typeface="Verdana" pitchFamily="34" charset="-122"/>
                <a:cs typeface="Verdana" pitchFamily="34" charset="-120"/>
              </a:rPr>
              <a:t>It tells us what we ship. The tools that hunt for vulnerabilities still do that job, and now they get a complete list to work from.</a:t>
            </a:r>
            <a:endParaRPr lang="en-US" sz="1545" dirty="0"/>
          </a:p>
        </p:txBody>
      </p:sp>
      <p:sp>
        <p:nvSpPr>
          <p:cNvPr id="6" name="Shape 4"/>
          <p:cNvSpPr/>
          <p:nvPr/>
        </p:nvSpPr>
        <p:spPr>
          <a:xfrm>
            <a:off x="815975" y="3061097"/>
            <a:ext cx="10560050" cy="1303139"/>
          </a:xfrm>
          <a:prstGeom prst="roundRect">
            <a:avLst>
              <a:gd name="adj" fmla="val 7553"/>
            </a:avLst>
          </a:prstGeom>
          <a:solidFill>
            <a:srgbClr val="FFFFFF"/>
          </a:solidFill>
          <a:ln w="6350">
            <a:solidFill>
              <a:srgbClr val="DFE3DE"/>
            </a:solidFill>
            <a:prstDash val="solid"/>
          </a:ln>
        </p:spPr>
      </p:sp>
      <p:sp>
        <p:nvSpPr>
          <p:cNvPr id="7" name="Text 5"/>
          <p:cNvSpPr/>
          <p:nvPr/>
        </p:nvSpPr>
        <p:spPr>
          <a:xfrm>
            <a:off x="1073150" y="3292872"/>
            <a:ext cx="10347071" cy="288330"/>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10212B"/>
                </a:solidFill>
                <a:latin typeface="Verdana" pitchFamily="34" charset="0"/>
                <a:ea typeface="Verdana" pitchFamily="34" charset="-122"/>
                <a:cs typeface="Verdana" pitchFamily="34" charset="-120"/>
              </a:rPr>
              <a:t>It won't find what upstreams never published</a:t>
            </a:r>
            <a:endParaRPr lang="en-US" sz="1727" dirty="0"/>
          </a:p>
        </p:txBody>
      </p:sp>
      <p:sp>
        <p:nvSpPr>
          <p:cNvPr id="8" name="Text 6"/>
          <p:cNvSpPr/>
          <p:nvPr/>
        </p:nvSpPr>
        <p:spPr>
          <a:xfrm>
            <a:off x="1073150" y="3606602"/>
            <a:ext cx="10347071" cy="551259"/>
          </a:xfrm>
          <a:prstGeom prst="rect">
            <a:avLst/>
          </a:prstGeom>
          <a:noFill/>
          <a:ln/>
        </p:spPr>
        <p:txBody>
          <a:bodyPr wrap="square" lIns="0" tIns="0" rIns="0" bIns="0" rtlCol="0" anchor="t">
            <a:normAutofit/>
          </a:bodyPr>
          <a:lstStyle/>
          <a:p>
            <a:pPr algn="l" indent="0" marL="0">
              <a:lnSpc>
                <a:spcPts val="2086"/>
              </a:lnSpc>
              <a:buNone/>
            </a:pPr>
            <a:r>
              <a:rPr lang="en-US" sz="1545" dirty="0">
                <a:solidFill>
                  <a:srgbClr val="4A5568"/>
                </a:solidFill>
                <a:latin typeface="Verdana" pitchFamily="34" charset="0"/>
                <a:ea typeface="Verdana" pitchFamily="34" charset="-122"/>
                <a:cs typeface="Verdana" pitchFamily="34" charset="-120"/>
              </a:rPr>
              <a:t>Where a license or an advisory doesn't exist, the document records the gap rather than guessing. We'd rather show a known blank than a wrong answer.</a:t>
            </a:r>
            <a:endParaRPr lang="en-US" sz="1545" dirty="0"/>
          </a:p>
        </p:txBody>
      </p:sp>
      <p:sp>
        <p:nvSpPr>
          <p:cNvPr id="9" name="Shape 7"/>
          <p:cNvSpPr/>
          <p:nvPr/>
        </p:nvSpPr>
        <p:spPr>
          <a:xfrm>
            <a:off x="815975" y="4535686"/>
            <a:ext cx="10560050" cy="1303139"/>
          </a:xfrm>
          <a:prstGeom prst="roundRect">
            <a:avLst>
              <a:gd name="adj" fmla="val 7553"/>
            </a:avLst>
          </a:prstGeom>
          <a:solidFill>
            <a:srgbClr val="FFFFFF"/>
          </a:solidFill>
          <a:ln w="6350">
            <a:solidFill>
              <a:srgbClr val="DFE3DE"/>
            </a:solidFill>
            <a:prstDash val="solid"/>
          </a:ln>
        </p:spPr>
      </p:sp>
      <p:sp>
        <p:nvSpPr>
          <p:cNvPr id="10" name="Text 8"/>
          <p:cNvSpPr/>
          <p:nvPr/>
        </p:nvSpPr>
        <p:spPr>
          <a:xfrm>
            <a:off x="1073150" y="4767461"/>
            <a:ext cx="10347071" cy="288330"/>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10212B"/>
                </a:solidFill>
                <a:latin typeface="Verdana" pitchFamily="34" charset="0"/>
                <a:ea typeface="Verdana" pitchFamily="34" charset="-122"/>
                <a:cs typeface="Verdana" pitchFamily="34" charset="-120"/>
              </a:rPr>
              <a:t>It isn't a compliance program</a:t>
            </a:r>
            <a:endParaRPr lang="en-US" sz="1727" dirty="0"/>
          </a:p>
        </p:txBody>
      </p:sp>
      <p:sp>
        <p:nvSpPr>
          <p:cNvPr id="11" name="Text 9"/>
          <p:cNvSpPr/>
          <p:nvPr/>
        </p:nvSpPr>
        <p:spPr>
          <a:xfrm>
            <a:off x="1073150" y="5081191"/>
            <a:ext cx="10347071" cy="551259"/>
          </a:xfrm>
          <a:prstGeom prst="rect">
            <a:avLst/>
          </a:prstGeom>
          <a:noFill/>
          <a:ln/>
        </p:spPr>
        <p:txBody>
          <a:bodyPr wrap="square" lIns="0" tIns="0" rIns="0" bIns="0" rtlCol="0" anchor="t">
            <a:normAutofit/>
          </a:bodyPr>
          <a:lstStyle/>
          <a:p>
            <a:pPr algn="l" indent="0" marL="0">
              <a:lnSpc>
                <a:spcPts val="2086"/>
              </a:lnSpc>
              <a:buNone/>
            </a:pPr>
            <a:r>
              <a:rPr lang="en-US" sz="1545" dirty="0">
                <a:solidFill>
                  <a:srgbClr val="4A5568"/>
                </a:solidFill>
                <a:latin typeface="Verdana" pitchFamily="34" charset="0"/>
                <a:ea typeface="Verdana" pitchFamily="34" charset="-122"/>
                <a:cs typeface="Verdana" pitchFamily="34" charset="-120"/>
              </a:rPr>
              <a:t>It produces the evidence. Someone still has to own the process, and that ownership question is worth settling separately.</a:t>
            </a:r>
            <a:endParaRPr lang="en-US" sz="154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if this turns out to be wrong?</a:t>
            </a:r>
            <a:endParaRPr lang="en-US" sz="3600" dirty="0"/>
          </a:p>
        </p:txBody>
      </p:sp>
      <p:pic>
        <p:nvPicPr>
          <p:cNvPr id="3" name="Image 0" descr="Verified">    </p:cNvPr>
          <p:cNvPicPr>
            <a:picLocks noChangeAspect="1"/>
          </p:cNvPicPr>
          <p:nvPr/>
        </p:nvPicPr>
        <p:blipFill>
          <a:blip r:embed="rId1"/>
          <a:srcRect l="0" r="0" t="-251" b="-251"/>
          <a:stretch/>
        </p:blipFill>
        <p:spPr>
          <a:xfrm>
            <a:off x="812800" y="1595090"/>
            <a:ext cx="157956" cy="266700"/>
          </a:xfrm>
          <a:prstGeom prst="rect">
            <a:avLst/>
          </a:prstGeom>
        </p:spPr>
      </p:pic>
      <p:sp>
        <p:nvSpPr>
          <p:cNvPr id="4" name="Text 1"/>
          <p:cNvSpPr/>
          <p:nvPr/>
        </p:nvSpPr>
        <p:spPr>
          <a:xfrm>
            <a:off x="1085056" y="1595090"/>
            <a:ext cx="5056624" cy="591145"/>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No contract, no subscription, no vendor who can raise the price or be acquired</a:t>
            </a:r>
            <a:endParaRPr lang="en-US" sz="1650" dirty="0"/>
          </a:p>
        </p:txBody>
      </p:sp>
      <p:pic>
        <p:nvPicPr>
          <p:cNvPr id="5" name="Image 1" descr="Code">    </p:cNvPr>
          <p:cNvPicPr>
            <a:picLocks noChangeAspect="1"/>
          </p:cNvPicPr>
          <p:nvPr/>
        </p:nvPicPr>
        <p:blipFill>
          <a:blip r:embed="rId2"/>
          <a:srcRect l="-195" r="-195" t="0" b="0"/>
          <a:stretch/>
        </p:blipFill>
        <p:spPr>
          <a:xfrm>
            <a:off x="812800" y="2313236"/>
            <a:ext cx="140246" cy="266700"/>
          </a:xfrm>
          <a:prstGeom prst="rect">
            <a:avLst/>
          </a:prstGeom>
        </p:spPr>
      </p:pic>
      <p:sp>
        <p:nvSpPr>
          <p:cNvPr id="6" name="Text 2"/>
          <p:cNvSpPr/>
          <p:nvPr/>
        </p:nvSpPr>
        <p:spPr>
          <a:xfrm>
            <a:off x="1067346" y="2313236"/>
            <a:ext cx="5074866" cy="591145"/>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Open source under Apache-2.0, so the code stays available to us whatever happens to it</a:t>
            </a:r>
            <a:endParaRPr lang="en-US" sz="1650" dirty="0"/>
          </a:p>
        </p:txBody>
      </p:sp>
      <p:pic>
        <p:nvPicPr>
          <p:cNvPr id="7" name="Image 2" descr="Book">    </p:cNvPr>
          <p:cNvPicPr>
            <a:picLocks noChangeAspect="1"/>
          </p:cNvPicPr>
          <p:nvPr/>
        </p:nvPicPr>
        <p:blipFill>
          <a:blip r:embed="rId3"/>
          <a:srcRect l="-112" r="-112" t="0" b="0"/>
          <a:stretch/>
        </p:blipFill>
        <p:spPr>
          <a:xfrm>
            <a:off x="812800" y="3031381"/>
            <a:ext cx="133648" cy="266700"/>
          </a:xfrm>
          <a:prstGeom prst="rect">
            <a:avLst/>
          </a:prstGeom>
        </p:spPr>
      </p:pic>
      <p:sp>
        <p:nvSpPr>
          <p:cNvPr id="8" name="Text 3"/>
          <p:cNvSpPr/>
          <p:nvPr/>
        </p:nvSpPr>
        <p:spPr>
          <a:xfrm>
            <a:off x="1060748" y="3031381"/>
            <a:ext cx="5081662" cy="874018"/>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Output is CycloneDX and SPDX, the two industry standards — no lock-in to switch away from</a:t>
            </a:r>
            <a:endParaRPr lang="en-US" sz="1650" dirty="0"/>
          </a:p>
        </p:txBody>
      </p:sp>
      <p:pic>
        <p:nvPicPr>
          <p:cNvPr id="9" name="Image 3" descr="Chart">    </p:cNvPr>
          <p:cNvPicPr>
            <a:picLocks noChangeAspect="1"/>
          </p:cNvPicPr>
          <p:nvPr/>
        </p:nvPicPr>
        <p:blipFill>
          <a:blip r:embed="rId4"/>
          <a:srcRect l="-428" r="-428" t="0" b="0"/>
          <a:stretch/>
        </p:blipFill>
        <p:spPr>
          <a:xfrm>
            <a:off x="6197600" y="1595090"/>
            <a:ext cx="198537" cy="266700"/>
          </a:xfrm>
          <a:prstGeom prst="rect">
            <a:avLst/>
          </a:prstGeom>
        </p:spPr>
      </p:pic>
      <p:sp>
        <p:nvSpPr>
          <p:cNvPr id="10" name="Text 4"/>
          <p:cNvSpPr/>
          <p:nvPr/>
        </p:nvSpPr>
        <p:spPr>
          <a:xfrm>
            <a:off x="6510437" y="1595090"/>
            <a:ext cx="5014826" cy="591145"/>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Released, versioned and tested on every platform we build on</a:t>
            </a:r>
            <a:endParaRPr lang="en-US" sz="1650" dirty="0"/>
          </a:p>
        </p:txBody>
      </p:sp>
      <p:pic>
        <p:nvPicPr>
          <p:cNvPr id="11" name="Image 4" descr="Users">    </p:cNvPr>
          <p:cNvPicPr>
            <a:picLocks noChangeAspect="1"/>
          </p:cNvPicPr>
          <p:nvPr/>
        </p:nvPicPr>
        <p:blipFill>
          <a:blip r:embed="rId5"/>
          <a:srcRect l="0" r="0" t="-713" b="-713"/>
          <a:stretch/>
        </p:blipFill>
        <p:spPr>
          <a:xfrm>
            <a:off x="6197600" y="2313236"/>
            <a:ext cx="156518" cy="266700"/>
          </a:xfrm>
          <a:prstGeom prst="rect">
            <a:avLst/>
          </a:prstGeom>
        </p:spPr>
      </p:pic>
      <p:sp>
        <p:nvSpPr>
          <p:cNvPr id="12" name="Text 5"/>
          <p:cNvSpPr/>
          <p:nvPr/>
        </p:nvSpPr>
        <p:spPr>
          <a:xfrm>
            <a:off x="6468418" y="2313236"/>
            <a:ext cx="5058106" cy="591145"/>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Maintained by [name] here; small enough that someone else could take it over</a:t>
            </a:r>
            <a:endParaRPr lang="en-US" sz="1650" dirty="0"/>
          </a:p>
        </p:txBody>
      </p:sp>
      <p:pic>
        <p:nvPicPr>
          <p:cNvPr id="13" name="Image 5" descr="Warning">    </p:cNvPr>
          <p:cNvPicPr>
            <a:picLocks noChangeAspect="1"/>
          </p:cNvPicPr>
          <p:nvPr/>
        </p:nvPicPr>
        <p:blipFill>
          <a:blip r:embed="rId6"/>
          <a:srcRect l="-167" r="-167" t="0" b="0"/>
          <a:stretch/>
        </p:blipFill>
        <p:spPr>
          <a:xfrm>
            <a:off x="6197600" y="3031381"/>
            <a:ext cx="178395" cy="266700"/>
          </a:xfrm>
          <a:prstGeom prst="rect">
            <a:avLst/>
          </a:prstGeom>
        </p:spPr>
      </p:pic>
      <p:sp>
        <p:nvSpPr>
          <p:cNvPr id="14" name="Text 6"/>
          <p:cNvSpPr/>
          <p:nvPr/>
        </p:nvSpPr>
        <p:spPr>
          <a:xfrm>
            <a:off x="6490295" y="3031381"/>
            <a:ext cx="5035572" cy="591145"/>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0212B"/>
                </a:solidFill>
                <a:latin typeface="Verdana" pitchFamily="34" charset="0"/>
                <a:ea typeface="Verdana" pitchFamily="34" charset="-122"/>
                <a:cs typeface="Verdana" pitchFamily="34" charset="-120"/>
              </a:rPr>
              <a:t>Worst case: we stop running it and delete one step from one pipeline</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7A6C"/>
        </a:solidFill>
      </p:bgPr>
    </p:bg>
    <p:spTree>
      <p:nvGrpSpPr>
        <p:cNvPr id="1" name=""/>
        <p:cNvGrpSpPr/>
        <p:nvPr/>
      </p:nvGrpSpPr>
      <p:grpSpPr>
        <a:xfrm>
          <a:off x="0" y="0"/>
          <a:ext cx="0" cy="0"/>
          <a:chOff x="0" y="0"/>
          <a:chExt cx="0" cy="0"/>
        </a:xfrm>
      </p:grpSpPr>
      <p:sp>
        <p:nvSpPr>
          <p:cNvPr id="2" name="Text 0"/>
          <p:cNvSpPr/>
          <p:nvPr/>
        </p:nvSpPr>
        <p:spPr>
          <a:xfrm>
            <a:off x="812800" y="17907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DEDE5"/>
                </a:solidFill>
                <a:latin typeface="Courier New" pitchFamily="49" charset="0"/>
                <a:ea typeface="Courier New" pitchFamily="49" charset="-122"/>
                <a:cs typeface="Courier New" pitchFamily="49" charset="-120"/>
              </a:rPr>
              <a:t>WHAT I NEED FROM YOU</a:t>
            </a:r>
            <a:endParaRPr lang="en-US" sz="1200" dirty="0"/>
          </a:p>
        </p:txBody>
      </p:sp>
      <p:sp>
        <p:nvSpPr>
          <p:cNvPr id="3" name="Text 1"/>
          <p:cNvSpPr/>
          <p:nvPr>
            <p:ph type="title"/>
          </p:nvPr>
        </p:nvSpPr>
        <p:spPr>
          <a:xfrm>
            <a:off x="812800" y="2258070"/>
            <a:ext cx="10203180" cy="1310580"/>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7F8F6"/>
                </a:solidFill>
                <a:latin typeface="Verdana" pitchFamily="34" charset="0"/>
                <a:ea typeface="Verdana" pitchFamily="34" charset="-122"/>
                <a:cs typeface="Verdana" pitchFamily="34" charset="-120"/>
              </a:rPr>
              <a:t>Say yes to two weeks on one product.</a:t>
            </a:r>
            <a:endParaRPr lang="en-US" sz="4600" dirty="0"/>
          </a:p>
        </p:txBody>
      </p:sp>
      <p:sp>
        <p:nvSpPr>
          <p:cNvPr id="4" name="Text 2"/>
          <p:cNvSpPr/>
          <p:nvPr/>
        </p:nvSpPr>
        <p:spPr>
          <a:xfrm>
            <a:off x="812800" y="3797250"/>
            <a:ext cx="10072370"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4F4F0"/>
                </a:solidFill>
                <a:latin typeface="Verdana" pitchFamily="34" charset="0"/>
                <a:ea typeface="Verdana" pitchFamily="34" charset="-122"/>
                <a:cs typeface="Verdana" pitchFamily="34" charset="-120"/>
              </a:rPr>
              <a:t>I'll come back with the bill of materials from a real release, what it found that we didn't know, and a plan to make it standard — or a recommendation to drop it.</a:t>
            </a:r>
            <a:endParaRPr lang="en-US" sz="2000" dirty="0"/>
          </a:p>
        </p:txBody>
      </p:sp>
      <p:sp>
        <p:nvSpPr>
          <p:cNvPr id="5" name="Text 3"/>
          <p:cNvSpPr/>
          <p:nvPr/>
        </p:nvSpPr>
        <p:spPr>
          <a:xfrm>
            <a:off x="812800" y="6238280"/>
            <a:ext cx="38793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EDE5"/>
                </a:solidFill>
                <a:latin typeface="Verdana" pitchFamily="34" charset="0"/>
                <a:ea typeface="Verdana" pitchFamily="34" charset="-122"/>
                <a:cs typeface="Verdana" pitchFamily="34" charset="-120"/>
              </a:rPr>
              <a:t>[Presenter] · decision requested by [date]</a:t>
            </a:r>
            <a:endParaRPr lang="en-US" sz="1200" dirty="0"/>
          </a:p>
        </p:txBody>
      </p:sp>
    </p:spTree>
  </p:cSld>
  <p:clrMapOvr>
    <a:masterClrMapping/>
  </p:clrMapOvr>
</p:sld>
</file>

<file path=ppt/theme/theme1.xml><?xml version="1.0" encoding="utf-8"?>
<a:theme xmlns:a="http://schemas.openxmlformats.org/drawingml/2006/main" name="pixi-sbom: The Executive Case">
  <a:themeElements>
    <a:clrScheme name="pixi-sbom: The Executive Case">
      <a:dk1>
        <a:srgbClr val="10212B"/>
      </a:dk1>
      <a:lt1>
        <a:srgbClr val="F7F8F6"/>
      </a:lt1>
      <a:dk2>
        <a:srgbClr val="4A575E"/>
      </a:dk2>
      <a:lt2>
        <a:srgbClr val="E0E3E2"/>
      </a:lt2>
      <a:accent1>
        <a:srgbClr val="6FBFAE"/>
      </a:accent1>
      <a:accent2>
        <a:srgbClr val="1F7A6C"/>
      </a:accent2>
      <a:accent3>
        <a:srgbClr val="4A5568"/>
      </a:accent3>
      <a:accent4>
        <a:srgbClr val="B5C4CA"/>
      </a:accent4>
      <a:accent5>
        <a:srgbClr val="6A7179"/>
      </a:accent5>
      <a:accent6>
        <a:srgbClr val="CDEDE5"/>
      </a:accent6>
      <a:hlink>
        <a:srgbClr val="0563C1"/>
      </a:hlink>
      <a:folHlink>
        <a:srgbClr val="954F72"/>
      </a:folHlink>
    </a:clrScheme>
    <a:fontScheme name="pixi-sbom: The Executive Case">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pixi-sbom: The Executive Case</dc:title>
  <dc:subject/>
  <dc:creator/>
  <cp:lastModifiedBy/>
  <cp:revision>1</cp:revision>
  <dcterms:created xsi:type="dcterms:W3CDTF">2026-10-09T23:08:04Z</dcterms:created>
  <dcterms:modified xsi:type="dcterms:W3CDTF">2026-10-09T23:08:04Z</dcterms:modified>
</cp:coreProperties>
</file>