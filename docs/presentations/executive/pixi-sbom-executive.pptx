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headline out loud and then stop talking for a second. The room needs to feel that this is a gap in what we can assert about our own product, not a tooling preference. Do not name the tool on this slide. If someone asks what prompted this, the honest answer is whichever of the three is most live for us right now — a customer review, a regulation, or the last time we scrambled to answer whether we were exposed to something.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Executives decide faster when the ask is on slide two and it is small. Fill in the dollar figure with our loaded engineering rate before this meeting — a number you chose beats a vague "minimal". Be ready for the obvious question: if it's free and already written, why do you need approval. The answer is that you are asking for the standard to change, not for permission to run a program. Making it an expectation for every release is the part only they can authorize.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deliberately: one commercial, one operational, one regulatory, so nobody can file this under "a security thing". Lead with whichever is most real for us. If we have lost or delayed a deal over a security review, say so here with the customer's name if that is allowed in the room — one concrete story outweighs the other two bullets. Check the CRA timeline before you present and delete the footer note once you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Fill these in before the meeting. Sales or the deal desk can give you the questionnaire and deal numbers; whoever ran the last incident can give you the hours. Do not present this slide with brackets still on it — an executive audience will read placeholders as a case you have not built. If a number turns out to be small, use it anyway and say so; being straight about a modest cost buys you the benefit of the doubt on the risk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build-versus-buy slide and it is where a CFO or CTO will push. Two points to hold. First, the gap is silent: a tool that does not understand conda packages reports success, not failure, so we would not discover the hole until someone checked our answer. Second, we are not proposing to build anything — the thing exists and runs today. If they ask whether a vendor will close the gap eventually, say probably, and that we can switch when they do; the output is a standard format, so nothing here locks us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rows, do not read them. The fourth is the one that tends to wake people up, because it is the only row where the answer today is that nobody is looking — a restricted license in a dependency is a legal exposure we are currently carrying without knowing. If someone asks whether stopping builds will slow delivery, the answer is that every check is off by default and we turn them on one at a time once we have seen what they would have caught.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in front of the objection rather than waiting for it. Executives have been sold too much and they discount anyone who won't name a limit. The third bullet is doing quiet work: it flags that adopting this raises a governance question we have not answered, which is better coming from you now than from an auditor later. If someone asks who should own it, say you have a view and will bring it with the results rather than deciding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line is the one to land on. The downside of this decision is genuinely one deleted CI step, and saying so plainly is more persuasive than any benefit on the earlier slides. Be honest about the bus factor if we are the maintainer — name who it is and say the codebase is small and documented. If the room would rather depend on a vendor, that is a reasonable instinct and worth hearing; the answer is that the output format is standard, so moving later costs us nothing we would not pay anyway.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for the decision in the room and then stop. Do not reopen the detail. The phrase that earns trust is the last one: you are willing to come back and recommend dropping it, which tells them the results will be real. Have the date and the product team picked before you walk in, so the yes has nowhere to slip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12B"/>
        </a:solidFill>
      </p:bgPr>
    </p:bg>
    <p:spTree>
      <p:nvGrpSpPr>
        <p:cNvPr id="1" name=""/>
        <p:cNvGrpSpPr/>
        <p:nvPr/>
      </p:nvGrpSpPr>
      <p:grpSpPr>
        <a:xfrm>
          <a:off x="0" y="0"/>
          <a:ext cx="0" cy="0"/>
          <a:chOff x="0" y="0"/>
          <a:chExt cx="0" cy="0"/>
        </a:xfrm>
      </p:grpSpPr>
      <p:sp>
        <p:nvSpPr>
          <p:cNvPr id="2" name="Text 0"/>
          <p:cNvSpPr/>
          <p:nvPr/>
        </p:nvSpPr>
        <p:spPr>
          <a:xfrm>
            <a:off x="812800" y="1602135"/>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6FBFAE"/>
                </a:solidFill>
                <a:latin typeface="JetBrains Mono" pitchFamily="34" charset="0"/>
                <a:ea typeface="JetBrains Mono" pitchFamily="34" charset="-122"/>
                <a:cs typeface="JetBrains Mono" pitchFamily="34" charset="-120"/>
              </a:rPr>
              <a:t>DECISION REQUESTED</a:t>
            </a:r>
            <a:endParaRPr lang="en-US" sz="1200" dirty="0"/>
          </a:p>
        </p:txBody>
      </p:sp>
      <p:sp>
        <p:nvSpPr>
          <p:cNvPr id="3" name="Text 1"/>
          <p:cNvSpPr/>
          <p:nvPr/>
        </p:nvSpPr>
        <p:spPr>
          <a:xfrm>
            <a:off x="812800" y="2094855"/>
            <a:ext cx="10203180" cy="1572220"/>
          </a:xfrm>
          <a:prstGeom prst="rect">
            <a:avLst/>
          </a:prstGeom>
          <a:noFill/>
          <a:ln/>
        </p:spPr>
        <p:txBody>
          <a:bodyPr wrap="square" lIns="0" tIns="0" rIns="0" bIns="0" rtlCol="0" anchor="t">
            <a:normAutofit/>
          </a:bodyPr>
          <a:lstStyle/>
          <a:p>
            <a:pPr algn="l" indent="0" marL="0">
              <a:lnSpc>
                <a:spcPts val="6090"/>
              </a:lnSpc>
              <a:buNone/>
            </a:pPr>
            <a:r>
              <a:rPr lang="en-US" sz="5800" b="1" dirty="0">
                <a:solidFill>
                  <a:srgbClr val="F7F8F6"/>
                </a:solidFill>
                <a:latin typeface="IBM Plex Sans" pitchFamily="34" charset="0"/>
                <a:ea typeface="IBM Plex Sans" pitchFamily="34" charset="-122"/>
                <a:cs typeface="IBM Plex Sans" pitchFamily="34" charset="-120"/>
              </a:rPr>
              <a:t>We can't prove what's in our software</a:t>
            </a:r>
            <a:endParaRPr lang="en-US" sz="5800" dirty="0"/>
          </a:p>
        </p:txBody>
      </p:sp>
      <p:sp>
        <p:nvSpPr>
          <p:cNvPr id="4" name="Text 2"/>
          <p:cNvSpPr/>
          <p:nvPr/>
        </p:nvSpPr>
        <p:spPr>
          <a:xfrm>
            <a:off x="812800" y="3921075"/>
            <a:ext cx="9418320" cy="1156940"/>
          </a:xfrm>
          <a:prstGeom prst="rect">
            <a:avLst/>
          </a:prstGeom>
          <a:noFill/>
          <a:ln/>
        </p:spPr>
        <p:txBody>
          <a:bodyPr wrap="square" lIns="0" tIns="0" rIns="0" bIns="0" rtlCol="0" anchor="t">
            <a:normAutofit/>
          </a:bodyPr>
          <a:lstStyle/>
          <a:p>
            <a:pPr algn="l" indent="0" marL="0">
              <a:lnSpc>
                <a:spcPts val="2970"/>
              </a:lnSpc>
              <a:buNone/>
            </a:pPr>
            <a:r>
              <a:rPr lang="en-US" sz="2200" dirty="0">
                <a:solidFill>
                  <a:srgbClr val="B5C4CA"/>
                </a:solidFill>
                <a:latin typeface="IBM Plex Sans" pitchFamily="34" charset="0"/>
                <a:ea typeface="IBM Plex Sans" pitchFamily="34" charset="-122"/>
                <a:cs typeface="IBM Plex Sans" pitchFamily="34" charset="-120"/>
              </a:rPr>
              <a:t>Customers ask. Regulators are starting to. So does our own incident response. Today we answer by hand, slowly, and never quite the same way twice.</a:t>
            </a:r>
            <a:endParaRPr lang="en-US" sz="2200" dirty="0"/>
          </a:p>
        </p:txBody>
      </p:sp>
      <p:sp>
        <p:nvSpPr>
          <p:cNvPr id="5" name="Text 3"/>
          <p:cNvSpPr/>
          <p:nvPr/>
        </p:nvSpPr>
        <p:spPr>
          <a:xfrm>
            <a:off x="812800" y="6238280"/>
            <a:ext cx="135245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7A8C93"/>
                </a:solidFill>
                <a:latin typeface="IBM Plex Sans" pitchFamily="34" charset="0"/>
                <a:ea typeface="IBM Plex Sans" pitchFamily="34" charset="-122"/>
                <a:cs typeface="IBM Plex Sans" pitchFamily="34" charset="-120"/>
              </a:rPr>
              <a:t>[Presenter] · [Date]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6"/>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0212B"/>
                </a:solidFill>
                <a:latin typeface="IBM Plex Sans" pitchFamily="34" charset="0"/>
                <a:ea typeface="IBM Plex Sans" pitchFamily="34" charset="-122"/>
                <a:cs typeface="IBM Plex Sans" pitchFamily="34" charset="-120"/>
              </a:rPr>
              <a:t>What I'm asking you to approve</a:t>
            </a:r>
            <a:endParaRPr lang="en-US" sz="3600" dirty="0"/>
          </a:p>
        </p:txBody>
      </p:sp>
      <p:sp>
        <p:nvSpPr>
          <p:cNvPr id="3" name="Text 1"/>
          <p:cNvSpPr/>
          <p:nvPr/>
        </p:nvSpPr>
        <p:spPr>
          <a:xfrm>
            <a:off x="812800" y="1645890"/>
            <a:ext cx="10595610" cy="813991"/>
          </a:xfrm>
          <a:prstGeom prst="rect">
            <a:avLst/>
          </a:prstGeom>
          <a:noFill/>
          <a:ln/>
        </p:spPr>
        <p:txBody>
          <a:bodyPr wrap="square" lIns="0" tIns="0" rIns="0" bIns="0" rtlCol="0" anchor="t">
            <a:normAutofit/>
          </a:bodyPr>
          <a:lstStyle/>
          <a:p>
            <a:pPr algn="l" indent="0" marL="0">
              <a:lnSpc>
                <a:spcPts val="3105"/>
              </a:lnSpc>
              <a:buNone/>
            </a:pPr>
            <a:r>
              <a:rPr lang="en-US" sz="2300" dirty="0">
                <a:solidFill>
                  <a:srgbClr val="10212B"/>
                </a:solidFill>
                <a:latin typeface="IBM Plex Sans" pitchFamily="34" charset="0"/>
                <a:ea typeface="IBM Plex Sans" pitchFamily="34" charset="-122"/>
                <a:cs typeface="IBM Plex Sans" pitchFamily="34" charset="-120"/>
              </a:rPr>
              <a:t>Make a bill of materials a standard output of every release, starting with one product team.</a:t>
            </a:r>
            <a:endParaRPr lang="en-US" sz="2300" dirty="0"/>
          </a:p>
        </p:txBody>
      </p:sp>
      <p:sp>
        <p:nvSpPr>
          <p:cNvPr id="4" name="Shape 2"/>
          <p:cNvSpPr/>
          <p:nvPr/>
        </p:nvSpPr>
        <p:spPr>
          <a:xfrm>
            <a:off x="815975" y="2767856"/>
            <a:ext cx="3380284" cy="1931541"/>
          </a:xfrm>
          <a:prstGeom prst="roundRect">
            <a:avLst>
              <a:gd name="adj" fmla="val 5096"/>
            </a:avLst>
          </a:prstGeom>
          <a:solidFill>
            <a:srgbClr val="FFFFFF"/>
          </a:solidFill>
          <a:ln w="6350">
            <a:solidFill>
              <a:srgbClr val="DFE3DE"/>
            </a:solidFill>
            <a:prstDash val="solid"/>
          </a:ln>
        </p:spPr>
      </p:sp>
      <p:sp>
        <p:nvSpPr>
          <p:cNvPr id="5" name="Text 3"/>
          <p:cNvSpPr/>
          <p:nvPr/>
        </p:nvSpPr>
        <p:spPr>
          <a:xfrm>
            <a:off x="1073150" y="3025031"/>
            <a:ext cx="2951912"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F7A6C"/>
                </a:solidFill>
                <a:latin typeface="IBM Plex Sans" pitchFamily="34" charset="0"/>
                <a:ea typeface="IBM Plex Sans" pitchFamily="34" charset="-122"/>
                <a:cs typeface="IBM Plex Sans" pitchFamily="34" charset="-120"/>
              </a:rPr>
              <a:t>What it needs</a:t>
            </a:r>
            <a:endParaRPr lang="en-US" sz="1600" dirty="0"/>
          </a:p>
        </p:txBody>
      </p:sp>
      <p:sp>
        <p:nvSpPr>
          <p:cNvPr id="6" name="Text 4"/>
          <p:cNvSpPr/>
          <p:nvPr/>
        </p:nvSpPr>
        <p:spPr>
          <a:xfrm>
            <a:off x="1073150" y="3345061"/>
            <a:ext cx="2951912" cy="848271"/>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4A5568"/>
                </a:solidFill>
                <a:latin typeface="IBM Plex Sans" pitchFamily="34" charset="0"/>
                <a:ea typeface="IBM Plex Sans" pitchFamily="34" charset="-122"/>
                <a:cs typeface="IBM Plex Sans" pitchFamily="34" charset="-120"/>
              </a:rPr>
              <a:t>One engineer, part time, for two weeks. No purchase, no new vendor, no headcount.</a:t>
            </a:r>
            <a:endParaRPr lang="en-US" sz="1600" dirty="0"/>
          </a:p>
        </p:txBody>
      </p:sp>
      <p:sp>
        <p:nvSpPr>
          <p:cNvPr id="7" name="Shape 5"/>
          <p:cNvSpPr/>
          <p:nvPr/>
        </p:nvSpPr>
        <p:spPr>
          <a:xfrm>
            <a:off x="4405809" y="2767856"/>
            <a:ext cx="3380333" cy="1931541"/>
          </a:xfrm>
          <a:prstGeom prst="roundRect">
            <a:avLst>
              <a:gd name="adj" fmla="val 5096"/>
            </a:avLst>
          </a:prstGeom>
          <a:solidFill>
            <a:srgbClr val="FFFFFF"/>
          </a:solidFill>
          <a:ln w="6350">
            <a:solidFill>
              <a:srgbClr val="DFE3DE"/>
            </a:solidFill>
            <a:prstDash val="solid"/>
          </a:ln>
        </p:spPr>
      </p:sp>
      <p:sp>
        <p:nvSpPr>
          <p:cNvPr id="8" name="Text 6"/>
          <p:cNvSpPr/>
          <p:nvPr/>
        </p:nvSpPr>
        <p:spPr>
          <a:xfrm>
            <a:off x="4662984" y="3025031"/>
            <a:ext cx="2951963"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F7A6C"/>
                </a:solidFill>
                <a:latin typeface="IBM Plex Sans" pitchFamily="34" charset="0"/>
                <a:ea typeface="IBM Plex Sans" pitchFamily="34" charset="-122"/>
                <a:cs typeface="IBM Plex Sans" pitchFamily="34" charset="-120"/>
              </a:rPr>
              <a:t>What it costs</a:t>
            </a:r>
            <a:endParaRPr lang="en-US" sz="1600" dirty="0"/>
          </a:p>
        </p:txBody>
      </p:sp>
      <p:sp>
        <p:nvSpPr>
          <p:cNvPr id="9" name="Text 7"/>
          <p:cNvSpPr/>
          <p:nvPr/>
        </p:nvSpPr>
        <p:spPr>
          <a:xfrm>
            <a:off x="4662984" y="3345061"/>
            <a:ext cx="2951963" cy="1122561"/>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4A5568"/>
                </a:solidFill>
                <a:latin typeface="IBM Plex Sans" pitchFamily="34" charset="0"/>
                <a:ea typeface="IBM Plex Sans" pitchFamily="34" charset="-122"/>
                <a:cs typeface="IBM Plex Sans" pitchFamily="34" charset="-120"/>
              </a:rPr>
              <a:t>Roughly [$___] of engineering time to prove it. The software itself is free and already written.</a:t>
            </a:r>
            <a:endParaRPr lang="en-US" sz="1600" dirty="0"/>
          </a:p>
        </p:txBody>
      </p:sp>
      <p:sp>
        <p:nvSpPr>
          <p:cNvPr id="10" name="Shape 8"/>
          <p:cNvSpPr/>
          <p:nvPr/>
        </p:nvSpPr>
        <p:spPr>
          <a:xfrm>
            <a:off x="7995692" y="2767856"/>
            <a:ext cx="3380333" cy="1931541"/>
          </a:xfrm>
          <a:prstGeom prst="roundRect">
            <a:avLst>
              <a:gd name="adj" fmla="val 5096"/>
            </a:avLst>
          </a:prstGeom>
          <a:solidFill>
            <a:srgbClr val="FFFFFF"/>
          </a:solidFill>
          <a:ln w="6350">
            <a:solidFill>
              <a:srgbClr val="DFE3DE"/>
            </a:solidFill>
            <a:prstDash val="solid"/>
          </a:ln>
        </p:spPr>
      </p:sp>
      <p:sp>
        <p:nvSpPr>
          <p:cNvPr id="11" name="Text 9"/>
          <p:cNvSpPr/>
          <p:nvPr/>
        </p:nvSpPr>
        <p:spPr>
          <a:xfrm>
            <a:off x="8252867" y="3025031"/>
            <a:ext cx="2951963"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F7A6C"/>
                </a:solidFill>
                <a:latin typeface="IBM Plex Sans" pitchFamily="34" charset="0"/>
                <a:ea typeface="IBM Plex Sans" pitchFamily="34" charset="-122"/>
                <a:cs typeface="IBM Plex Sans" pitchFamily="34" charset="-120"/>
              </a:rPr>
              <a:t>What you get back</a:t>
            </a:r>
            <a:endParaRPr lang="en-US" sz="1600" dirty="0"/>
          </a:p>
        </p:txBody>
      </p:sp>
      <p:sp>
        <p:nvSpPr>
          <p:cNvPr id="12" name="Text 10"/>
          <p:cNvSpPr/>
          <p:nvPr/>
        </p:nvSpPr>
        <p:spPr>
          <a:xfrm>
            <a:off x="8252867" y="3345061"/>
            <a:ext cx="2951963" cy="848271"/>
          </a:xfrm>
          <a:prstGeom prst="rect">
            <a:avLst/>
          </a:prstGeom>
          <a:noFill/>
          <a:ln/>
        </p:spPr>
        <p:txBody>
          <a:bodyPr wrap="square" lIns="0" tIns="0" rIns="0" bIns="0" rtlCol="0" anchor="t">
            <a:normAutofit/>
          </a:bodyPr>
          <a:lstStyle/>
          <a:p>
            <a:pPr algn="l" indent="0" marL="0">
              <a:lnSpc>
                <a:spcPts val="2160"/>
              </a:lnSpc>
              <a:buNone/>
            </a:pPr>
            <a:r>
              <a:rPr lang="en-US" sz="1600" dirty="0">
                <a:solidFill>
                  <a:srgbClr val="4A5568"/>
                </a:solidFill>
                <a:latin typeface="IBM Plex Sans" pitchFamily="34" charset="0"/>
                <a:ea typeface="IBM Plex Sans" pitchFamily="34" charset="-122"/>
                <a:cs typeface="IBM Plex Sans" pitchFamily="34" charset="-120"/>
              </a:rPr>
              <a:t>Evidence from our own code by [date], and a recommendation either way.</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6"/>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0212B"/>
                </a:solidFill>
                <a:latin typeface="IBM Plex Sans" pitchFamily="34" charset="0"/>
                <a:ea typeface="IBM Plex Sans" pitchFamily="34" charset="-122"/>
                <a:cs typeface="IBM Plex Sans" pitchFamily="34" charset="-120"/>
              </a:rPr>
              <a:t>Three things that are true today</a:t>
            </a:r>
            <a:endParaRPr lang="en-US" sz="3600" dirty="0"/>
          </a:p>
        </p:txBody>
      </p:sp>
      <p:sp>
        <p:nvSpPr>
          <p:cNvPr id="3" name="Shape 1"/>
          <p:cNvSpPr/>
          <p:nvPr/>
        </p:nvSpPr>
        <p:spPr>
          <a:xfrm>
            <a:off x="815975" y="1623665"/>
            <a:ext cx="10560050" cy="1046460"/>
          </a:xfrm>
          <a:prstGeom prst="roundRect">
            <a:avLst>
              <a:gd name="adj" fmla="val 9406"/>
            </a:avLst>
          </a:prstGeom>
          <a:solidFill>
            <a:srgbClr val="FFFFFF"/>
          </a:solidFill>
          <a:ln w="6350">
            <a:solidFill>
              <a:srgbClr val="DFE3DE"/>
            </a:solidFill>
            <a:prstDash val="solid"/>
          </a:ln>
        </p:spPr>
      </p:sp>
      <p:pic>
        <p:nvPicPr>
          <p:cNvPr id="4" name="Image 0" descr="Users">    </p:cNvPr>
          <p:cNvPicPr>
            <a:picLocks noChangeAspect="1"/>
          </p:cNvPicPr>
          <p:nvPr/>
        </p:nvPicPr>
        <p:blipFill>
          <a:blip r:embed="rId1"/>
          <a:srcRect l="0" r="0" t="0" b="0"/>
          <a:stretch/>
        </p:blipFill>
        <p:spPr>
          <a:xfrm>
            <a:off x="1073150" y="1981795"/>
            <a:ext cx="330200" cy="330200"/>
          </a:xfrm>
          <a:prstGeom prst="rect">
            <a:avLst/>
          </a:prstGeom>
        </p:spPr>
      </p:pic>
      <p:sp>
        <p:nvSpPr>
          <p:cNvPr id="5" name="Text 2"/>
          <p:cNvSpPr/>
          <p:nvPr/>
        </p:nvSpPr>
        <p:spPr>
          <a:xfrm>
            <a:off x="1581150" y="1855440"/>
            <a:ext cx="9823831" cy="608310"/>
          </a:xfrm>
          <a:prstGeom prst="rect">
            <a:avLst/>
          </a:prstGeom>
          <a:noFill/>
          <a:ln/>
        </p:spPr>
        <p:txBody>
          <a:bodyPr wrap="square" lIns="0" tIns="0" rIns="0" bIns="0" rtlCol="0" anchor="t">
            <a:normAutofit/>
          </a:bodyPr>
          <a:lstStyle/>
          <a:p>
            <a:pPr algn="l" indent="0" marL="0">
              <a:lnSpc>
                <a:spcPts val="2295"/>
              </a:lnSpc>
              <a:buNone/>
            </a:pPr>
            <a:r>
              <a:rPr lang="en-US" sz="1700" dirty="0">
                <a:solidFill>
                  <a:srgbClr val="10212B"/>
                </a:solidFill>
                <a:latin typeface="IBM Plex Sans" pitchFamily="34" charset="0"/>
                <a:ea typeface="IBM Plex Sans" pitchFamily="34" charset="-122"/>
                <a:cs typeface="IBM Plex Sans" pitchFamily="34" charset="-120"/>
              </a:rPr>
              <a:t>A customer asks what's inside the product. We assemble the answer by hand, and the deal waits while we do.</a:t>
            </a:r>
            <a:endParaRPr lang="en-US" sz="1700" dirty="0"/>
          </a:p>
        </p:txBody>
      </p:sp>
      <p:sp>
        <p:nvSpPr>
          <p:cNvPr id="6" name="Shape 3"/>
          <p:cNvSpPr/>
          <p:nvPr/>
        </p:nvSpPr>
        <p:spPr>
          <a:xfrm>
            <a:off x="815975" y="2854275"/>
            <a:ext cx="10560050" cy="793750"/>
          </a:xfrm>
          <a:prstGeom prst="roundRect">
            <a:avLst>
              <a:gd name="adj" fmla="val 12400"/>
            </a:avLst>
          </a:prstGeom>
          <a:solidFill>
            <a:srgbClr val="FFFFFF"/>
          </a:solidFill>
          <a:ln w="6350">
            <a:solidFill>
              <a:srgbClr val="DFE3DE"/>
            </a:solidFill>
            <a:prstDash val="solid"/>
          </a:ln>
        </p:spPr>
      </p:sp>
      <p:pic>
        <p:nvPicPr>
          <p:cNvPr id="7" name="Image 1" descr="Warning">    </p:cNvPr>
          <p:cNvPicPr>
            <a:picLocks noChangeAspect="1"/>
          </p:cNvPicPr>
          <p:nvPr/>
        </p:nvPicPr>
        <p:blipFill>
          <a:blip r:embed="rId2"/>
          <a:srcRect l="0" r="0" t="0" b="0"/>
          <a:stretch/>
        </p:blipFill>
        <p:spPr>
          <a:xfrm>
            <a:off x="1073150" y="3086050"/>
            <a:ext cx="330200" cy="330200"/>
          </a:xfrm>
          <a:prstGeom prst="rect">
            <a:avLst/>
          </a:prstGeom>
        </p:spPr>
      </p:pic>
      <p:sp>
        <p:nvSpPr>
          <p:cNvPr id="8" name="Text 4"/>
          <p:cNvSpPr/>
          <p:nvPr/>
        </p:nvSpPr>
        <p:spPr>
          <a:xfrm>
            <a:off x="1581150" y="3105398"/>
            <a:ext cx="9823831" cy="316855"/>
          </a:xfrm>
          <a:prstGeom prst="rect">
            <a:avLst/>
          </a:prstGeom>
          <a:noFill/>
          <a:ln/>
        </p:spPr>
        <p:txBody>
          <a:bodyPr wrap="square" lIns="0" tIns="0" rIns="0" bIns="0" rtlCol="0" anchor="t">
            <a:normAutofit/>
          </a:bodyPr>
          <a:lstStyle/>
          <a:p>
            <a:pPr algn="l" indent="0" marL="0">
              <a:lnSpc>
                <a:spcPts val="2295"/>
              </a:lnSpc>
              <a:buNone/>
            </a:pPr>
            <a:r>
              <a:rPr lang="en-US" sz="1700" dirty="0">
                <a:solidFill>
                  <a:srgbClr val="10212B"/>
                </a:solidFill>
                <a:latin typeface="IBM Plex Sans" pitchFamily="34" charset="0"/>
                <a:ea typeface="IBM Plex Sans" pitchFamily="34" charset="-122"/>
                <a:cs typeface="IBM Plex Sans" pitchFamily="34" charset="-120"/>
              </a:rPr>
              <a:t>A serious vulnerability hits the news. We can't say that morning whether it's in anything we ship.</a:t>
            </a:r>
            <a:endParaRPr lang="en-US" sz="1700" dirty="0"/>
          </a:p>
        </p:txBody>
      </p:sp>
      <p:sp>
        <p:nvSpPr>
          <p:cNvPr id="9" name="Shape 5"/>
          <p:cNvSpPr/>
          <p:nvPr/>
        </p:nvSpPr>
        <p:spPr>
          <a:xfrm>
            <a:off x="815975" y="3832175"/>
            <a:ext cx="10560050" cy="1046460"/>
          </a:xfrm>
          <a:prstGeom prst="roundRect">
            <a:avLst>
              <a:gd name="adj" fmla="val 9406"/>
            </a:avLst>
          </a:prstGeom>
          <a:solidFill>
            <a:srgbClr val="FFFFFF"/>
          </a:solidFill>
          <a:ln w="6350">
            <a:solidFill>
              <a:srgbClr val="DFE3DE"/>
            </a:solidFill>
            <a:prstDash val="solid"/>
          </a:ln>
        </p:spPr>
      </p:sp>
      <p:pic>
        <p:nvPicPr>
          <p:cNvPr id="10" name="Image 2" descr="Lock">    </p:cNvPr>
          <p:cNvPicPr>
            <a:picLocks noChangeAspect="1"/>
          </p:cNvPicPr>
          <p:nvPr/>
        </p:nvPicPr>
        <p:blipFill>
          <a:blip r:embed="rId3"/>
          <a:srcRect l="0" r="0" t="0" b="0"/>
          <a:stretch/>
        </p:blipFill>
        <p:spPr>
          <a:xfrm>
            <a:off x="1073150" y="4190305"/>
            <a:ext cx="330200" cy="330200"/>
          </a:xfrm>
          <a:prstGeom prst="rect">
            <a:avLst/>
          </a:prstGeom>
        </p:spPr>
      </p:pic>
      <p:sp>
        <p:nvSpPr>
          <p:cNvPr id="11" name="Text 6"/>
          <p:cNvSpPr/>
          <p:nvPr/>
        </p:nvSpPr>
        <p:spPr>
          <a:xfrm>
            <a:off x="1581150" y="4063950"/>
            <a:ext cx="9823831" cy="608310"/>
          </a:xfrm>
          <a:prstGeom prst="rect">
            <a:avLst/>
          </a:prstGeom>
          <a:noFill/>
          <a:ln/>
        </p:spPr>
        <p:txBody>
          <a:bodyPr wrap="square" lIns="0" tIns="0" rIns="0" bIns="0" rtlCol="0" anchor="t">
            <a:normAutofit/>
          </a:bodyPr>
          <a:lstStyle/>
          <a:p>
            <a:pPr algn="l" indent="0" marL="0">
              <a:lnSpc>
                <a:spcPts val="2295"/>
              </a:lnSpc>
              <a:buNone/>
            </a:pPr>
            <a:r>
              <a:rPr lang="en-US" sz="1700" dirty="0">
                <a:solidFill>
                  <a:srgbClr val="10212B"/>
                </a:solidFill>
                <a:latin typeface="IBM Plex Sans" pitchFamily="34" charset="0"/>
                <a:ea typeface="IBM Plex Sans" pitchFamily="34" charset="-122"/>
                <a:cs typeface="IBM Plex Sans" pitchFamily="34" charset="-120"/>
              </a:rPr>
              <a:t>US federal purchasing already requires this list. The EU Cyber Resilience Act phases in through 2027.</a:t>
            </a:r>
            <a:endParaRPr lang="en-US" sz="1700" dirty="0"/>
          </a:p>
        </p:txBody>
      </p:sp>
      <p:sp>
        <p:nvSpPr>
          <p:cNvPr id="12" name="Text 7"/>
          <p:cNvSpPr/>
          <p:nvPr/>
        </p:nvSpPr>
        <p:spPr>
          <a:xfrm>
            <a:off x="812800" y="6238280"/>
            <a:ext cx="4151327"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179"/>
                </a:solidFill>
                <a:latin typeface="IBM Plex Sans" pitchFamily="34" charset="0"/>
                <a:ea typeface="IBM Plex Sans" pitchFamily="34" charset="-122"/>
                <a:cs typeface="IBM Plex Sans" pitchFamily="34" charset="-120"/>
              </a:rPr>
              <a:t>Confirm the current regulatory timelines before presenting.</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0212B"/>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F7F8F6"/>
                </a:solidFill>
                <a:latin typeface="IBM Plex Sans" pitchFamily="34" charset="0"/>
                <a:ea typeface="IBM Plex Sans" pitchFamily="34" charset="-122"/>
                <a:cs typeface="IBM Plex Sans" pitchFamily="34" charset="-120"/>
              </a:rPr>
              <a:t>What that costs us now</a:t>
            </a:r>
            <a:endParaRPr lang="en-US" sz="3600" dirty="0"/>
          </a:p>
        </p:txBody>
      </p:sp>
      <p:sp>
        <p:nvSpPr>
          <p:cNvPr id="3" name="Shape 1"/>
          <p:cNvSpPr/>
          <p:nvPr/>
        </p:nvSpPr>
        <p:spPr>
          <a:xfrm>
            <a:off x="812800" y="1645890"/>
            <a:ext cx="3403600" cy="2066925"/>
          </a:xfrm>
          <a:prstGeom prst="roundRect">
            <a:avLst>
              <a:gd name="adj" fmla="val 4916"/>
            </a:avLst>
          </a:prstGeom>
          <a:solidFill>
            <a:srgbClr val="18313E"/>
          </a:solidFill>
          <a:ln/>
        </p:spPr>
      </p:sp>
      <p:sp>
        <p:nvSpPr>
          <p:cNvPr id="4" name="Text 2"/>
          <p:cNvSpPr/>
          <p:nvPr/>
        </p:nvSpPr>
        <p:spPr>
          <a:xfrm>
            <a:off x="1092200" y="1925290"/>
            <a:ext cx="2930144" cy="685800"/>
          </a:xfrm>
          <a:prstGeom prst="rect">
            <a:avLst/>
          </a:prstGeom>
          <a:noFill/>
          <a:ln/>
        </p:spPr>
        <p:txBody>
          <a:bodyPr wrap="square" lIns="0" tIns="0" rIns="0" bIns="0" rtlCol="0" anchor="t">
            <a:normAutofit/>
          </a:bodyPr>
          <a:lstStyle/>
          <a:p>
            <a:pPr algn="l" indent="0" marL="0">
              <a:lnSpc>
                <a:spcPts val="5200"/>
              </a:lnSpc>
              <a:buNone/>
            </a:pPr>
            <a:r>
              <a:rPr lang="en-US" sz="5200" b="1" dirty="0">
                <a:solidFill>
                  <a:srgbClr val="6FBFAE"/>
                </a:solidFill>
                <a:latin typeface="IBM Plex Sans" pitchFamily="34" charset="0"/>
                <a:ea typeface="IBM Plex Sans" pitchFamily="34" charset="-122"/>
                <a:cs typeface="IBM Plex Sans" pitchFamily="34" charset="-120"/>
              </a:rPr>
              <a:t>[__]</a:t>
            </a:r>
            <a:endParaRPr lang="en-US" sz="5200" dirty="0"/>
          </a:p>
        </p:txBody>
      </p:sp>
      <p:sp>
        <p:nvSpPr>
          <p:cNvPr id="5" name="Text 3"/>
          <p:cNvSpPr/>
          <p:nvPr/>
        </p:nvSpPr>
        <p:spPr>
          <a:xfrm>
            <a:off x="1092200" y="2661890"/>
            <a:ext cx="2930144" cy="79692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B5C4CA"/>
                </a:solidFill>
                <a:latin typeface="IBM Plex Sans" pitchFamily="34" charset="0"/>
                <a:ea typeface="IBM Plex Sans" pitchFamily="34" charset="-122"/>
                <a:cs typeface="IBM Plex Sans" pitchFamily="34" charset="-120"/>
              </a:rPr>
              <a:t>engineer-days a quarter spent answering security questionnaires</a:t>
            </a:r>
            <a:endParaRPr lang="en-US" sz="1500" dirty="0"/>
          </a:p>
        </p:txBody>
      </p:sp>
      <p:sp>
        <p:nvSpPr>
          <p:cNvPr id="6" name="Shape 4"/>
          <p:cNvSpPr/>
          <p:nvPr/>
        </p:nvSpPr>
        <p:spPr>
          <a:xfrm>
            <a:off x="4394200" y="1645890"/>
            <a:ext cx="3403600" cy="2066925"/>
          </a:xfrm>
          <a:prstGeom prst="roundRect">
            <a:avLst>
              <a:gd name="adj" fmla="val 4916"/>
            </a:avLst>
          </a:prstGeom>
          <a:solidFill>
            <a:srgbClr val="18313E"/>
          </a:solidFill>
          <a:ln/>
        </p:spPr>
      </p:sp>
      <p:sp>
        <p:nvSpPr>
          <p:cNvPr id="7" name="Text 5"/>
          <p:cNvSpPr/>
          <p:nvPr/>
        </p:nvSpPr>
        <p:spPr>
          <a:xfrm>
            <a:off x="4673600" y="1925290"/>
            <a:ext cx="2930144" cy="685800"/>
          </a:xfrm>
          <a:prstGeom prst="rect">
            <a:avLst/>
          </a:prstGeom>
          <a:noFill/>
          <a:ln/>
        </p:spPr>
        <p:txBody>
          <a:bodyPr wrap="square" lIns="0" tIns="0" rIns="0" bIns="0" rtlCol="0" anchor="t">
            <a:normAutofit/>
          </a:bodyPr>
          <a:lstStyle/>
          <a:p>
            <a:pPr algn="l" indent="0" marL="0">
              <a:lnSpc>
                <a:spcPts val="5200"/>
              </a:lnSpc>
              <a:buNone/>
            </a:pPr>
            <a:r>
              <a:rPr lang="en-US" sz="5200" b="1" dirty="0">
                <a:solidFill>
                  <a:srgbClr val="6FBFAE"/>
                </a:solidFill>
                <a:latin typeface="IBM Plex Sans" pitchFamily="34" charset="0"/>
                <a:ea typeface="IBM Plex Sans" pitchFamily="34" charset="-122"/>
                <a:cs typeface="IBM Plex Sans" pitchFamily="34" charset="-120"/>
              </a:rPr>
              <a:t>[__]</a:t>
            </a:r>
            <a:endParaRPr lang="en-US" sz="5200" dirty="0"/>
          </a:p>
        </p:txBody>
      </p:sp>
      <p:sp>
        <p:nvSpPr>
          <p:cNvPr id="8" name="Text 6"/>
          <p:cNvSpPr/>
          <p:nvPr/>
        </p:nvSpPr>
        <p:spPr>
          <a:xfrm>
            <a:off x="4673600" y="2661890"/>
            <a:ext cx="2930144" cy="79692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B5C4CA"/>
                </a:solidFill>
                <a:latin typeface="IBM Plex Sans" pitchFamily="34" charset="0"/>
                <a:ea typeface="IBM Plex Sans" pitchFamily="34" charset="-122"/>
                <a:cs typeface="IBM Plex Sans" pitchFamily="34" charset="-120"/>
              </a:rPr>
              <a:t>deals last year where a compliance review pushed the close date</a:t>
            </a:r>
            <a:endParaRPr lang="en-US" sz="1500" dirty="0"/>
          </a:p>
        </p:txBody>
      </p:sp>
      <p:sp>
        <p:nvSpPr>
          <p:cNvPr id="9" name="Shape 7"/>
          <p:cNvSpPr/>
          <p:nvPr/>
        </p:nvSpPr>
        <p:spPr>
          <a:xfrm>
            <a:off x="7975600" y="1645890"/>
            <a:ext cx="3403600" cy="2066925"/>
          </a:xfrm>
          <a:prstGeom prst="roundRect">
            <a:avLst>
              <a:gd name="adj" fmla="val 4916"/>
            </a:avLst>
          </a:prstGeom>
          <a:solidFill>
            <a:srgbClr val="18313E"/>
          </a:solidFill>
          <a:ln/>
        </p:spPr>
      </p:sp>
      <p:sp>
        <p:nvSpPr>
          <p:cNvPr id="10" name="Text 8"/>
          <p:cNvSpPr/>
          <p:nvPr/>
        </p:nvSpPr>
        <p:spPr>
          <a:xfrm>
            <a:off x="8255000" y="1925290"/>
            <a:ext cx="2930144" cy="685800"/>
          </a:xfrm>
          <a:prstGeom prst="rect">
            <a:avLst/>
          </a:prstGeom>
          <a:noFill/>
          <a:ln/>
        </p:spPr>
        <p:txBody>
          <a:bodyPr wrap="square" lIns="0" tIns="0" rIns="0" bIns="0" rtlCol="0" anchor="t">
            <a:normAutofit/>
          </a:bodyPr>
          <a:lstStyle/>
          <a:p>
            <a:pPr algn="l" indent="0" marL="0">
              <a:lnSpc>
                <a:spcPts val="5200"/>
              </a:lnSpc>
              <a:buNone/>
            </a:pPr>
            <a:r>
              <a:rPr lang="en-US" sz="5200" b="1" dirty="0">
                <a:solidFill>
                  <a:srgbClr val="6FBFAE"/>
                </a:solidFill>
                <a:latin typeface="IBM Plex Sans" pitchFamily="34" charset="0"/>
                <a:ea typeface="IBM Plex Sans" pitchFamily="34" charset="-122"/>
                <a:cs typeface="IBM Plex Sans" pitchFamily="34" charset="-120"/>
              </a:rPr>
              <a:t>[__]</a:t>
            </a:r>
            <a:endParaRPr lang="en-US" sz="5200" dirty="0"/>
          </a:p>
        </p:txBody>
      </p:sp>
      <p:sp>
        <p:nvSpPr>
          <p:cNvPr id="11" name="Text 9"/>
          <p:cNvSpPr/>
          <p:nvPr/>
        </p:nvSpPr>
        <p:spPr>
          <a:xfrm>
            <a:off x="8255000" y="2661890"/>
            <a:ext cx="2930144" cy="79692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B5C4CA"/>
                </a:solidFill>
                <a:latin typeface="IBM Plex Sans" pitchFamily="34" charset="0"/>
                <a:ea typeface="IBM Plex Sans" pitchFamily="34" charset="-122"/>
                <a:cs typeface="IBM Plex Sans" pitchFamily="34" charset="-120"/>
              </a:rPr>
              <a:t>hours to answer "are we exposed?" the last time it mattered</a:t>
            </a:r>
            <a:endParaRPr lang="en-US" sz="1500" dirty="0"/>
          </a:p>
        </p:txBody>
      </p:sp>
      <p:sp>
        <p:nvSpPr>
          <p:cNvPr id="12" name="Text 10"/>
          <p:cNvSpPr/>
          <p:nvPr/>
        </p:nvSpPr>
        <p:spPr>
          <a:xfrm>
            <a:off x="812800" y="4043015"/>
            <a:ext cx="10595610" cy="327620"/>
          </a:xfrm>
          <a:prstGeom prst="rect">
            <a:avLst/>
          </a:prstGeom>
          <a:noFill/>
          <a:ln/>
        </p:spPr>
        <p:txBody>
          <a:bodyPr wrap="square" lIns="0" tIns="0" rIns="0" bIns="0" rtlCol="0" anchor="t">
            <a:normAutofit/>
          </a:bodyPr>
          <a:lstStyle/>
          <a:p>
            <a:pPr algn="l" indent="0" marL="0">
              <a:lnSpc>
                <a:spcPts val="2380"/>
              </a:lnSpc>
              <a:buNone/>
            </a:pPr>
            <a:r>
              <a:rPr lang="en-US" sz="1700" dirty="0">
                <a:solidFill>
                  <a:srgbClr val="F7F8F6"/>
                </a:solidFill>
                <a:latin typeface="IBM Plex Sans" pitchFamily="34" charset="0"/>
                <a:ea typeface="IBM Plex Sans" pitchFamily="34" charset="-122"/>
                <a:cs typeface="IBM Plex Sans" pitchFamily="34" charset="-120"/>
              </a:rPr>
              <a:t>All three recur, and all three are paid for by pulling senior engineers off product work.</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6"/>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0212B"/>
                </a:solidFill>
                <a:latin typeface="IBM Plex Sans" pitchFamily="34" charset="0"/>
                <a:ea typeface="IBM Plex Sans" pitchFamily="34" charset="-122"/>
                <a:cs typeface="IBM Plex Sans" pitchFamily="34" charset="-120"/>
              </a:rPr>
              <a:t>Why we can't simply buy this</a:t>
            </a:r>
            <a:endParaRPr lang="en-US" sz="3600" dirty="0"/>
          </a:p>
        </p:txBody>
      </p:sp>
      <p:sp>
        <p:nvSpPr>
          <p:cNvPr id="3" name="Text 1"/>
          <p:cNvSpPr/>
          <p:nvPr/>
        </p:nvSpPr>
        <p:spPr>
          <a:xfrm>
            <a:off x="812800" y="1595090"/>
            <a:ext cx="10595610" cy="700980"/>
          </a:xfrm>
          <a:prstGeom prst="rect">
            <a:avLst/>
          </a:prstGeom>
          <a:noFill/>
          <a:ln/>
        </p:spPr>
        <p:txBody>
          <a:bodyPr wrap="square" lIns="0" tIns="0" rIns="0" bIns="0" rtlCol="0" anchor="t">
            <a:normAutofit/>
          </a:bodyPr>
          <a:lstStyle/>
          <a:p>
            <a:pPr algn="l" indent="0" marL="0">
              <a:lnSpc>
                <a:spcPts val="2660"/>
              </a:lnSpc>
              <a:buNone/>
            </a:pPr>
            <a:r>
              <a:rPr lang="en-US" sz="1900" dirty="0">
                <a:solidFill>
                  <a:srgbClr val="4A5568"/>
                </a:solidFill>
                <a:latin typeface="IBM Plex Sans" pitchFamily="34" charset="0"/>
                <a:ea typeface="IBM Plex Sans" pitchFamily="34" charset="-122"/>
                <a:cs typeface="IBM Plex Sans" pitchFamily="34" charset="-120"/>
              </a:rPr>
              <a:t>The tools on the market were built for the ecosystems most companies use. We build on conda packages and Python wheels together, and that combination is the part they handle badly.</a:t>
            </a:r>
            <a:endParaRPr lang="en-US" sz="1900" dirty="0"/>
          </a:p>
        </p:txBody>
      </p:sp>
      <p:sp>
        <p:nvSpPr>
          <p:cNvPr id="4" name="Shape 2"/>
          <p:cNvSpPr/>
          <p:nvPr/>
        </p:nvSpPr>
        <p:spPr>
          <a:xfrm>
            <a:off x="815975" y="2553246"/>
            <a:ext cx="5181600" cy="1418530"/>
          </a:xfrm>
          <a:prstGeom prst="roundRect">
            <a:avLst>
              <a:gd name="adj" fmla="val 6939"/>
            </a:avLst>
          </a:prstGeom>
          <a:solidFill>
            <a:srgbClr val="FFFFFF"/>
          </a:solidFill>
          <a:ln w="6350">
            <a:solidFill>
              <a:srgbClr val="DFE3DE"/>
            </a:solidFill>
            <a:prstDash val="solid"/>
          </a:ln>
        </p:spPr>
      </p:sp>
      <p:sp>
        <p:nvSpPr>
          <p:cNvPr id="5" name="Text 3"/>
          <p:cNvSpPr/>
          <p:nvPr/>
        </p:nvSpPr>
        <p:spPr>
          <a:xfrm>
            <a:off x="1073150" y="2810421"/>
            <a:ext cx="4807268"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0212B"/>
                </a:solidFill>
                <a:latin typeface="IBM Plex Sans" pitchFamily="34" charset="0"/>
                <a:ea typeface="IBM Plex Sans" pitchFamily="34" charset="-122"/>
                <a:cs typeface="IBM Plex Sans" pitchFamily="34" charset="-120"/>
              </a:rPr>
              <a:t>A bought tool reports</a:t>
            </a:r>
            <a:endParaRPr lang="en-US" sz="1700" dirty="0"/>
          </a:p>
        </p:txBody>
      </p:sp>
      <p:sp>
        <p:nvSpPr>
          <p:cNvPr id="6" name="Text 4"/>
          <p:cNvSpPr/>
          <p:nvPr/>
        </p:nvSpPr>
        <p:spPr>
          <a:xfrm>
            <a:off x="1073150" y="3145681"/>
            <a:ext cx="4807268"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A5568"/>
                </a:solidFill>
                <a:latin typeface="IBM Plex Sans" pitchFamily="34" charset="0"/>
                <a:ea typeface="IBM Plex Sans" pitchFamily="34" charset="-122"/>
                <a:cs typeface="IBM Plex Sans" pitchFamily="34" charset="-120"/>
              </a:rPr>
              <a:t>A clean inventory, missing a large share of what we actually install — with no error to tell us.</a:t>
            </a:r>
            <a:endParaRPr lang="en-US" sz="1600" dirty="0"/>
          </a:p>
        </p:txBody>
      </p:sp>
      <p:sp>
        <p:nvSpPr>
          <p:cNvPr id="7" name="Shape 5"/>
          <p:cNvSpPr/>
          <p:nvPr/>
        </p:nvSpPr>
        <p:spPr>
          <a:xfrm>
            <a:off x="6203950" y="2550071"/>
            <a:ext cx="5175250" cy="1424880"/>
          </a:xfrm>
          <a:prstGeom prst="roundRect">
            <a:avLst>
              <a:gd name="adj" fmla="val 7130"/>
            </a:avLst>
          </a:prstGeom>
          <a:solidFill>
            <a:srgbClr val="10212B"/>
          </a:solidFill>
          <a:ln/>
        </p:spPr>
      </p:sp>
      <p:sp>
        <p:nvSpPr>
          <p:cNvPr id="8" name="Text 6"/>
          <p:cNvSpPr/>
          <p:nvPr/>
        </p:nvSpPr>
        <p:spPr>
          <a:xfrm>
            <a:off x="6457950" y="2804071"/>
            <a:ext cx="4807268" cy="284460"/>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6FBFAE"/>
                </a:solidFill>
                <a:latin typeface="IBM Plex Sans" pitchFamily="34" charset="0"/>
                <a:ea typeface="IBM Plex Sans" pitchFamily="34" charset="-122"/>
                <a:cs typeface="IBM Plex Sans" pitchFamily="34" charset="-120"/>
              </a:rPr>
              <a:t>Which is the dangerous case</a:t>
            </a:r>
            <a:endParaRPr lang="en-US" sz="1700" dirty="0"/>
          </a:p>
        </p:txBody>
      </p:sp>
      <p:sp>
        <p:nvSpPr>
          <p:cNvPr id="9" name="Text 7"/>
          <p:cNvSpPr/>
          <p:nvPr/>
        </p:nvSpPr>
        <p:spPr>
          <a:xfrm>
            <a:off x="6457950" y="3139331"/>
            <a:ext cx="4807268"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B5C4CA"/>
                </a:solidFill>
                <a:latin typeface="IBM Plex Sans" pitchFamily="34" charset="0"/>
                <a:ea typeface="IBM Plex Sans" pitchFamily="34" charset="-122"/>
                <a:cs typeface="IBM Plex Sans" pitchFamily="34" charset="-120"/>
              </a:rPr>
              <a:t>An incomplete list we trust is worse than no list. We'd answer the customer, and be wrong.</a:t>
            </a:r>
            <a:endParaRPr lang="en-US" sz="1600" dirty="0"/>
          </a:p>
        </p:txBody>
      </p:sp>
      <p:sp>
        <p:nvSpPr>
          <p:cNvPr id="10" name="Text 8"/>
          <p:cNvSpPr/>
          <p:nvPr/>
        </p:nvSpPr>
        <p:spPr>
          <a:xfrm>
            <a:off x="812800" y="4254351"/>
            <a:ext cx="10595610"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0212B"/>
                </a:solidFill>
                <a:latin typeface="IBM Plex Sans" pitchFamily="34" charset="0"/>
                <a:ea typeface="IBM Plex Sans" pitchFamily="34" charset="-122"/>
                <a:cs typeface="IBM Plex Sans" pitchFamily="34" charset="-120"/>
              </a:rPr>
              <a:t>The tool we'd use instead is already built, already runs against our lockfiles, and costs nothing.</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6"/>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0212B"/>
                </a:solidFill>
                <a:latin typeface="IBM Plex Sans" pitchFamily="34" charset="0"/>
                <a:ea typeface="IBM Plex Sans" pitchFamily="34" charset="-122"/>
                <a:cs typeface="IBM Plex Sans" pitchFamily="34" charset="-120"/>
              </a:rPr>
              <a:t>What changes</a:t>
            </a:r>
            <a:endParaRPr lang="en-US" sz="3600" dirty="0"/>
          </a:p>
        </p:txBody>
      </p:sp>
      <p:sp>
        <p:nvSpPr>
          <p:cNvPr id="3" name="Shape 1"/>
          <p:cNvSpPr/>
          <p:nvPr/>
        </p:nvSpPr>
        <p:spPr>
          <a:xfrm>
            <a:off x="812800" y="1601440"/>
            <a:ext cx="10566400" cy="0"/>
          </a:xfrm>
          <a:prstGeom prst="line">
            <a:avLst/>
          </a:prstGeom>
          <a:noFill/>
          <a:ln w="12700">
            <a:solidFill>
              <a:srgbClr val="141413">
                <a:alpha val="22000"/>
              </a:srgbClr>
            </a:solidFill>
            <a:prstDash val="solid"/>
          </a:ln>
        </p:spPr>
      </p:sp>
      <p:sp>
        <p:nvSpPr>
          <p:cNvPr id="4" name="Shape 2"/>
          <p:cNvSpPr/>
          <p:nvPr/>
        </p:nvSpPr>
        <p:spPr>
          <a:xfrm>
            <a:off x="819150" y="1595090"/>
            <a:ext cx="0" cy="2463403"/>
          </a:xfrm>
          <a:prstGeom prst="line">
            <a:avLst/>
          </a:prstGeom>
          <a:noFill/>
          <a:ln w="12700">
            <a:solidFill>
              <a:srgbClr val="141413">
                <a:alpha val="22000"/>
              </a:srgbClr>
            </a:solidFill>
            <a:prstDash val="solid"/>
          </a:ln>
        </p:spPr>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977900" y="1734790"/>
          <a:ext cx="10248900" cy="2196703"/>
        </p:xfrm>
        <a:graphic>
          <a:graphicData uri="http://schemas.openxmlformats.org/drawingml/2006/table">
            <a:tbl>
              <a:tblPr/>
              <a:tblGrid>
                <a:gridCol w="3894582"/>
                <a:gridCol w="3177159"/>
                <a:gridCol w="3177159"/>
              </a:tblGrid>
              <a:tr h="439341">
                <a:tc>
                  <a:txBody>
                    <a:bodyPr/>
                    <a:lstStyle/>
                    <a:p>
                      <a:pPr indent="0" marL="0">
                        <a:lnSpc>
                          <a:spcPts val="2240"/>
                        </a:lnSpc>
                        <a:buNone/>
                      </a:pPr>
                      <a:r>
                        <a:rPr lang="en-US" sz="1600" b="1" dirty="0">
                          <a:solidFill>
                            <a:srgbClr val="F7F8F6"/>
                          </a:solidFill>
                          <a:latin typeface="IBM Plex Sans" pitchFamily="34" charset="0"/>
                          <a:ea typeface="IBM Plex Sans" pitchFamily="34" charset="-122"/>
                          <a:cs typeface="IBM Plex Sans" pitchFamily="34" charset="-120"/>
                        </a:rPr>
                        <a:t>The question</a:t>
                      </a:r>
                      <a:endParaRPr lang="en-US" sz="1600" dirty="0">
                        <a:latin typeface="IBM Plex Sans" charset="0"/>
                        <a:ea typeface="IBM Plex Sans" charset="0"/>
                        <a:cs typeface="IBM Plex Sans" charset="0"/>
                      </a:endParaRPr>
                    </a:p>
                  </a:txBody>
                  <a:tcPr marL="71120" marR="71120" marT="71120" marB="71120" anchor="t">
                    <a:lnL w="0" cap="flat" cmpd="sng" algn="ctr">
                      <a:noFill/>
                    </a:lnL>
                    <a:lnR w="12700" cap="flat" cmpd="sng" algn="ctr">
                      <a:solidFill>
                        <a:srgbClr val="111E26"/>
                      </a:solidFill>
                      <a:prstDash val="solid"/>
                      <a:round/>
                      <a:headEnd type="none" w="med" len="med"/>
                      <a:tailEnd type="none" w="med" len="med"/>
                    </a:lnR>
                    <a:lnT w="0" cap="flat" cmpd="sng" algn="ctr">
                      <a:noFill/>
                    </a:lnT>
                    <a:lnB w="12700" cap="flat" cmpd="sng" algn="ctr">
                      <a:solidFill>
                        <a:srgbClr val="111E26"/>
                      </a:solidFill>
                      <a:prstDash val="solid"/>
                      <a:round/>
                      <a:headEnd type="none" w="med" len="med"/>
                      <a:tailEnd type="none" w="med" len="med"/>
                    </a:lnB>
                    <a:solidFill>
                      <a:srgbClr val="10212B"/>
                    </a:solidFill>
                  </a:tcPr>
                </a:tc>
                <a:tc>
                  <a:txBody>
                    <a:bodyPr/>
                    <a:lstStyle/>
                    <a:p>
                      <a:pPr indent="0" marL="0">
                        <a:lnSpc>
                          <a:spcPts val="2240"/>
                        </a:lnSpc>
                        <a:buNone/>
                      </a:pPr>
                      <a:r>
                        <a:rPr lang="en-US" sz="1600" b="1" dirty="0">
                          <a:solidFill>
                            <a:srgbClr val="F7F8F6"/>
                          </a:solidFill>
                          <a:latin typeface="IBM Plex Sans" pitchFamily="34" charset="0"/>
                          <a:ea typeface="IBM Plex Sans" pitchFamily="34" charset="-122"/>
                          <a:cs typeface="IBM Plex Sans" pitchFamily="34" charset="-120"/>
                        </a:rPr>
                        <a:t>Today</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111E26"/>
                      </a:solidFill>
                      <a:prstDash val="solid"/>
                      <a:round/>
                      <a:headEnd type="none" w="med" len="med"/>
                      <a:tailEnd type="none" w="med" len="med"/>
                    </a:lnL>
                    <a:lnR w="12700" cap="flat" cmpd="sng" algn="ctr">
                      <a:solidFill>
                        <a:srgbClr val="111E26"/>
                      </a:solidFill>
                      <a:prstDash val="solid"/>
                      <a:round/>
                      <a:headEnd type="none" w="med" len="med"/>
                      <a:tailEnd type="none" w="med" len="med"/>
                    </a:lnR>
                    <a:lnT w="0" cap="flat" cmpd="sng" algn="ctr">
                      <a:noFill/>
                    </a:lnT>
                    <a:lnB w="12700" cap="flat" cmpd="sng" algn="ctr">
                      <a:solidFill>
                        <a:srgbClr val="111E26"/>
                      </a:solidFill>
                      <a:prstDash val="solid"/>
                      <a:round/>
                      <a:headEnd type="none" w="med" len="med"/>
                      <a:tailEnd type="none" w="med" len="med"/>
                    </a:lnB>
                    <a:solidFill>
                      <a:srgbClr val="10212B"/>
                    </a:solidFill>
                  </a:tcPr>
                </a:tc>
                <a:tc>
                  <a:txBody>
                    <a:bodyPr/>
                    <a:lstStyle/>
                    <a:p>
                      <a:pPr indent="0" marL="0">
                        <a:lnSpc>
                          <a:spcPts val="2240"/>
                        </a:lnSpc>
                        <a:buNone/>
                      </a:pPr>
                      <a:r>
                        <a:rPr lang="en-US" sz="1600" b="1" dirty="0">
                          <a:solidFill>
                            <a:srgbClr val="F7F8F6"/>
                          </a:solidFill>
                          <a:latin typeface="IBM Plex Sans" pitchFamily="34" charset="0"/>
                          <a:ea typeface="IBM Plex Sans" pitchFamily="34" charset="-122"/>
                          <a:cs typeface="IBM Plex Sans" pitchFamily="34" charset="-120"/>
                        </a:rPr>
                        <a:t>After</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111E26"/>
                      </a:solidFill>
                      <a:prstDash val="solid"/>
                      <a:round/>
                      <a:headEnd type="none" w="med" len="med"/>
                      <a:tailEnd type="none" w="med" len="med"/>
                    </a:lnL>
                    <a:lnR w="12700" cap="flat" cmpd="sng" algn="ctr">
                      <a:solidFill>
                        <a:srgbClr val="111E26"/>
                      </a:solidFill>
                      <a:prstDash val="solid"/>
                      <a:round/>
                      <a:headEnd type="none" w="med" len="med"/>
                      <a:tailEnd type="none" w="med" len="med"/>
                    </a:lnR>
                    <a:lnT w="0" cap="flat" cmpd="sng" algn="ctr">
                      <a:noFill/>
                    </a:lnT>
                    <a:lnB w="12700" cap="flat" cmpd="sng" algn="ctr">
                      <a:solidFill>
                        <a:srgbClr val="111E26"/>
                      </a:solidFill>
                      <a:prstDash val="solid"/>
                      <a:round/>
                      <a:headEnd type="none" w="med" len="med"/>
                      <a:tailEnd type="none" w="med" len="med"/>
                    </a:lnB>
                    <a:solidFill>
                      <a:srgbClr val="10212B"/>
                    </a:solidFill>
                  </a:tcPr>
                </a:tc>
              </a:tr>
              <a:tr h="439341">
                <a:tc>
                  <a:txBody>
                    <a:bodyPr/>
                    <a:lstStyle/>
                    <a:p>
                      <a:pPr indent="0" marL="0">
                        <a:lnSpc>
                          <a:spcPts val="2240"/>
                        </a:lnSpc>
                        <a:buNone/>
                      </a:pPr>
                      <a:r>
                        <a:rPr lang="en-US" sz="1600" dirty="0">
                          <a:solidFill>
                            <a:srgbClr val="10212B"/>
                          </a:solidFill>
                          <a:latin typeface="IBM Plex Sans" pitchFamily="34" charset="0"/>
                          <a:ea typeface="IBM Plex Sans" pitchFamily="34" charset="-122"/>
                          <a:cs typeface="IBM Plex Sans" pitchFamily="34" charset="-120"/>
                        </a:rPr>
                        <a:t>What's in release 4.2?</a:t>
                      </a:r>
                      <a:endParaRPr lang="en-US" sz="1600" dirty="0">
                        <a:latin typeface="IBM Plex Sans" charset="0"/>
                        <a:ea typeface="IBM Plex Sans" charset="0"/>
                        <a:cs typeface="IBM Plex Sans" charset="0"/>
                      </a:endParaRPr>
                    </a:p>
                  </a:txBody>
                  <a:tcPr marL="71120" marR="71120" marT="71120" marB="71120" anchor="t">
                    <a:lnL w="0" cap="flat" cmpd="sng" algn="ctr">
                      <a:noFill/>
                    </a:lnL>
                    <a:lnR w="12700" cap="flat" cmpd="sng" algn="ctr">
                      <a:solidFill>
                        <a:srgbClr val="C5C6C4"/>
                      </a:solidFill>
                      <a:prstDash val="solid"/>
                      <a:round/>
                      <a:headEnd type="none" w="med" len="med"/>
                      <a:tailEnd type="none" w="med" len="med"/>
                    </a:lnR>
                    <a:lnT w="12700" cap="flat" cmpd="sng" algn="ctr">
                      <a:solidFill>
                        <a:srgbClr val="111E26"/>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c>
                  <a:txBody>
                    <a:bodyPr/>
                    <a:lstStyle/>
                    <a:p>
                      <a:pPr indent="0" marL="0">
                        <a:lnSpc>
                          <a:spcPts val="2240"/>
                        </a:lnSpc>
                        <a:buNone/>
                      </a:pPr>
                      <a:r>
                        <a:rPr lang="en-US" sz="1600" dirty="0">
                          <a:solidFill>
                            <a:srgbClr val="10212B"/>
                          </a:solidFill>
                          <a:latin typeface="IBM Plex Sans" pitchFamily="34" charset="0"/>
                          <a:ea typeface="IBM Plex Sans" pitchFamily="34" charset="-122"/>
                          <a:cs typeface="IBM Plex Sans" pitchFamily="34" charset="-120"/>
                        </a:rPr>
                        <a:t>Days of archaeology</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6C4"/>
                      </a:solidFill>
                      <a:prstDash val="solid"/>
                      <a:round/>
                      <a:headEnd type="none" w="med" len="med"/>
                      <a:tailEnd type="none" w="med" len="med"/>
                    </a:lnL>
                    <a:lnR w="12700" cap="flat" cmpd="sng" algn="ctr">
                      <a:solidFill>
                        <a:srgbClr val="C5C6C4"/>
                      </a:solidFill>
                      <a:prstDash val="solid"/>
                      <a:round/>
                      <a:headEnd type="none" w="med" len="med"/>
                      <a:tailEnd type="none" w="med" len="med"/>
                    </a:lnR>
                    <a:lnT w="12700" cap="flat" cmpd="sng" algn="ctr">
                      <a:solidFill>
                        <a:srgbClr val="111E26"/>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c>
                  <a:txBody>
                    <a:bodyPr/>
                    <a:lstStyle/>
                    <a:p>
                      <a:pPr indent="0" marL="0">
                        <a:lnSpc>
                          <a:spcPts val="2240"/>
                        </a:lnSpc>
                        <a:buNone/>
                      </a:pPr>
                      <a:r>
                        <a:rPr lang="en-US" sz="1600" dirty="0">
                          <a:solidFill>
                            <a:srgbClr val="10212B"/>
                          </a:solidFill>
                          <a:latin typeface="IBM Plex Sans" pitchFamily="34" charset="0"/>
                          <a:ea typeface="IBM Plex Sans" pitchFamily="34" charset="-122"/>
                          <a:cs typeface="IBM Plex Sans" pitchFamily="34" charset="-120"/>
                        </a:rPr>
                        <a:t>A file, written at build time</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6C4"/>
                      </a:solidFill>
                      <a:prstDash val="solid"/>
                      <a:round/>
                      <a:headEnd type="none" w="med" len="med"/>
                      <a:tailEnd type="none" w="med" len="med"/>
                    </a:lnL>
                    <a:lnR w="12700" cap="flat" cmpd="sng" algn="ctr">
                      <a:solidFill>
                        <a:srgbClr val="C5C6C4"/>
                      </a:solidFill>
                      <a:prstDash val="solid"/>
                      <a:round/>
                      <a:headEnd type="none" w="med" len="med"/>
                      <a:tailEnd type="none" w="med" len="med"/>
                    </a:lnR>
                    <a:lnT w="12700" cap="flat" cmpd="sng" algn="ctr">
                      <a:solidFill>
                        <a:srgbClr val="111E26"/>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r>
              <a:tr h="439341">
                <a:tc>
                  <a:txBody>
                    <a:bodyPr/>
                    <a:lstStyle/>
                    <a:p>
                      <a:pPr indent="0" marL="0">
                        <a:lnSpc>
                          <a:spcPts val="2240"/>
                        </a:lnSpc>
                        <a:buNone/>
                      </a:pPr>
                      <a:r>
                        <a:rPr lang="en-US" sz="1600" dirty="0">
                          <a:solidFill>
                            <a:srgbClr val="10212B"/>
                          </a:solidFill>
                          <a:latin typeface="IBM Plex Sans" pitchFamily="34" charset="0"/>
                          <a:ea typeface="IBM Plex Sans" pitchFamily="34" charset="-122"/>
                          <a:cs typeface="IBM Plex Sans" pitchFamily="34" charset="-120"/>
                        </a:rPr>
                        <a:t>Are we exposed to this vulnerability?</a:t>
                      </a:r>
                      <a:endParaRPr lang="en-US" sz="1600" dirty="0">
                        <a:latin typeface="IBM Plex Sans" charset="0"/>
                        <a:ea typeface="IBM Plex Sans" charset="0"/>
                        <a:cs typeface="IBM Plex Sans" charset="0"/>
                      </a:endParaRPr>
                    </a:p>
                  </a:txBody>
                  <a:tcPr marL="71120" marR="71120" marT="71120" marB="71120" anchor="t">
                    <a:lnL w="0" cap="flat" cmpd="sng" algn="ctr">
                      <a:noFill/>
                    </a:lnL>
                    <a:lnR w="12700" cap="flat" cmpd="sng" algn="ctr">
                      <a:solidFill>
                        <a:srgbClr val="BFC1BE"/>
                      </a:solidFill>
                      <a:prstDash val="solid"/>
                      <a:round/>
                      <a:headEnd type="none" w="med" len="med"/>
                      <a:tailEnd type="none" w="med" len="med"/>
                    </a:lnR>
                    <a:lnT w="12700" cap="flat" cmpd="sng" algn="ctr">
                      <a:solidFill>
                        <a:srgbClr val="C5C6C4"/>
                      </a:solidFill>
                      <a:prstDash val="solid"/>
                      <a:round/>
                      <a:headEnd type="none" w="med" len="med"/>
                      <a:tailEnd type="none" w="med" len="med"/>
                    </a:lnT>
                    <a:lnB w="12700" cap="flat" cmpd="sng" algn="ctr">
                      <a:solidFill>
                        <a:srgbClr val="BFC1BE"/>
                      </a:solidFill>
                      <a:prstDash val="solid"/>
                      <a:round/>
                      <a:headEnd type="none" w="med" len="med"/>
                      <a:tailEnd type="none" w="med" len="med"/>
                    </a:lnB>
                    <a:solidFill>
                      <a:srgbClr val="EFF2EE"/>
                    </a:solidFill>
                  </a:tcPr>
                </a:tc>
                <a:tc>
                  <a:txBody>
                    <a:bodyPr/>
                    <a:lstStyle/>
                    <a:p>
                      <a:pPr indent="0" marL="0">
                        <a:lnSpc>
                          <a:spcPts val="2240"/>
                        </a:lnSpc>
                        <a:buNone/>
                      </a:pPr>
                      <a:r>
                        <a:rPr lang="en-US" sz="1600" dirty="0">
                          <a:solidFill>
                            <a:srgbClr val="10212B"/>
                          </a:solidFill>
                          <a:latin typeface="IBM Plex Sans" pitchFamily="34" charset="0"/>
                          <a:ea typeface="IBM Plex Sans" pitchFamily="34" charset="-122"/>
                          <a:cs typeface="IBM Plex Sans" pitchFamily="34" charset="-120"/>
                        </a:rPr>
                        <a:t>Ask every team, wait</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FC1BE"/>
                      </a:solidFill>
                      <a:prstDash val="solid"/>
                      <a:round/>
                      <a:headEnd type="none" w="med" len="med"/>
                      <a:tailEnd type="none" w="med" len="med"/>
                    </a:lnL>
                    <a:lnR w="12700" cap="flat" cmpd="sng" algn="ctr">
                      <a:solidFill>
                        <a:srgbClr val="BFC1BE"/>
                      </a:solidFill>
                      <a:prstDash val="solid"/>
                      <a:round/>
                      <a:headEnd type="none" w="med" len="med"/>
                      <a:tailEnd type="none" w="med" len="med"/>
                    </a:lnR>
                    <a:lnT w="12700" cap="flat" cmpd="sng" algn="ctr">
                      <a:solidFill>
                        <a:srgbClr val="C5C6C4"/>
                      </a:solidFill>
                      <a:prstDash val="solid"/>
                      <a:round/>
                      <a:headEnd type="none" w="med" len="med"/>
                      <a:tailEnd type="none" w="med" len="med"/>
                    </a:lnT>
                    <a:lnB w="12700" cap="flat" cmpd="sng" algn="ctr">
                      <a:solidFill>
                        <a:srgbClr val="BFC1BE"/>
                      </a:solidFill>
                      <a:prstDash val="solid"/>
                      <a:round/>
                      <a:headEnd type="none" w="med" len="med"/>
                      <a:tailEnd type="none" w="med" len="med"/>
                    </a:lnB>
                    <a:solidFill>
                      <a:srgbClr val="EFF2EE"/>
                    </a:solidFill>
                  </a:tcPr>
                </a:tc>
                <a:tc>
                  <a:txBody>
                    <a:bodyPr/>
                    <a:lstStyle/>
                    <a:p>
                      <a:pPr indent="0" marL="0">
                        <a:lnSpc>
                          <a:spcPts val="2240"/>
                        </a:lnSpc>
                        <a:buNone/>
                      </a:pPr>
                      <a:r>
                        <a:rPr lang="en-US" sz="1600" dirty="0">
                          <a:solidFill>
                            <a:srgbClr val="10212B"/>
                          </a:solidFill>
                          <a:latin typeface="IBM Plex Sans" pitchFamily="34" charset="0"/>
                          <a:ea typeface="IBM Plex Sans" pitchFamily="34" charset="-122"/>
                          <a:cs typeface="IBM Plex Sans" pitchFamily="34" charset="-120"/>
                        </a:rPr>
                        <a:t>Search one document</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FC1BE"/>
                      </a:solidFill>
                      <a:prstDash val="solid"/>
                      <a:round/>
                      <a:headEnd type="none" w="med" len="med"/>
                      <a:tailEnd type="none" w="med" len="med"/>
                    </a:lnL>
                    <a:lnR w="12700" cap="flat" cmpd="sng" algn="ctr">
                      <a:solidFill>
                        <a:srgbClr val="BFC1BE"/>
                      </a:solidFill>
                      <a:prstDash val="solid"/>
                      <a:round/>
                      <a:headEnd type="none" w="med" len="med"/>
                      <a:tailEnd type="none" w="med" len="med"/>
                    </a:lnR>
                    <a:lnT w="12700" cap="flat" cmpd="sng" algn="ctr">
                      <a:solidFill>
                        <a:srgbClr val="C5C6C4"/>
                      </a:solidFill>
                      <a:prstDash val="solid"/>
                      <a:round/>
                      <a:headEnd type="none" w="med" len="med"/>
                      <a:tailEnd type="none" w="med" len="med"/>
                    </a:lnT>
                    <a:lnB w="12700" cap="flat" cmpd="sng" algn="ctr">
                      <a:solidFill>
                        <a:srgbClr val="BFC1BE"/>
                      </a:solidFill>
                      <a:prstDash val="solid"/>
                      <a:round/>
                      <a:headEnd type="none" w="med" len="med"/>
                      <a:tailEnd type="none" w="med" len="med"/>
                    </a:lnB>
                    <a:solidFill>
                      <a:srgbClr val="EFF2EE"/>
                    </a:solidFill>
                  </a:tcPr>
                </a:tc>
              </a:tr>
              <a:tr h="439341">
                <a:tc>
                  <a:txBody>
                    <a:bodyPr/>
                    <a:lstStyle/>
                    <a:p>
                      <a:pPr indent="0" marL="0">
                        <a:lnSpc>
                          <a:spcPts val="2240"/>
                        </a:lnSpc>
                        <a:buNone/>
                      </a:pPr>
                      <a:r>
                        <a:rPr lang="en-US" sz="1600" dirty="0">
                          <a:solidFill>
                            <a:srgbClr val="10212B"/>
                          </a:solidFill>
                          <a:latin typeface="IBM Plex Sans" pitchFamily="34" charset="0"/>
                          <a:ea typeface="IBM Plex Sans" pitchFamily="34" charset="-122"/>
                          <a:cs typeface="IBM Plex Sans" pitchFamily="34" charset="-120"/>
                        </a:rPr>
                        <a:t>Can we pass this customer's review?</a:t>
                      </a:r>
                      <a:endParaRPr lang="en-US" sz="1600" dirty="0">
                        <a:latin typeface="IBM Plex Sans" charset="0"/>
                        <a:ea typeface="IBM Plex Sans" charset="0"/>
                        <a:cs typeface="IBM Plex Sans" charset="0"/>
                      </a:endParaRPr>
                    </a:p>
                  </a:txBody>
                  <a:tcPr marL="71120" marR="71120" marT="71120" marB="71120" anchor="t">
                    <a:lnL w="0" cap="flat" cmpd="sng" algn="ctr">
                      <a:noFill/>
                    </a:lnL>
                    <a:lnR w="12700" cap="flat" cmpd="sng" algn="ctr">
                      <a:solidFill>
                        <a:srgbClr val="C5C6C4"/>
                      </a:solidFill>
                      <a:prstDash val="solid"/>
                      <a:round/>
                      <a:headEnd type="none" w="med" len="med"/>
                      <a:tailEnd type="none" w="med" len="med"/>
                    </a:lnR>
                    <a:lnT w="12700" cap="flat" cmpd="sng" algn="ctr">
                      <a:solidFill>
                        <a:srgbClr val="BFC1BE"/>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c>
                  <a:txBody>
                    <a:bodyPr/>
                    <a:lstStyle/>
                    <a:p>
                      <a:pPr indent="0" marL="0">
                        <a:lnSpc>
                          <a:spcPts val="2240"/>
                        </a:lnSpc>
                        <a:buNone/>
                      </a:pPr>
                      <a:r>
                        <a:rPr lang="en-US" sz="1600" dirty="0">
                          <a:solidFill>
                            <a:srgbClr val="10212B"/>
                          </a:solidFill>
                          <a:latin typeface="IBM Plex Sans" pitchFamily="34" charset="0"/>
                          <a:ea typeface="IBM Plex Sans" pitchFamily="34" charset="-122"/>
                          <a:cs typeface="IBM Plex Sans" pitchFamily="34" charset="-120"/>
                        </a:rPr>
                        <a:t>Rebuilt by hand each time</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6C4"/>
                      </a:solidFill>
                      <a:prstDash val="solid"/>
                      <a:round/>
                      <a:headEnd type="none" w="med" len="med"/>
                      <a:tailEnd type="none" w="med" len="med"/>
                    </a:lnL>
                    <a:lnR w="12700" cap="flat" cmpd="sng" algn="ctr">
                      <a:solidFill>
                        <a:srgbClr val="C5C6C4"/>
                      </a:solidFill>
                      <a:prstDash val="solid"/>
                      <a:round/>
                      <a:headEnd type="none" w="med" len="med"/>
                      <a:tailEnd type="none" w="med" len="med"/>
                    </a:lnR>
                    <a:lnT w="12700" cap="flat" cmpd="sng" algn="ctr">
                      <a:solidFill>
                        <a:srgbClr val="BFC1BE"/>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c>
                  <a:txBody>
                    <a:bodyPr/>
                    <a:lstStyle/>
                    <a:p>
                      <a:pPr indent="0" marL="0">
                        <a:lnSpc>
                          <a:spcPts val="2240"/>
                        </a:lnSpc>
                        <a:buNone/>
                      </a:pPr>
                      <a:r>
                        <a:rPr lang="en-US" sz="1600" dirty="0">
                          <a:solidFill>
                            <a:srgbClr val="10212B"/>
                          </a:solidFill>
                          <a:latin typeface="IBM Plex Sans" pitchFamily="34" charset="0"/>
                          <a:ea typeface="IBM Plex Sans" pitchFamily="34" charset="-122"/>
                          <a:cs typeface="IBM Plex Sans" pitchFamily="34" charset="-120"/>
                        </a:rPr>
                        <a:t>Attach the standard file</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C5C6C4"/>
                      </a:solidFill>
                      <a:prstDash val="solid"/>
                      <a:round/>
                      <a:headEnd type="none" w="med" len="med"/>
                      <a:tailEnd type="none" w="med" len="med"/>
                    </a:lnL>
                    <a:lnR w="12700" cap="flat" cmpd="sng" algn="ctr">
                      <a:solidFill>
                        <a:srgbClr val="C5C6C4"/>
                      </a:solidFill>
                      <a:prstDash val="solid"/>
                      <a:round/>
                      <a:headEnd type="none" w="med" len="med"/>
                      <a:tailEnd type="none" w="med" len="med"/>
                    </a:lnR>
                    <a:lnT w="12700" cap="flat" cmpd="sng" algn="ctr">
                      <a:solidFill>
                        <a:srgbClr val="BFC1BE"/>
                      </a:solidFill>
                      <a:prstDash val="solid"/>
                      <a:round/>
                      <a:headEnd type="none" w="med" len="med"/>
                      <a:tailEnd type="none" w="med" len="med"/>
                    </a:lnT>
                    <a:lnB w="12700" cap="flat" cmpd="sng" algn="ctr">
                      <a:solidFill>
                        <a:srgbClr val="C5C6C4"/>
                      </a:solidFill>
                      <a:prstDash val="solid"/>
                      <a:round/>
                      <a:headEnd type="none" w="med" len="med"/>
                      <a:tailEnd type="none" w="med" len="med"/>
                    </a:lnB>
                  </a:tcPr>
                </a:tc>
              </a:tr>
              <a:tr h="439341">
                <a:tc>
                  <a:txBody>
                    <a:bodyPr/>
                    <a:lstStyle/>
                    <a:p>
                      <a:pPr indent="0" marL="0">
                        <a:lnSpc>
                          <a:spcPts val="2240"/>
                        </a:lnSpc>
                        <a:buNone/>
                      </a:pPr>
                      <a:r>
                        <a:rPr lang="en-US" sz="1600" dirty="0">
                          <a:solidFill>
                            <a:srgbClr val="10212B"/>
                          </a:solidFill>
                          <a:latin typeface="IBM Plex Sans" pitchFamily="34" charset="0"/>
                          <a:ea typeface="IBM Plex Sans" pitchFamily="34" charset="-122"/>
                          <a:cs typeface="IBM Plex Sans" pitchFamily="34" charset="-120"/>
                        </a:rPr>
                        <a:t>Did a restricted license get in?</a:t>
                      </a:r>
                      <a:endParaRPr lang="en-US" sz="1600" dirty="0">
                        <a:latin typeface="IBM Plex Sans" charset="0"/>
                        <a:ea typeface="IBM Plex Sans" charset="0"/>
                        <a:cs typeface="IBM Plex Sans" charset="0"/>
                      </a:endParaRPr>
                    </a:p>
                  </a:txBody>
                  <a:tcPr marL="71120" marR="71120" marT="71120" marB="71120" anchor="t">
                    <a:lnL w="0" cap="flat" cmpd="sng" algn="ctr">
                      <a:noFill/>
                    </a:lnL>
                    <a:lnR w="12700" cap="flat" cmpd="sng" algn="ctr">
                      <a:solidFill>
                        <a:srgbClr val="BFC1BE"/>
                      </a:solidFill>
                      <a:prstDash val="solid"/>
                      <a:round/>
                      <a:headEnd type="none" w="med" len="med"/>
                      <a:tailEnd type="none" w="med" len="med"/>
                    </a:lnR>
                    <a:lnT w="12700" cap="flat" cmpd="sng" algn="ctr">
                      <a:solidFill>
                        <a:srgbClr val="C5C6C4"/>
                      </a:solidFill>
                      <a:prstDash val="solid"/>
                      <a:round/>
                      <a:headEnd type="none" w="med" len="med"/>
                      <a:tailEnd type="none" w="med" len="med"/>
                    </a:lnT>
                    <a:lnB w="12700" cap="flat" cmpd="sng" algn="ctr">
                      <a:solidFill>
                        <a:srgbClr val="BFC1BE"/>
                      </a:solidFill>
                      <a:prstDash val="solid"/>
                      <a:round/>
                      <a:headEnd type="none" w="med" len="med"/>
                      <a:tailEnd type="none" w="med" len="med"/>
                    </a:lnB>
                    <a:solidFill>
                      <a:srgbClr val="EFF2EE"/>
                    </a:solidFill>
                  </a:tcPr>
                </a:tc>
                <a:tc>
                  <a:txBody>
                    <a:bodyPr/>
                    <a:lstStyle/>
                    <a:p>
                      <a:pPr indent="0" marL="0">
                        <a:lnSpc>
                          <a:spcPts val="2240"/>
                        </a:lnSpc>
                        <a:buNone/>
                      </a:pPr>
                      <a:r>
                        <a:rPr lang="en-US" sz="1600" dirty="0">
                          <a:solidFill>
                            <a:srgbClr val="10212B"/>
                          </a:solidFill>
                          <a:latin typeface="IBM Plex Sans" pitchFamily="34" charset="0"/>
                          <a:ea typeface="IBM Plex Sans" pitchFamily="34" charset="-122"/>
                          <a:cs typeface="IBM Plex Sans" pitchFamily="34" charset="-120"/>
                        </a:rPr>
                        <a:t>Nobody is checking</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FC1BE"/>
                      </a:solidFill>
                      <a:prstDash val="solid"/>
                      <a:round/>
                      <a:headEnd type="none" w="med" len="med"/>
                      <a:tailEnd type="none" w="med" len="med"/>
                    </a:lnL>
                    <a:lnR w="12700" cap="flat" cmpd="sng" algn="ctr">
                      <a:solidFill>
                        <a:srgbClr val="BFC1BE"/>
                      </a:solidFill>
                      <a:prstDash val="solid"/>
                      <a:round/>
                      <a:headEnd type="none" w="med" len="med"/>
                      <a:tailEnd type="none" w="med" len="med"/>
                    </a:lnR>
                    <a:lnT w="12700" cap="flat" cmpd="sng" algn="ctr">
                      <a:solidFill>
                        <a:srgbClr val="C5C6C4"/>
                      </a:solidFill>
                      <a:prstDash val="solid"/>
                      <a:round/>
                      <a:headEnd type="none" w="med" len="med"/>
                      <a:tailEnd type="none" w="med" len="med"/>
                    </a:lnT>
                    <a:lnB w="12700" cap="flat" cmpd="sng" algn="ctr">
                      <a:solidFill>
                        <a:srgbClr val="BFC1BE"/>
                      </a:solidFill>
                      <a:prstDash val="solid"/>
                      <a:round/>
                      <a:headEnd type="none" w="med" len="med"/>
                      <a:tailEnd type="none" w="med" len="med"/>
                    </a:lnB>
                    <a:solidFill>
                      <a:srgbClr val="EFF2EE"/>
                    </a:solidFill>
                  </a:tcPr>
                </a:tc>
                <a:tc>
                  <a:txBody>
                    <a:bodyPr/>
                    <a:lstStyle/>
                    <a:p>
                      <a:pPr indent="0" marL="0">
                        <a:lnSpc>
                          <a:spcPts val="2240"/>
                        </a:lnSpc>
                        <a:buNone/>
                      </a:pPr>
                      <a:r>
                        <a:rPr lang="en-US" sz="1600" dirty="0">
                          <a:solidFill>
                            <a:srgbClr val="10212B"/>
                          </a:solidFill>
                          <a:latin typeface="IBM Plex Sans" pitchFamily="34" charset="0"/>
                          <a:ea typeface="IBM Plex Sans" pitchFamily="34" charset="-122"/>
                          <a:cs typeface="IBM Plex Sans" pitchFamily="34" charset="-120"/>
                        </a:rPr>
                        <a:t>The build stops before it ships</a:t>
                      </a:r>
                      <a:endParaRPr lang="en-US" sz="1600" dirty="0">
                        <a:latin typeface="IBM Plex Sans" charset="0"/>
                        <a:ea typeface="IBM Plex Sans" charset="0"/>
                        <a:cs typeface="IBM Plex Sans" charset="0"/>
                      </a:endParaRPr>
                    </a:p>
                  </a:txBody>
                  <a:tcPr marL="71120" marR="71120" marT="71120" marB="71120" anchor="t">
                    <a:lnL w="12700" cap="flat" cmpd="sng" algn="ctr">
                      <a:solidFill>
                        <a:srgbClr val="BFC1BE"/>
                      </a:solidFill>
                      <a:prstDash val="solid"/>
                      <a:round/>
                      <a:headEnd type="none" w="med" len="med"/>
                      <a:tailEnd type="none" w="med" len="med"/>
                    </a:lnL>
                    <a:lnR w="12700" cap="flat" cmpd="sng" algn="ctr">
                      <a:solidFill>
                        <a:srgbClr val="BFC1BE"/>
                      </a:solidFill>
                      <a:prstDash val="solid"/>
                      <a:round/>
                      <a:headEnd type="none" w="med" len="med"/>
                      <a:tailEnd type="none" w="med" len="med"/>
                    </a:lnR>
                    <a:lnT w="12700" cap="flat" cmpd="sng" algn="ctr">
                      <a:solidFill>
                        <a:srgbClr val="C5C6C4"/>
                      </a:solidFill>
                      <a:prstDash val="solid"/>
                      <a:round/>
                      <a:headEnd type="none" w="med" len="med"/>
                      <a:tailEnd type="none" w="med" len="med"/>
                    </a:lnT>
                    <a:lnB w="12700" cap="flat" cmpd="sng" algn="ctr">
                      <a:solidFill>
                        <a:srgbClr val="BFC1BE"/>
                      </a:solidFill>
                      <a:prstDash val="solid"/>
                      <a:round/>
                      <a:headEnd type="none" w="med" len="med"/>
                      <a:tailEnd type="none" w="med" len="med"/>
                    </a:lnB>
                    <a:solidFill>
                      <a:srgbClr val="EFF2EE"/>
                    </a:solidFill>
                  </a:tcPr>
                </a:tc>
              </a:tr>
            </a:tbl>
          </a:graphicData>
        </a:graphic>
      </p:graphicFrame>
      <p:sp>
        <p:nvSpPr>
          <p:cNvPr id="6" name="Text 3"/>
          <p:cNvSpPr/>
          <p:nvPr/>
        </p:nvSpPr>
        <p:spPr>
          <a:xfrm>
            <a:off x="812800" y="4337893"/>
            <a:ext cx="10595610"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A5568"/>
                </a:solidFill>
                <a:latin typeface="IBM Plex Sans" pitchFamily="34" charset="0"/>
                <a:ea typeface="IBM Plex Sans" pitchFamily="34" charset="-122"/>
                <a:cs typeface="IBM Plex Sans" pitchFamily="34" charset="-120"/>
              </a:rPr>
              <a:t>Same engineers, same release process. The answers stop being projects.</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6"/>
        </a:solidFill>
      </p:bgPr>
    </p:bg>
    <p:spTree>
      <p:nvGrpSpPr>
        <p:cNvPr id="1" name=""/>
        <p:cNvGrpSpPr/>
        <p:nvPr/>
      </p:nvGrpSpPr>
      <p:grpSpPr>
        <a:xfrm>
          <a:off x="0" y="0"/>
          <a:ext cx="0" cy="0"/>
          <a:chOff x="0" y="0"/>
          <a:chExt cx="0" cy="0"/>
        </a:xfrm>
      </p:grpSpPr>
      <p:sp>
        <p:nvSpPr>
          <p:cNvPr id="2" name="Text 0"/>
          <p:cNvSpPr/>
          <p:nvPr/>
        </p:nvSpPr>
        <p:spPr>
          <a:xfrm>
            <a:off x="812800" y="812800"/>
            <a:ext cx="10883392" cy="516483"/>
          </a:xfrm>
          <a:prstGeom prst="rect">
            <a:avLst/>
          </a:prstGeom>
          <a:noFill/>
          <a:ln/>
        </p:spPr>
        <p:txBody>
          <a:bodyPr wrap="square" lIns="0" tIns="0" rIns="0" bIns="0" rtlCol="0" anchor="t">
            <a:normAutofit/>
          </a:bodyPr>
          <a:lstStyle/>
          <a:p>
            <a:pPr algn="l" indent="0" marL="0">
              <a:lnSpc>
                <a:spcPts val="3873"/>
              </a:lnSpc>
              <a:buNone/>
            </a:pPr>
            <a:r>
              <a:rPr lang="en-US" sz="3521" b="1" dirty="0">
                <a:solidFill>
                  <a:srgbClr val="10212B"/>
                </a:solidFill>
                <a:latin typeface="IBM Plex Sans" pitchFamily="34" charset="0"/>
                <a:ea typeface="IBM Plex Sans" pitchFamily="34" charset="-122"/>
                <a:cs typeface="IBM Plex Sans" pitchFamily="34" charset="-120"/>
              </a:rPr>
              <a:t>What I'm not claiming</a:t>
            </a:r>
            <a:endParaRPr lang="en-US" sz="3521" dirty="0"/>
          </a:p>
        </p:txBody>
      </p:sp>
      <p:sp>
        <p:nvSpPr>
          <p:cNvPr id="3" name="Shape 1"/>
          <p:cNvSpPr/>
          <p:nvPr/>
        </p:nvSpPr>
        <p:spPr>
          <a:xfrm>
            <a:off x="815975" y="1586458"/>
            <a:ext cx="10560050" cy="1303189"/>
          </a:xfrm>
          <a:prstGeom prst="roundRect">
            <a:avLst>
              <a:gd name="adj" fmla="val 7553"/>
            </a:avLst>
          </a:prstGeom>
          <a:solidFill>
            <a:srgbClr val="FFFFFF"/>
          </a:solidFill>
          <a:ln w="6350">
            <a:solidFill>
              <a:srgbClr val="DFE3DE"/>
            </a:solidFill>
            <a:prstDash val="solid"/>
          </a:ln>
        </p:spPr>
      </p:sp>
      <p:sp>
        <p:nvSpPr>
          <p:cNvPr id="4" name="Text 2"/>
          <p:cNvSpPr/>
          <p:nvPr/>
        </p:nvSpPr>
        <p:spPr>
          <a:xfrm>
            <a:off x="1073150" y="1818233"/>
            <a:ext cx="10347071" cy="288330"/>
          </a:xfrm>
          <a:prstGeom prst="rect">
            <a:avLst/>
          </a:prstGeom>
          <a:noFill/>
          <a:ln/>
        </p:spPr>
        <p:txBody>
          <a:bodyPr wrap="square" lIns="0" tIns="0" rIns="0" bIns="0" rtlCol="0" anchor="t">
            <a:normAutofit/>
          </a:bodyPr>
          <a:lstStyle/>
          <a:p>
            <a:pPr algn="l" indent="0" marL="0">
              <a:lnSpc>
                <a:spcPts val="2072"/>
              </a:lnSpc>
              <a:buNone/>
            </a:pPr>
            <a:r>
              <a:rPr lang="en-US" sz="1727" b="1" dirty="0">
                <a:solidFill>
                  <a:srgbClr val="10212B"/>
                </a:solidFill>
                <a:latin typeface="IBM Plex Sans" pitchFamily="34" charset="0"/>
                <a:ea typeface="IBM Plex Sans" pitchFamily="34" charset="-122"/>
                <a:cs typeface="IBM Plex Sans" pitchFamily="34" charset="-120"/>
              </a:rPr>
              <a:t>This is not a security product</a:t>
            </a:r>
            <a:endParaRPr lang="en-US" sz="1727" dirty="0"/>
          </a:p>
        </p:txBody>
      </p:sp>
      <p:sp>
        <p:nvSpPr>
          <p:cNvPr id="5" name="Text 3"/>
          <p:cNvSpPr/>
          <p:nvPr/>
        </p:nvSpPr>
        <p:spPr>
          <a:xfrm>
            <a:off x="1073150" y="2131963"/>
            <a:ext cx="10347071" cy="551309"/>
          </a:xfrm>
          <a:prstGeom prst="rect">
            <a:avLst/>
          </a:prstGeom>
          <a:noFill/>
          <a:ln/>
        </p:spPr>
        <p:txBody>
          <a:bodyPr wrap="square" lIns="0" tIns="0" rIns="0" bIns="0" rtlCol="0" anchor="t">
            <a:normAutofit/>
          </a:bodyPr>
          <a:lstStyle/>
          <a:p>
            <a:pPr algn="l" indent="0" marL="0">
              <a:lnSpc>
                <a:spcPts val="2086"/>
              </a:lnSpc>
              <a:buNone/>
            </a:pPr>
            <a:r>
              <a:rPr lang="en-US" sz="1545" dirty="0">
                <a:solidFill>
                  <a:srgbClr val="4A5568"/>
                </a:solidFill>
                <a:latin typeface="IBM Plex Sans" pitchFamily="34" charset="0"/>
                <a:ea typeface="IBM Plex Sans" pitchFamily="34" charset="-122"/>
                <a:cs typeface="IBM Plex Sans" pitchFamily="34" charset="-120"/>
              </a:rPr>
              <a:t>It tells us what we ship. The tools that hunt for vulnerabilities still do that job, and now they get a complete list to work from.</a:t>
            </a:r>
            <a:endParaRPr lang="en-US" sz="1545" dirty="0"/>
          </a:p>
        </p:txBody>
      </p:sp>
      <p:sp>
        <p:nvSpPr>
          <p:cNvPr id="6" name="Shape 4"/>
          <p:cNvSpPr/>
          <p:nvPr/>
        </p:nvSpPr>
        <p:spPr>
          <a:xfrm>
            <a:off x="815975" y="3061097"/>
            <a:ext cx="10560050" cy="1303139"/>
          </a:xfrm>
          <a:prstGeom prst="roundRect">
            <a:avLst>
              <a:gd name="adj" fmla="val 7553"/>
            </a:avLst>
          </a:prstGeom>
          <a:solidFill>
            <a:srgbClr val="FFFFFF"/>
          </a:solidFill>
          <a:ln w="6350">
            <a:solidFill>
              <a:srgbClr val="DFE3DE"/>
            </a:solidFill>
            <a:prstDash val="solid"/>
          </a:ln>
        </p:spPr>
      </p:sp>
      <p:sp>
        <p:nvSpPr>
          <p:cNvPr id="7" name="Text 5"/>
          <p:cNvSpPr/>
          <p:nvPr/>
        </p:nvSpPr>
        <p:spPr>
          <a:xfrm>
            <a:off x="1073150" y="3292872"/>
            <a:ext cx="10347071" cy="288330"/>
          </a:xfrm>
          <a:prstGeom prst="rect">
            <a:avLst/>
          </a:prstGeom>
          <a:noFill/>
          <a:ln/>
        </p:spPr>
        <p:txBody>
          <a:bodyPr wrap="square" lIns="0" tIns="0" rIns="0" bIns="0" rtlCol="0" anchor="t">
            <a:normAutofit/>
          </a:bodyPr>
          <a:lstStyle/>
          <a:p>
            <a:pPr algn="l" indent="0" marL="0">
              <a:lnSpc>
                <a:spcPts val="2072"/>
              </a:lnSpc>
              <a:buNone/>
            </a:pPr>
            <a:r>
              <a:rPr lang="en-US" sz="1727" b="1" dirty="0">
                <a:solidFill>
                  <a:srgbClr val="10212B"/>
                </a:solidFill>
                <a:latin typeface="IBM Plex Sans" pitchFamily="34" charset="0"/>
                <a:ea typeface="IBM Plex Sans" pitchFamily="34" charset="-122"/>
                <a:cs typeface="IBM Plex Sans" pitchFamily="34" charset="-120"/>
              </a:rPr>
              <a:t>It won't find what upstreams never published</a:t>
            </a:r>
            <a:endParaRPr lang="en-US" sz="1727" dirty="0"/>
          </a:p>
        </p:txBody>
      </p:sp>
      <p:sp>
        <p:nvSpPr>
          <p:cNvPr id="8" name="Text 6"/>
          <p:cNvSpPr/>
          <p:nvPr/>
        </p:nvSpPr>
        <p:spPr>
          <a:xfrm>
            <a:off x="1073150" y="3606602"/>
            <a:ext cx="10347071" cy="551259"/>
          </a:xfrm>
          <a:prstGeom prst="rect">
            <a:avLst/>
          </a:prstGeom>
          <a:noFill/>
          <a:ln/>
        </p:spPr>
        <p:txBody>
          <a:bodyPr wrap="square" lIns="0" tIns="0" rIns="0" bIns="0" rtlCol="0" anchor="t">
            <a:normAutofit/>
          </a:bodyPr>
          <a:lstStyle/>
          <a:p>
            <a:pPr algn="l" indent="0" marL="0">
              <a:lnSpc>
                <a:spcPts val="2086"/>
              </a:lnSpc>
              <a:buNone/>
            </a:pPr>
            <a:r>
              <a:rPr lang="en-US" sz="1545" dirty="0">
                <a:solidFill>
                  <a:srgbClr val="4A5568"/>
                </a:solidFill>
                <a:latin typeface="IBM Plex Sans" pitchFamily="34" charset="0"/>
                <a:ea typeface="IBM Plex Sans" pitchFamily="34" charset="-122"/>
                <a:cs typeface="IBM Plex Sans" pitchFamily="34" charset="-120"/>
              </a:rPr>
              <a:t>Where a license or an advisory doesn't exist, the document records the gap rather than guessing. We'd rather show a known blank than a wrong answer.</a:t>
            </a:r>
            <a:endParaRPr lang="en-US" sz="1545" dirty="0"/>
          </a:p>
        </p:txBody>
      </p:sp>
      <p:sp>
        <p:nvSpPr>
          <p:cNvPr id="9" name="Shape 7"/>
          <p:cNvSpPr/>
          <p:nvPr/>
        </p:nvSpPr>
        <p:spPr>
          <a:xfrm>
            <a:off x="815975" y="4535686"/>
            <a:ext cx="10560050" cy="1303139"/>
          </a:xfrm>
          <a:prstGeom prst="roundRect">
            <a:avLst>
              <a:gd name="adj" fmla="val 7553"/>
            </a:avLst>
          </a:prstGeom>
          <a:solidFill>
            <a:srgbClr val="FFFFFF"/>
          </a:solidFill>
          <a:ln w="6350">
            <a:solidFill>
              <a:srgbClr val="DFE3DE"/>
            </a:solidFill>
            <a:prstDash val="solid"/>
          </a:ln>
        </p:spPr>
      </p:sp>
      <p:sp>
        <p:nvSpPr>
          <p:cNvPr id="10" name="Text 8"/>
          <p:cNvSpPr/>
          <p:nvPr/>
        </p:nvSpPr>
        <p:spPr>
          <a:xfrm>
            <a:off x="1073150" y="4767461"/>
            <a:ext cx="10347071" cy="288330"/>
          </a:xfrm>
          <a:prstGeom prst="rect">
            <a:avLst/>
          </a:prstGeom>
          <a:noFill/>
          <a:ln/>
        </p:spPr>
        <p:txBody>
          <a:bodyPr wrap="square" lIns="0" tIns="0" rIns="0" bIns="0" rtlCol="0" anchor="t">
            <a:normAutofit/>
          </a:bodyPr>
          <a:lstStyle/>
          <a:p>
            <a:pPr algn="l" indent="0" marL="0">
              <a:lnSpc>
                <a:spcPts val="2072"/>
              </a:lnSpc>
              <a:buNone/>
            </a:pPr>
            <a:r>
              <a:rPr lang="en-US" sz="1727" b="1" dirty="0">
                <a:solidFill>
                  <a:srgbClr val="10212B"/>
                </a:solidFill>
                <a:latin typeface="IBM Plex Sans" pitchFamily="34" charset="0"/>
                <a:ea typeface="IBM Plex Sans" pitchFamily="34" charset="-122"/>
                <a:cs typeface="IBM Plex Sans" pitchFamily="34" charset="-120"/>
              </a:rPr>
              <a:t>It isn't a compliance program</a:t>
            </a:r>
            <a:endParaRPr lang="en-US" sz="1727" dirty="0"/>
          </a:p>
        </p:txBody>
      </p:sp>
      <p:sp>
        <p:nvSpPr>
          <p:cNvPr id="11" name="Text 9"/>
          <p:cNvSpPr/>
          <p:nvPr/>
        </p:nvSpPr>
        <p:spPr>
          <a:xfrm>
            <a:off x="1073150" y="5081191"/>
            <a:ext cx="10347071" cy="551259"/>
          </a:xfrm>
          <a:prstGeom prst="rect">
            <a:avLst/>
          </a:prstGeom>
          <a:noFill/>
          <a:ln/>
        </p:spPr>
        <p:txBody>
          <a:bodyPr wrap="square" lIns="0" tIns="0" rIns="0" bIns="0" rtlCol="0" anchor="t">
            <a:normAutofit/>
          </a:bodyPr>
          <a:lstStyle/>
          <a:p>
            <a:pPr algn="l" indent="0" marL="0">
              <a:lnSpc>
                <a:spcPts val="2086"/>
              </a:lnSpc>
              <a:buNone/>
            </a:pPr>
            <a:r>
              <a:rPr lang="en-US" sz="1545" dirty="0">
                <a:solidFill>
                  <a:srgbClr val="4A5568"/>
                </a:solidFill>
                <a:latin typeface="IBM Plex Sans" pitchFamily="34" charset="0"/>
                <a:ea typeface="IBM Plex Sans" pitchFamily="34" charset="-122"/>
                <a:cs typeface="IBM Plex Sans" pitchFamily="34" charset="-120"/>
              </a:rPr>
              <a:t>It produces the evidence. Someone still has to own the process, and that ownership question is worth settling separately.</a:t>
            </a:r>
            <a:endParaRPr lang="en-US" sz="1545"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6"/>
        </a:solidFill>
      </p:bgPr>
    </p:bg>
    <p:spTree>
      <p:nvGrpSpPr>
        <p:cNvPr id="1" name=""/>
        <p:cNvGrpSpPr/>
        <p:nvPr/>
      </p:nvGrpSpPr>
      <p:grpSpPr>
        <a:xfrm>
          <a:off x="0" y="0"/>
          <a:ext cx="0" cy="0"/>
          <a:chOff x="0" y="0"/>
          <a:chExt cx="0" cy="0"/>
        </a:xfrm>
      </p:grpSpPr>
      <p:sp>
        <p:nvSpPr>
          <p:cNvPr id="2" name="Text 0"/>
          <p:cNvSpPr/>
          <p:nvPr/>
        </p:nvSpPr>
        <p:spPr>
          <a:xfrm>
            <a:off x="812800" y="812800"/>
            <a:ext cx="10883392" cy="528290"/>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10212B"/>
                </a:solidFill>
                <a:latin typeface="IBM Plex Sans" pitchFamily="34" charset="0"/>
                <a:ea typeface="IBM Plex Sans" pitchFamily="34" charset="-122"/>
                <a:cs typeface="IBM Plex Sans" pitchFamily="34" charset="-120"/>
              </a:rPr>
              <a:t>What if this turns out to be wrong?</a:t>
            </a:r>
            <a:endParaRPr lang="en-US" sz="3600" dirty="0"/>
          </a:p>
        </p:txBody>
      </p:sp>
      <p:pic>
        <p:nvPicPr>
          <p:cNvPr id="3" name="Image 0" descr="Verified">    </p:cNvPr>
          <p:cNvPicPr>
            <a:picLocks noChangeAspect="1"/>
          </p:cNvPicPr>
          <p:nvPr/>
        </p:nvPicPr>
        <p:blipFill>
          <a:blip r:embed="rId1"/>
          <a:srcRect l="-154" r="-154" t="0" b="0"/>
          <a:stretch/>
        </p:blipFill>
        <p:spPr>
          <a:xfrm>
            <a:off x="812800" y="1595090"/>
            <a:ext cx="178346" cy="266700"/>
          </a:xfrm>
          <a:prstGeom prst="rect">
            <a:avLst/>
          </a:prstGeom>
        </p:spPr>
      </p:pic>
      <p:sp>
        <p:nvSpPr>
          <p:cNvPr id="4" name="Text 1"/>
          <p:cNvSpPr/>
          <p:nvPr/>
        </p:nvSpPr>
        <p:spPr>
          <a:xfrm>
            <a:off x="1105446" y="1595090"/>
            <a:ext cx="5035623" cy="591145"/>
          </a:xfrm>
          <a:prstGeom prst="rect">
            <a:avLst/>
          </a:prstGeom>
          <a:noFill/>
          <a:ln/>
        </p:spPr>
        <p:txBody>
          <a:bodyPr wrap="square" lIns="0" tIns="0" rIns="0" bIns="0" rtlCol="0" anchor="t">
            <a:normAutofit/>
          </a:bodyPr>
          <a:lstStyle/>
          <a:p>
            <a:pPr algn="l" indent="0" marL="0">
              <a:lnSpc>
                <a:spcPts val="2228"/>
              </a:lnSpc>
              <a:buNone/>
            </a:pPr>
            <a:r>
              <a:rPr lang="en-US" sz="1650" dirty="0">
                <a:solidFill>
                  <a:srgbClr val="10212B"/>
                </a:solidFill>
                <a:latin typeface="IBM Plex Sans" pitchFamily="34" charset="0"/>
                <a:ea typeface="IBM Plex Sans" pitchFamily="34" charset="-122"/>
                <a:cs typeface="IBM Plex Sans" pitchFamily="34" charset="-120"/>
              </a:rPr>
              <a:t>No contract, no subscription, no vendor who can raise the price or be acquired</a:t>
            </a:r>
            <a:endParaRPr lang="en-US" sz="1650" dirty="0"/>
          </a:p>
        </p:txBody>
      </p:sp>
      <p:pic>
        <p:nvPicPr>
          <p:cNvPr id="5" name="Image 1" descr="Code">    </p:cNvPr>
          <p:cNvPicPr>
            <a:picLocks noChangeAspect="1"/>
          </p:cNvPicPr>
          <p:nvPr/>
        </p:nvPicPr>
        <p:blipFill>
          <a:blip r:embed="rId2"/>
          <a:srcRect l="0" r="0" t="-94" b="-94"/>
          <a:stretch/>
        </p:blipFill>
        <p:spPr>
          <a:xfrm>
            <a:off x="812800" y="2313236"/>
            <a:ext cx="158452" cy="266700"/>
          </a:xfrm>
          <a:prstGeom prst="rect">
            <a:avLst/>
          </a:prstGeom>
        </p:spPr>
      </p:pic>
      <p:sp>
        <p:nvSpPr>
          <p:cNvPr id="6" name="Text 2"/>
          <p:cNvSpPr/>
          <p:nvPr/>
        </p:nvSpPr>
        <p:spPr>
          <a:xfrm>
            <a:off x="1085552" y="2313236"/>
            <a:ext cx="5056113" cy="591145"/>
          </a:xfrm>
          <a:prstGeom prst="rect">
            <a:avLst/>
          </a:prstGeom>
          <a:noFill/>
          <a:ln/>
        </p:spPr>
        <p:txBody>
          <a:bodyPr wrap="square" lIns="0" tIns="0" rIns="0" bIns="0" rtlCol="0" anchor="t">
            <a:normAutofit/>
          </a:bodyPr>
          <a:lstStyle/>
          <a:p>
            <a:pPr algn="l" indent="0" marL="0">
              <a:lnSpc>
                <a:spcPts val="2228"/>
              </a:lnSpc>
              <a:buNone/>
            </a:pPr>
            <a:r>
              <a:rPr lang="en-US" sz="1650" dirty="0">
                <a:solidFill>
                  <a:srgbClr val="10212B"/>
                </a:solidFill>
                <a:latin typeface="IBM Plex Sans" pitchFamily="34" charset="0"/>
                <a:ea typeface="IBM Plex Sans" pitchFamily="34" charset="-122"/>
                <a:cs typeface="IBM Plex Sans" pitchFamily="34" charset="-120"/>
              </a:rPr>
              <a:t>Open source under Apache-2.0, so the code stays available to us whatever happens to it</a:t>
            </a:r>
            <a:endParaRPr lang="en-US" sz="1650" dirty="0"/>
          </a:p>
        </p:txBody>
      </p:sp>
      <p:pic>
        <p:nvPicPr>
          <p:cNvPr id="7" name="Image 2" descr="Book">    </p:cNvPr>
          <p:cNvPicPr>
            <a:picLocks noChangeAspect="1"/>
          </p:cNvPicPr>
          <p:nvPr/>
        </p:nvPicPr>
        <p:blipFill>
          <a:blip r:embed="rId3"/>
          <a:srcRect l="0" r="0" t="-131" b="-131"/>
          <a:stretch/>
        </p:blipFill>
        <p:spPr>
          <a:xfrm>
            <a:off x="812800" y="3031381"/>
            <a:ext cx="152003" cy="266700"/>
          </a:xfrm>
          <a:prstGeom prst="rect">
            <a:avLst/>
          </a:prstGeom>
        </p:spPr>
      </p:pic>
      <p:sp>
        <p:nvSpPr>
          <p:cNvPr id="8" name="Text 3"/>
          <p:cNvSpPr/>
          <p:nvPr/>
        </p:nvSpPr>
        <p:spPr>
          <a:xfrm>
            <a:off x="1079103" y="3031381"/>
            <a:ext cx="5062756" cy="591145"/>
          </a:xfrm>
          <a:prstGeom prst="rect">
            <a:avLst/>
          </a:prstGeom>
          <a:noFill/>
          <a:ln/>
        </p:spPr>
        <p:txBody>
          <a:bodyPr wrap="square" lIns="0" tIns="0" rIns="0" bIns="0" rtlCol="0" anchor="t">
            <a:normAutofit/>
          </a:bodyPr>
          <a:lstStyle/>
          <a:p>
            <a:pPr algn="l" indent="0" marL="0">
              <a:lnSpc>
                <a:spcPts val="2228"/>
              </a:lnSpc>
              <a:buNone/>
            </a:pPr>
            <a:r>
              <a:rPr lang="en-US" sz="1650" dirty="0">
                <a:solidFill>
                  <a:srgbClr val="10212B"/>
                </a:solidFill>
                <a:latin typeface="IBM Plex Sans" pitchFamily="34" charset="0"/>
                <a:ea typeface="IBM Plex Sans" pitchFamily="34" charset="-122"/>
                <a:cs typeface="IBM Plex Sans" pitchFamily="34" charset="-120"/>
              </a:rPr>
              <a:t>Output is CycloneDX and SPDX, the two industry standards — no lock-in to switch away from</a:t>
            </a:r>
            <a:endParaRPr lang="en-US" sz="1650" dirty="0"/>
          </a:p>
        </p:txBody>
      </p:sp>
      <p:pic>
        <p:nvPicPr>
          <p:cNvPr id="9" name="Image 3" descr="Chart">    </p:cNvPr>
          <p:cNvPicPr>
            <a:picLocks noChangeAspect="1"/>
          </p:cNvPicPr>
          <p:nvPr/>
        </p:nvPicPr>
        <p:blipFill>
          <a:blip r:embed="rId4"/>
          <a:srcRect l="-279" r="-279" t="0" b="0"/>
          <a:stretch/>
        </p:blipFill>
        <p:spPr>
          <a:xfrm>
            <a:off x="6197600" y="1595090"/>
            <a:ext cx="223490" cy="266700"/>
          </a:xfrm>
          <a:prstGeom prst="rect">
            <a:avLst/>
          </a:prstGeom>
        </p:spPr>
      </p:pic>
      <p:sp>
        <p:nvSpPr>
          <p:cNvPr id="10" name="Text 4"/>
          <p:cNvSpPr/>
          <p:nvPr/>
        </p:nvSpPr>
        <p:spPr>
          <a:xfrm>
            <a:off x="6535390" y="1595090"/>
            <a:ext cx="4989124" cy="591145"/>
          </a:xfrm>
          <a:prstGeom prst="rect">
            <a:avLst/>
          </a:prstGeom>
          <a:noFill/>
          <a:ln/>
        </p:spPr>
        <p:txBody>
          <a:bodyPr wrap="square" lIns="0" tIns="0" rIns="0" bIns="0" rtlCol="0" anchor="t">
            <a:normAutofit/>
          </a:bodyPr>
          <a:lstStyle/>
          <a:p>
            <a:pPr algn="l" indent="0" marL="0">
              <a:lnSpc>
                <a:spcPts val="2228"/>
              </a:lnSpc>
              <a:buNone/>
            </a:pPr>
            <a:r>
              <a:rPr lang="en-US" sz="1650" dirty="0">
                <a:solidFill>
                  <a:srgbClr val="10212B"/>
                </a:solidFill>
                <a:latin typeface="IBM Plex Sans" pitchFamily="34" charset="0"/>
                <a:ea typeface="IBM Plex Sans" pitchFamily="34" charset="-122"/>
                <a:cs typeface="IBM Plex Sans" pitchFamily="34" charset="-120"/>
              </a:rPr>
              <a:t>Released, versioned and tested on every platform we build on</a:t>
            </a:r>
            <a:endParaRPr lang="en-US" sz="1650" dirty="0"/>
          </a:p>
        </p:txBody>
      </p:sp>
      <p:pic>
        <p:nvPicPr>
          <p:cNvPr id="11" name="Image 4" descr="Users">    </p:cNvPr>
          <p:cNvPicPr>
            <a:picLocks noChangeAspect="1"/>
          </p:cNvPicPr>
          <p:nvPr/>
        </p:nvPicPr>
        <p:blipFill>
          <a:blip r:embed="rId5"/>
          <a:srcRect l="-84" r="-84" t="0" b="0"/>
          <a:stretch/>
        </p:blipFill>
        <p:spPr>
          <a:xfrm>
            <a:off x="6197600" y="2313236"/>
            <a:ext cx="178098" cy="266700"/>
          </a:xfrm>
          <a:prstGeom prst="rect">
            <a:avLst/>
          </a:prstGeom>
        </p:spPr>
      </p:pic>
      <p:sp>
        <p:nvSpPr>
          <p:cNvPr id="12" name="Text 5"/>
          <p:cNvSpPr/>
          <p:nvPr/>
        </p:nvSpPr>
        <p:spPr>
          <a:xfrm>
            <a:off x="6489998" y="2313236"/>
            <a:ext cx="5035878" cy="591145"/>
          </a:xfrm>
          <a:prstGeom prst="rect">
            <a:avLst/>
          </a:prstGeom>
          <a:noFill/>
          <a:ln/>
        </p:spPr>
        <p:txBody>
          <a:bodyPr wrap="square" lIns="0" tIns="0" rIns="0" bIns="0" rtlCol="0" anchor="t">
            <a:normAutofit/>
          </a:bodyPr>
          <a:lstStyle/>
          <a:p>
            <a:pPr algn="l" indent="0" marL="0">
              <a:lnSpc>
                <a:spcPts val="2228"/>
              </a:lnSpc>
              <a:buNone/>
            </a:pPr>
            <a:r>
              <a:rPr lang="en-US" sz="1650" dirty="0">
                <a:solidFill>
                  <a:srgbClr val="10212B"/>
                </a:solidFill>
                <a:latin typeface="IBM Plex Sans" pitchFamily="34" charset="0"/>
                <a:ea typeface="IBM Plex Sans" pitchFamily="34" charset="-122"/>
                <a:cs typeface="IBM Plex Sans" pitchFamily="34" charset="-120"/>
              </a:rPr>
              <a:t>Maintained by [name] here; small enough that someone else could take it over</a:t>
            </a:r>
            <a:endParaRPr lang="en-US" sz="1650" dirty="0"/>
          </a:p>
        </p:txBody>
      </p:sp>
      <p:pic>
        <p:nvPicPr>
          <p:cNvPr id="13" name="Image 5" descr="Warning">    </p:cNvPr>
          <p:cNvPicPr>
            <a:picLocks noChangeAspect="1"/>
          </p:cNvPicPr>
          <p:nvPr/>
        </p:nvPicPr>
        <p:blipFill>
          <a:blip r:embed="rId6"/>
          <a:srcRect l="0" r="0" t="-344" b="-344"/>
          <a:stretch/>
        </p:blipFill>
        <p:spPr>
          <a:xfrm>
            <a:off x="6197600" y="3031381"/>
            <a:ext cx="201811" cy="266700"/>
          </a:xfrm>
          <a:prstGeom prst="rect">
            <a:avLst/>
          </a:prstGeom>
        </p:spPr>
      </p:pic>
      <p:sp>
        <p:nvSpPr>
          <p:cNvPr id="14" name="Text 6"/>
          <p:cNvSpPr/>
          <p:nvPr/>
        </p:nvSpPr>
        <p:spPr>
          <a:xfrm>
            <a:off x="6513711" y="3031381"/>
            <a:ext cx="5011454" cy="591145"/>
          </a:xfrm>
          <a:prstGeom prst="rect">
            <a:avLst/>
          </a:prstGeom>
          <a:noFill/>
          <a:ln/>
        </p:spPr>
        <p:txBody>
          <a:bodyPr wrap="square" lIns="0" tIns="0" rIns="0" bIns="0" rtlCol="0" anchor="t">
            <a:normAutofit/>
          </a:bodyPr>
          <a:lstStyle/>
          <a:p>
            <a:pPr algn="l" indent="0" marL="0">
              <a:lnSpc>
                <a:spcPts val="2228"/>
              </a:lnSpc>
              <a:buNone/>
            </a:pPr>
            <a:r>
              <a:rPr lang="en-US" sz="1650" dirty="0">
                <a:solidFill>
                  <a:srgbClr val="10212B"/>
                </a:solidFill>
                <a:latin typeface="IBM Plex Sans" pitchFamily="34" charset="0"/>
                <a:ea typeface="IBM Plex Sans" pitchFamily="34" charset="-122"/>
                <a:cs typeface="IBM Plex Sans" pitchFamily="34" charset="-120"/>
              </a:rPr>
              <a:t>Worst case: we stop running it and delete one step from one pipeline</a:t>
            </a:r>
            <a:endParaRPr lang="en-US" sz="16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7A6C"/>
        </a:solidFill>
      </p:bgPr>
    </p:bg>
    <p:spTree>
      <p:nvGrpSpPr>
        <p:cNvPr id="1" name=""/>
        <p:cNvGrpSpPr/>
        <p:nvPr/>
      </p:nvGrpSpPr>
      <p:grpSpPr>
        <a:xfrm>
          <a:off x="0" y="0"/>
          <a:ext cx="0" cy="0"/>
          <a:chOff x="0" y="0"/>
          <a:chExt cx="0" cy="0"/>
        </a:xfrm>
      </p:grpSpPr>
      <p:sp>
        <p:nvSpPr>
          <p:cNvPr id="2" name="Text 0"/>
          <p:cNvSpPr/>
          <p:nvPr/>
        </p:nvSpPr>
        <p:spPr>
          <a:xfrm>
            <a:off x="812800" y="196855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CDEDE5"/>
                </a:solidFill>
                <a:latin typeface="JetBrains Mono" pitchFamily="34" charset="0"/>
                <a:ea typeface="JetBrains Mono" pitchFamily="34" charset="-122"/>
                <a:cs typeface="JetBrains Mono" pitchFamily="34" charset="-120"/>
              </a:rPr>
              <a:t>WHAT I NEED FROM YOU</a:t>
            </a:r>
            <a:endParaRPr lang="en-US" sz="1200" dirty="0"/>
          </a:p>
        </p:txBody>
      </p:sp>
      <p:sp>
        <p:nvSpPr>
          <p:cNvPr id="3" name="Text 1"/>
          <p:cNvSpPr/>
          <p:nvPr/>
        </p:nvSpPr>
        <p:spPr>
          <a:xfrm>
            <a:off x="812800" y="2435870"/>
            <a:ext cx="10203180" cy="1310580"/>
          </a:xfrm>
          <a:prstGeom prst="rect">
            <a:avLst/>
          </a:prstGeom>
          <a:noFill/>
          <a:ln/>
        </p:spPr>
        <p:txBody>
          <a:bodyPr wrap="square" lIns="0" tIns="0" rIns="0" bIns="0" rtlCol="0" anchor="t">
            <a:normAutofit/>
          </a:bodyPr>
          <a:lstStyle/>
          <a:p>
            <a:pPr algn="l" indent="0" marL="0">
              <a:lnSpc>
                <a:spcPts val="5060"/>
              </a:lnSpc>
              <a:buNone/>
            </a:pPr>
            <a:r>
              <a:rPr lang="en-US" sz="4600" b="1" dirty="0">
                <a:solidFill>
                  <a:srgbClr val="F7F8F6"/>
                </a:solidFill>
                <a:latin typeface="IBM Plex Sans" pitchFamily="34" charset="0"/>
                <a:ea typeface="IBM Plex Sans" pitchFamily="34" charset="-122"/>
                <a:cs typeface="IBM Plex Sans" pitchFamily="34" charset="-120"/>
              </a:rPr>
              <a:t>Say yes to two weeks on one product.</a:t>
            </a:r>
            <a:endParaRPr lang="en-US" sz="4600" dirty="0"/>
          </a:p>
        </p:txBody>
      </p:sp>
      <p:sp>
        <p:nvSpPr>
          <p:cNvPr id="4" name="Text 2"/>
          <p:cNvSpPr/>
          <p:nvPr/>
        </p:nvSpPr>
        <p:spPr>
          <a:xfrm>
            <a:off x="812800" y="3975050"/>
            <a:ext cx="10072370" cy="736600"/>
          </a:xfrm>
          <a:prstGeom prst="rect">
            <a:avLst/>
          </a:prstGeom>
          <a:noFill/>
          <a:ln/>
        </p:spPr>
        <p:txBody>
          <a:bodyPr wrap="square" lIns="0" tIns="0" rIns="0" bIns="0" rtlCol="0" anchor="t">
            <a:normAutofit/>
          </a:bodyPr>
          <a:lstStyle/>
          <a:p>
            <a:pPr algn="l" indent="0" marL="0">
              <a:lnSpc>
                <a:spcPts val="2800"/>
              </a:lnSpc>
              <a:buNone/>
            </a:pPr>
            <a:r>
              <a:rPr lang="en-US" sz="2000" dirty="0">
                <a:solidFill>
                  <a:srgbClr val="E4F4F0"/>
                </a:solidFill>
                <a:latin typeface="IBM Plex Sans" pitchFamily="34" charset="0"/>
                <a:ea typeface="IBM Plex Sans" pitchFamily="34" charset="-122"/>
                <a:cs typeface="IBM Plex Sans" pitchFamily="34" charset="-120"/>
              </a:rPr>
              <a:t>I'll come back with the bill of materials from a real release, what it found that we didn't know, and a plan to make it standard — or a recommendation to drop it.</a:t>
            </a:r>
            <a:endParaRPr lang="en-US" sz="2000" dirty="0"/>
          </a:p>
        </p:txBody>
      </p:sp>
      <p:sp>
        <p:nvSpPr>
          <p:cNvPr id="5" name="Text 3"/>
          <p:cNvSpPr/>
          <p:nvPr/>
        </p:nvSpPr>
        <p:spPr>
          <a:xfrm>
            <a:off x="812800" y="6238280"/>
            <a:ext cx="291077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DEDE5"/>
                </a:solidFill>
                <a:latin typeface="IBM Plex Sans" pitchFamily="34" charset="0"/>
                <a:ea typeface="IBM Plex Sans" pitchFamily="34" charset="-122"/>
                <a:cs typeface="IBM Plex Sans" pitchFamily="34" charset="-120"/>
              </a:rPr>
              <a:t>[Presenter] · decision requested by [date]</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pixi-sbom: The Executive Case</dc:title>
  <dc:subject>PptxGenJS Presentation</dc:subject>
  <dc:creator>PptxGenJS</dc:creator>
  <cp:lastModifiedBy>PptxGenJS</cp:lastModifiedBy>
  <cp:revision>1</cp:revision>
  <dcterms:created xsi:type="dcterms:W3CDTF">2026-09-27T01:21:04Z</dcterms:created>
  <dcterms:modified xsi:type="dcterms:W3CDTF">2026-09-27T01:21:04Z</dcterms:modified>
</cp:coreProperties>
</file>