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Start with the problem, not the tool. We build on hundreds of third-party packages and right now we can't produce a reliable list of them when someone asks. Say the ask is small and it's on the next slide, so nobody spends this one wondering what you want from them. Mixed room: the engineering side wants to know what it costs to run, the security side wants to know whether it's credible. Both get answered.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Leading with the ask means everything after this is evidence instead of suspense. Engineering management usually cares most about the risk card: this is a read-only step that produces a file. It doesn't touch the build, it isn't in the request path, and it can't fail a release unless we turn on a gate, which comes later. Two weeks is enough for a couple of releases to go through, so there's something real to look 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Move fast here if the room already knows this. For the security and compliance side, the phrase that matters is "standard formats" — CycloneDX and SPDX are the two that show up in the regulations and in customer questionnaires, and we write both, so nobody has to take a format on our say-so. For the engineers: the input is the lockfile, which the resolver already produced. We're not re-solving anything or guessing at versions. We're writing down a decision that's already been made.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compliance people in this room know these rules better than you do, so state them plainly and don't stretch them. What's actually settled is the direction, even where a specific deadline isn't. Check the current CRA timeline and anything sector-specific that applies to us, then delete the footer note. If someone asks whether we're in scope today, the honest answer is that the third card already applies no matter what: customers are asking us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answer to "why not just use what we already have". An incomplete SBOM is worse than no SBOM, because people trust it. If a scanner never sees the conda half of an environment, it comes back clean and the gap is invisible to everyone. Worth a sentence on the identity point: the conda build of numpy and the PyPI numpy are the same project, and matching them up is what lets a vulnerability database answer at all. Don't name competing products unless someone else does; this is about package ecosystems, not vendors.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four tiles answer the questions an operations-minded manager asks before anything else: how big is it, where does it run, what does it talk to, and what happens on a locked-down network. Nothing gets sent anywhere. The vulnerability lookups are flags you turn on, and with them off it never opens a socket. Behind a proxy or on an air-gapped box it runs from a warm cache and records in the document what it couldn't reach, which is exactly what an auditor wants to see.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Don't read the tiles out. Pick the two that matter to this room and let the rest sit there showing there's depth behind the pitch. For security and compliance, spend your time on provenance: the document records which sources were consulted and which returned nothing, so an auditor can tell "we checked and found nothing" from "we never checked". For engineering, the diff is usually the one that gets a reaction, because it turns "what changed in this release" from an afternoon of digging into a command.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on this slide. It's what makes the rest of the deck believable, and anyone in the room who has bought tooling before is waiting to see whether you'll admit to limits. Put the third one in your own words: the document separates "we asked and there was nothing" from "we couldn't ask", and that's what makes it usable as evidence rather than a claim. If someone pushes on overlap with a scanner we already have, agree with them — this feeds that scanner a complete inventory it doesn't have today for our conda packages.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exit codes are the part engineering management cares about: these are ordinary CI failures, and they're distinguishable, so a pipeline can treat a license violation differently from a compile error. Say clearly that the gates ship off. For the trial, leave all of them off, collect documents for two weeks, then look at what they would have caught. Nobody's build breaks while we're deciding.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Don't oversell the speed. Under a second is the offline case on a real 72-package environment. The first run that fetches license details over the network takes a bit over a second, and a cold run across many environments takes a few seconds. Either way it disappears next to a build. The line that lands with management is the last one: the tool is cheap, what it costs is attention, and we already owe that attention to whoever's asking us the compliance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here to answer the question nobody says out loud: is this somebody's weekend project that we'll regret depending on. The stability promise is the strongest item for management, because it's an explicit commitment about what won't change without a major version — more than most of our internal tooling offers. If we'd be the ones maintaining it, say so directly. Being the maintainer is a strength here as long as you're honest about the bus factor when somebody asks.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Name the decision you want out of this meeting: permission to put it on one repo, not a commitment to adopt it everywhere. Name the repo if you've got one in mind, and the date you'll be back. The three things you're promising to bring are deliberately concrete, and the middle one usually decides the wider rollout, because it's evidence from our own code instead of someone's marketing.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image" Target="../media/image-7-6.png"/><Relationship Id="rId7" Type="http://schemas.openxmlformats.org/officeDocument/2006/relationships/slideLayout" Target="../slideLayouts/slideLayout1.xml"/><Relationship Id="rId8"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image" Target="../media/image-11-6.png"/><Relationship Id="rId7" Type="http://schemas.openxmlformats.org/officeDocument/2006/relationships/slideLayout" Target="../slideLayouts/slideLayout1.xml"/><Relationship Id="rId8"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0212B"/>
        </a:solidFill>
      </p:bgPr>
    </p:bg>
    <p:spTree>
      <p:nvGrpSpPr>
        <p:cNvPr id="1" name=""/>
        <p:cNvGrpSpPr/>
        <p:nvPr/>
      </p:nvGrpSpPr>
      <p:grpSpPr>
        <a:xfrm>
          <a:off x="0" y="0"/>
          <a:ext cx="0" cy="0"/>
          <a:chOff x="0" y="0"/>
          <a:chExt cx="0" cy="0"/>
        </a:xfrm>
      </p:grpSpPr>
      <p:sp>
        <p:nvSpPr>
          <p:cNvPr id="2" name="Text 0"/>
          <p:cNvSpPr/>
          <p:nvPr/>
        </p:nvSpPr>
        <p:spPr>
          <a:xfrm>
            <a:off x="812800" y="178946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6FBFAE"/>
                </a:solidFill>
                <a:latin typeface="JetBrains Mono" pitchFamily="34" charset="0"/>
                <a:ea typeface="JetBrains Mono" pitchFamily="34" charset="-122"/>
                <a:cs typeface="JetBrains Mono" pitchFamily="34" charset="-120"/>
              </a:rPr>
              <a:t>A PROPOSAL</a:t>
            </a:r>
            <a:endParaRPr lang="en-US" sz="1200" dirty="0"/>
          </a:p>
        </p:txBody>
      </p:sp>
      <p:sp>
        <p:nvSpPr>
          <p:cNvPr id="3" name="Text 1"/>
          <p:cNvSpPr/>
          <p:nvPr/>
        </p:nvSpPr>
        <p:spPr>
          <a:xfrm>
            <a:off x="812800" y="2256780"/>
            <a:ext cx="9810750" cy="1625600"/>
          </a:xfrm>
          <a:prstGeom prst="rect">
            <a:avLst/>
          </a:prstGeom>
          <a:noFill/>
          <a:ln/>
        </p:spPr>
        <p:txBody>
          <a:bodyPr wrap="square" lIns="0" tIns="0" rIns="0" bIns="0" rtlCol="0" anchor="t">
            <a:normAutofit/>
          </a:bodyPr>
          <a:lstStyle/>
          <a:p>
            <a:pPr algn="l" indent="0" marL="0">
              <a:lnSpc>
                <a:spcPts val="6300"/>
              </a:lnSpc>
              <a:buNone/>
            </a:pPr>
            <a:r>
              <a:rPr lang="en-US" sz="6000" b="1" dirty="0">
                <a:solidFill>
                  <a:srgbClr val="F7F8F6"/>
                </a:solidFill>
                <a:latin typeface="IBM Plex Sans" pitchFamily="34" charset="0"/>
                <a:ea typeface="IBM Plex Sans" pitchFamily="34" charset="-122"/>
                <a:cs typeface="IBM Plex Sans" pitchFamily="34" charset="-120"/>
              </a:rPr>
              <a:t>Know what's in what we ship</a:t>
            </a:r>
            <a:endParaRPr lang="en-US" sz="6000" dirty="0"/>
          </a:p>
        </p:txBody>
      </p:sp>
      <p:sp>
        <p:nvSpPr>
          <p:cNvPr id="4" name="Text 2"/>
          <p:cNvSpPr/>
          <p:nvPr/>
        </p:nvSpPr>
        <p:spPr>
          <a:xfrm>
            <a:off x="812800" y="4110980"/>
            <a:ext cx="9156700" cy="779760"/>
          </a:xfrm>
          <a:prstGeom prst="rect">
            <a:avLst/>
          </a:prstGeom>
          <a:noFill/>
          <a:ln/>
        </p:spPr>
        <p:txBody>
          <a:bodyPr wrap="square" lIns="0" tIns="0" rIns="0" bIns="0" rtlCol="0" anchor="t">
            <a:normAutofit/>
          </a:bodyPr>
          <a:lstStyle/>
          <a:p>
            <a:pPr algn="l" indent="0" marL="0">
              <a:lnSpc>
                <a:spcPts val="2970"/>
              </a:lnSpc>
              <a:buNone/>
            </a:pPr>
            <a:r>
              <a:rPr lang="en-US" sz="2200" dirty="0">
                <a:solidFill>
                  <a:srgbClr val="B5C4CA"/>
                </a:solidFill>
                <a:latin typeface="IBM Plex Sans" pitchFamily="34" charset="0"/>
                <a:ea typeface="IBM Plex Sans" pitchFamily="34" charset="-122"/>
                <a:cs typeface="IBM Plex Sans" pitchFamily="34" charset="-120"/>
              </a:rPr>
              <a:t>pixi-sbom writes a software bill of materials for every environment we build. One job in CI, and we can answer the question.</a:t>
            </a:r>
            <a:endParaRPr lang="en-US" sz="2200" dirty="0"/>
          </a:p>
        </p:txBody>
      </p:sp>
      <p:sp>
        <p:nvSpPr>
          <p:cNvPr id="5" name="Text 3"/>
          <p:cNvSpPr/>
          <p:nvPr/>
        </p:nvSpPr>
        <p:spPr>
          <a:xfrm>
            <a:off x="812800" y="6238280"/>
            <a:ext cx="266934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7A8C93"/>
                </a:solidFill>
                <a:latin typeface="IBM Plex Sans" pitchFamily="34" charset="0"/>
                <a:ea typeface="IBM Plex Sans" pitchFamily="34" charset="-122"/>
                <a:cs typeface="IBM Plex Sans" pitchFamily="34" charset="-120"/>
              </a:rPr>
              <a:t>[Presenter] · [Date] · pixi-sbom 0.10.1</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8F6"/>
        </a:solidFill>
      </p:bgPr>
    </p:bg>
    <p:spTree>
      <p:nvGrpSpPr>
        <p:cNvPr id="1" name=""/>
        <p:cNvGrpSpPr/>
        <p:nvPr/>
      </p:nvGrpSpPr>
      <p:grpSpPr>
        <a:xfrm>
          <a:off x="0" y="0"/>
          <a:ext cx="0" cy="0"/>
          <a:chOff x="0" y="0"/>
          <a:chExt cx="0" cy="0"/>
        </a:xfrm>
      </p:grpSpPr>
      <p:sp>
        <p:nvSpPr>
          <p:cNvPr id="2" name="Text 0"/>
          <p:cNvSpPr/>
          <p:nvPr/>
        </p:nvSpPr>
        <p:spPr>
          <a:xfrm>
            <a:off x="812800" y="812800"/>
            <a:ext cx="10883392" cy="528290"/>
          </a:xfrm>
          <a:prstGeom prst="rect">
            <a:avLst/>
          </a:prstGeom>
          <a:noFill/>
          <a:ln/>
        </p:spPr>
        <p:txBody>
          <a:bodyPr wrap="square" lIns="0" tIns="0" rIns="0" bIns="0" rtlCol="0" anchor="t">
            <a:normAutofit/>
          </a:bodyPr>
          <a:lstStyle/>
          <a:p>
            <a:pPr algn="l" indent="0" marL="0">
              <a:lnSpc>
                <a:spcPts val="3960"/>
              </a:lnSpc>
              <a:buNone/>
            </a:pPr>
            <a:r>
              <a:rPr lang="en-US" sz="3600" b="1" dirty="0">
                <a:solidFill>
                  <a:srgbClr val="10212B"/>
                </a:solidFill>
                <a:latin typeface="IBM Plex Sans" pitchFamily="34" charset="0"/>
                <a:ea typeface="IBM Plex Sans" pitchFamily="34" charset="-122"/>
                <a:cs typeface="IBM Plex Sans" pitchFamily="34" charset="-120"/>
              </a:rPr>
              <a:t>What I'm asking for</a:t>
            </a:r>
            <a:endParaRPr lang="en-US" sz="3600" dirty="0"/>
          </a:p>
        </p:txBody>
      </p:sp>
      <p:sp>
        <p:nvSpPr>
          <p:cNvPr id="3" name="Text 1"/>
          <p:cNvSpPr/>
          <p:nvPr/>
        </p:nvSpPr>
        <p:spPr>
          <a:xfrm>
            <a:off x="812800" y="1671290"/>
            <a:ext cx="10464800" cy="807641"/>
          </a:xfrm>
          <a:prstGeom prst="rect">
            <a:avLst/>
          </a:prstGeom>
          <a:noFill/>
          <a:ln/>
        </p:spPr>
        <p:txBody>
          <a:bodyPr wrap="square" lIns="0" tIns="0" rIns="0" bIns="0" rtlCol="0" anchor="t">
            <a:normAutofit/>
          </a:bodyPr>
          <a:lstStyle/>
          <a:p>
            <a:pPr algn="l" indent="0" marL="0">
              <a:lnSpc>
                <a:spcPts val="3080"/>
              </a:lnSpc>
              <a:buNone/>
            </a:pPr>
            <a:r>
              <a:rPr lang="en-US" sz="2200" dirty="0">
                <a:solidFill>
                  <a:srgbClr val="10212B"/>
                </a:solidFill>
                <a:latin typeface="IBM Plex Sans" pitchFamily="34" charset="0"/>
                <a:ea typeface="IBM Plex Sans" pitchFamily="34" charset="-122"/>
                <a:cs typeface="IBM Plex Sans" pitchFamily="34" charset="-120"/>
              </a:rPr>
              <a:t>Let me add one job to one repo's CI. Two weeks later I'll show you what came out of it, and we decide from there.</a:t>
            </a:r>
            <a:endParaRPr lang="en-US" sz="2200" dirty="0"/>
          </a:p>
        </p:txBody>
      </p:sp>
      <p:sp>
        <p:nvSpPr>
          <p:cNvPr id="4" name="Shape 2"/>
          <p:cNvSpPr/>
          <p:nvPr/>
        </p:nvSpPr>
        <p:spPr>
          <a:xfrm>
            <a:off x="815975" y="2812306"/>
            <a:ext cx="3380284" cy="1657251"/>
          </a:xfrm>
          <a:prstGeom prst="roundRect">
            <a:avLst>
              <a:gd name="adj" fmla="val 5939"/>
            </a:avLst>
          </a:prstGeom>
          <a:solidFill>
            <a:srgbClr val="FFFFFF"/>
          </a:solidFill>
          <a:ln w="6350">
            <a:solidFill>
              <a:srgbClr val="DFE3DE"/>
            </a:solidFill>
            <a:prstDash val="solid"/>
          </a:ln>
        </p:spPr>
      </p:sp>
      <p:sp>
        <p:nvSpPr>
          <p:cNvPr id="5" name="Text 3"/>
          <p:cNvSpPr/>
          <p:nvPr/>
        </p:nvSpPr>
        <p:spPr>
          <a:xfrm>
            <a:off x="1073150" y="3069481"/>
            <a:ext cx="2951912" cy="269230"/>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1F7A6C"/>
                </a:solidFill>
                <a:latin typeface="IBM Plex Sans" pitchFamily="34" charset="0"/>
                <a:ea typeface="IBM Plex Sans" pitchFamily="34" charset="-122"/>
                <a:cs typeface="IBM Plex Sans" pitchFamily="34" charset="-120"/>
              </a:rPr>
              <a:t>Effort</a:t>
            </a:r>
            <a:endParaRPr lang="en-US" sz="1600" dirty="0"/>
          </a:p>
        </p:txBody>
      </p:sp>
      <p:sp>
        <p:nvSpPr>
          <p:cNvPr id="6" name="Text 4"/>
          <p:cNvSpPr/>
          <p:nvPr/>
        </p:nvSpPr>
        <p:spPr>
          <a:xfrm>
            <a:off x="1073150" y="3389511"/>
            <a:ext cx="2951912" cy="573980"/>
          </a:xfrm>
          <a:prstGeom prst="rect">
            <a:avLst/>
          </a:prstGeom>
          <a:noFill/>
          <a:ln/>
        </p:spPr>
        <p:txBody>
          <a:bodyPr wrap="square" lIns="0" tIns="0" rIns="0" bIns="0" rtlCol="0" anchor="t">
            <a:normAutofit/>
          </a:bodyPr>
          <a:lstStyle/>
          <a:p>
            <a:pPr algn="l" indent="0" marL="0">
              <a:lnSpc>
                <a:spcPts val="2160"/>
              </a:lnSpc>
              <a:buNone/>
            </a:pPr>
            <a:r>
              <a:rPr lang="en-US" sz="1600" dirty="0">
                <a:solidFill>
                  <a:srgbClr val="4A5568"/>
                </a:solidFill>
                <a:latin typeface="IBM Plex Sans" pitchFamily="34" charset="0"/>
                <a:ea typeface="IBM Plex Sans" pitchFamily="34" charset="-122"/>
                <a:cs typeface="IBM Plex Sans" pitchFamily="34" charset="-120"/>
              </a:rPr>
              <a:t>One workflow file. Nothing to host and nothing to operate.</a:t>
            </a:r>
            <a:endParaRPr lang="en-US" sz="1600" dirty="0"/>
          </a:p>
        </p:txBody>
      </p:sp>
      <p:sp>
        <p:nvSpPr>
          <p:cNvPr id="7" name="Shape 5"/>
          <p:cNvSpPr/>
          <p:nvPr/>
        </p:nvSpPr>
        <p:spPr>
          <a:xfrm>
            <a:off x="4405809" y="2812306"/>
            <a:ext cx="3380333" cy="1657251"/>
          </a:xfrm>
          <a:prstGeom prst="roundRect">
            <a:avLst>
              <a:gd name="adj" fmla="val 5939"/>
            </a:avLst>
          </a:prstGeom>
          <a:solidFill>
            <a:srgbClr val="FFFFFF"/>
          </a:solidFill>
          <a:ln w="6350">
            <a:solidFill>
              <a:srgbClr val="DFE3DE"/>
            </a:solidFill>
            <a:prstDash val="solid"/>
          </a:ln>
        </p:spPr>
      </p:sp>
      <p:sp>
        <p:nvSpPr>
          <p:cNvPr id="8" name="Text 6"/>
          <p:cNvSpPr/>
          <p:nvPr/>
        </p:nvSpPr>
        <p:spPr>
          <a:xfrm>
            <a:off x="4662984" y="3069481"/>
            <a:ext cx="2951963" cy="269230"/>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1F7A6C"/>
                </a:solidFill>
                <a:latin typeface="IBM Plex Sans" pitchFamily="34" charset="0"/>
                <a:ea typeface="IBM Plex Sans" pitchFamily="34" charset="-122"/>
                <a:cs typeface="IBM Plex Sans" pitchFamily="34" charset="-120"/>
              </a:rPr>
              <a:t>Cost</a:t>
            </a:r>
            <a:endParaRPr lang="en-US" sz="1600" dirty="0"/>
          </a:p>
        </p:txBody>
      </p:sp>
      <p:sp>
        <p:nvSpPr>
          <p:cNvPr id="9" name="Text 7"/>
          <p:cNvSpPr/>
          <p:nvPr/>
        </p:nvSpPr>
        <p:spPr>
          <a:xfrm>
            <a:off x="4662984" y="3389511"/>
            <a:ext cx="2951963" cy="573980"/>
          </a:xfrm>
          <a:prstGeom prst="rect">
            <a:avLst/>
          </a:prstGeom>
          <a:noFill/>
          <a:ln/>
        </p:spPr>
        <p:txBody>
          <a:bodyPr wrap="square" lIns="0" tIns="0" rIns="0" bIns="0" rtlCol="0" anchor="t">
            <a:normAutofit/>
          </a:bodyPr>
          <a:lstStyle/>
          <a:p>
            <a:pPr algn="l" indent="0" marL="0">
              <a:lnSpc>
                <a:spcPts val="2160"/>
              </a:lnSpc>
              <a:buNone/>
            </a:pPr>
            <a:r>
              <a:rPr lang="en-US" sz="1600" dirty="0">
                <a:solidFill>
                  <a:srgbClr val="4A5568"/>
                </a:solidFill>
                <a:latin typeface="IBM Plex Sans" pitchFamily="34" charset="0"/>
                <a:ea typeface="IBM Plex Sans" pitchFamily="34" charset="-122"/>
                <a:cs typeface="IBM Plex Sans" pitchFamily="34" charset="-120"/>
              </a:rPr>
              <a:t>No license fee, no service, no account. It's Apache-2.0.</a:t>
            </a:r>
            <a:endParaRPr lang="en-US" sz="1600" dirty="0"/>
          </a:p>
        </p:txBody>
      </p:sp>
      <p:sp>
        <p:nvSpPr>
          <p:cNvPr id="10" name="Shape 8"/>
          <p:cNvSpPr/>
          <p:nvPr/>
        </p:nvSpPr>
        <p:spPr>
          <a:xfrm>
            <a:off x="7995692" y="2812306"/>
            <a:ext cx="3380333" cy="1657251"/>
          </a:xfrm>
          <a:prstGeom prst="roundRect">
            <a:avLst>
              <a:gd name="adj" fmla="val 5939"/>
            </a:avLst>
          </a:prstGeom>
          <a:solidFill>
            <a:srgbClr val="FFFFFF"/>
          </a:solidFill>
          <a:ln w="6350">
            <a:solidFill>
              <a:srgbClr val="DFE3DE"/>
            </a:solidFill>
            <a:prstDash val="solid"/>
          </a:ln>
        </p:spPr>
      </p:sp>
      <p:sp>
        <p:nvSpPr>
          <p:cNvPr id="11" name="Text 9"/>
          <p:cNvSpPr/>
          <p:nvPr/>
        </p:nvSpPr>
        <p:spPr>
          <a:xfrm>
            <a:off x="8252867" y="3069481"/>
            <a:ext cx="2951963" cy="269230"/>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1F7A6C"/>
                </a:solidFill>
                <a:latin typeface="IBM Plex Sans" pitchFamily="34" charset="0"/>
                <a:ea typeface="IBM Plex Sans" pitchFamily="34" charset="-122"/>
                <a:cs typeface="IBM Plex Sans" pitchFamily="34" charset="-120"/>
              </a:rPr>
              <a:t>Risk</a:t>
            </a:r>
            <a:endParaRPr lang="en-US" sz="1600" dirty="0"/>
          </a:p>
        </p:txBody>
      </p:sp>
      <p:sp>
        <p:nvSpPr>
          <p:cNvPr id="12" name="Text 10"/>
          <p:cNvSpPr/>
          <p:nvPr/>
        </p:nvSpPr>
        <p:spPr>
          <a:xfrm>
            <a:off x="8252867" y="3389511"/>
            <a:ext cx="2951963" cy="848271"/>
          </a:xfrm>
          <a:prstGeom prst="rect">
            <a:avLst/>
          </a:prstGeom>
          <a:noFill/>
          <a:ln/>
        </p:spPr>
        <p:txBody>
          <a:bodyPr wrap="square" lIns="0" tIns="0" rIns="0" bIns="0" rtlCol="0" anchor="t">
            <a:normAutofit/>
          </a:bodyPr>
          <a:lstStyle/>
          <a:p>
            <a:pPr algn="l" indent="0" marL="0">
              <a:lnSpc>
                <a:spcPts val="2160"/>
              </a:lnSpc>
              <a:buNone/>
            </a:pPr>
            <a:r>
              <a:rPr lang="en-US" sz="1600" dirty="0">
                <a:solidFill>
                  <a:srgbClr val="4A5568"/>
                </a:solidFill>
                <a:latin typeface="IBM Plex Sans" pitchFamily="34" charset="0"/>
                <a:ea typeface="IBM Plex Sans" pitchFamily="34" charset="-122"/>
                <a:cs typeface="IBM Plex Sans" pitchFamily="34" charset="-120"/>
              </a:rPr>
              <a:t>It reads the lockfile and writes a file. It can't break a build unless we ask it to.</a:t>
            </a:r>
            <a:endParaRPr lang="en-US" sz="16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8F6"/>
        </a:solidFill>
      </p:bgPr>
    </p:bg>
    <p:spTree>
      <p:nvGrpSpPr>
        <p:cNvPr id="1" name=""/>
        <p:cNvGrpSpPr/>
        <p:nvPr/>
      </p:nvGrpSpPr>
      <p:grpSpPr>
        <a:xfrm>
          <a:off x="0" y="0"/>
          <a:ext cx="0" cy="0"/>
          <a:chOff x="0" y="0"/>
          <a:chExt cx="0" cy="0"/>
        </a:xfrm>
      </p:grpSpPr>
      <p:sp>
        <p:nvSpPr>
          <p:cNvPr id="2" name="Text 0"/>
          <p:cNvSpPr/>
          <p:nvPr/>
        </p:nvSpPr>
        <p:spPr>
          <a:xfrm>
            <a:off x="812800" y="812800"/>
            <a:ext cx="10883392" cy="528290"/>
          </a:xfrm>
          <a:prstGeom prst="rect">
            <a:avLst/>
          </a:prstGeom>
          <a:noFill/>
          <a:ln/>
        </p:spPr>
        <p:txBody>
          <a:bodyPr wrap="square" lIns="0" tIns="0" rIns="0" bIns="0" rtlCol="0" anchor="t">
            <a:normAutofit/>
          </a:bodyPr>
          <a:lstStyle/>
          <a:p>
            <a:pPr algn="l" indent="0" marL="0">
              <a:lnSpc>
                <a:spcPts val="3960"/>
              </a:lnSpc>
              <a:buNone/>
            </a:pPr>
            <a:r>
              <a:rPr lang="en-US" sz="3600" b="1" dirty="0">
                <a:solidFill>
                  <a:srgbClr val="10212B"/>
                </a:solidFill>
                <a:latin typeface="IBM Plex Sans" pitchFamily="34" charset="0"/>
                <a:ea typeface="IBM Plex Sans" pitchFamily="34" charset="-122"/>
                <a:cs typeface="IBM Plex Sans" pitchFamily="34" charset="-120"/>
              </a:rPr>
              <a:t>What a software bill of materials is</a:t>
            </a:r>
            <a:endParaRPr lang="en-US" sz="3600" dirty="0"/>
          </a:p>
        </p:txBody>
      </p:sp>
      <p:sp>
        <p:nvSpPr>
          <p:cNvPr id="3" name="Text 1"/>
          <p:cNvSpPr/>
          <p:nvPr/>
        </p:nvSpPr>
        <p:spPr>
          <a:xfrm>
            <a:off x="812800" y="1620490"/>
            <a:ext cx="10464800" cy="665460"/>
          </a:xfrm>
          <a:prstGeom prst="rect">
            <a:avLst/>
          </a:prstGeom>
          <a:noFill/>
          <a:ln/>
        </p:spPr>
        <p:txBody>
          <a:bodyPr wrap="square" lIns="0" tIns="0" rIns="0" bIns="0" rtlCol="0" anchor="t">
            <a:normAutofit/>
          </a:bodyPr>
          <a:lstStyle/>
          <a:p>
            <a:pPr algn="l" indent="0" marL="0">
              <a:lnSpc>
                <a:spcPts val="2520"/>
              </a:lnSpc>
              <a:buNone/>
            </a:pPr>
            <a:r>
              <a:rPr lang="en-US" sz="1800" dirty="0">
                <a:solidFill>
                  <a:srgbClr val="4A5568"/>
                </a:solidFill>
                <a:latin typeface="IBM Plex Sans" pitchFamily="34" charset="0"/>
                <a:ea typeface="IBM Plex Sans" pitchFamily="34" charset="-122"/>
                <a:cs typeface="IBM Plex Sans" pitchFamily="34" charset="-120"/>
              </a:rPr>
              <a:t>A machine-readable list of everything in a build: names, versions, licenses, who supplied each piece, and what depends on what. The ingredients label for software.</a:t>
            </a:r>
            <a:endParaRPr lang="en-US" sz="1800" dirty="0"/>
          </a:p>
        </p:txBody>
      </p:sp>
      <p:sp>
        <p:nvSpPr>
          <p:cNvPr id="4" name="Shape 2"/>
          <p:cNvSpPr/>
          <p:nvPr/>
        </p:nvSpPr>
        <p:spPr>
          <a:xfrm>
            <a:off x="815975" y="2568525"/>
            <a:ext cx="2851150" cy="1469330"/>
          </a:xfrm>
          <a:prstGeom prst="roundRect">
            <a:avLst>
              <a:gd name="adj" fmla="val 6699"/>
            </a:avLst>
          </a:prstGeom>
          <a:solidFill>
            <a:srgbClr val="FFFFFF"/>
          </a:solidFill>
          <a:ln w="6350">
            <a:solidFill>
              <a:srgbClr val="DFE3DE"/>
            </a:solidFill>
            <a:prstDash val="solid"/>
          </a:ln>
        </p:spPr>
      </p:sp>
      <p:sp>
        <p:nvSpPr>
          <p:cNvPr id="5" name="Text 3"/>
          <p:cNvSpPr/>
          <p:nvPr/>
        </p:nvSpPr>
        <p:spPr>
          <a:xfrm>
            <a:off x="1047750" y="2800300"/>
            <a:ext cx="2459228" cy="274290"/>
          </a:xfrm>
          <a:prstGeom prst="rect">
            <a:avLst/>
          </a:prstGeom>
          <a:noFill/>
          <a:ln/>
        </p:spPr>
        <p:txBody>
          <a:bodyPr wrap="square" lIns="0" tIns="0" rIns="0" bIns="0" rtlCol="0" anchor="t">
            <a:normAutofit/>
          </a:bodyPr>
          <a:lstStyle/>
          <a:p>
            <a:pPr algn="l" indent="0" marL="0">
              <a:lnSpc>
                <a:spcPts val="1960"/>
              </a:lnSpc>
              <a:buNone/>
            </a:pPr>
            <a:r>
              <a:rPr lang="en-US" sz="1400" b="1" dirty="0">
                <a:solidFill>
                  <a:srgbClr val="10212B"/>
                </a:solidFill>
                <a:latin typeface="JetBrains Mono" pitchFamily="34" charset="0"/>
                <a:ea typeface="JetBrains Mono" pitchFamily="34" charset="-122"/>
                <a:cs typeface="JetBrains Mono" pitchFamily="34" charset="-120"/>
              </a:rPr>
              <a:t>pixi.lock</a:t>
            </a:r>
            <a:endParaRPr lang="en-US" sz="1400" dirty="0"/>
          </a:p>
        </p:txBody>
      </p:sp>
      <p:sp>
        <p:nvSpPr>
          <p:cNvPr id="6" name="Text 4"/>
          <p:cNvSpPr/>
          <p:nvPr/>
        </p:nvSpPr>
        <p:spPr>
          <a:xfrm>
            <a:off x="1047750" y="3112691"/>
            <a:ext cx="2459228" cy="718790"/>
          </a:xfrm>
          <a:prstGeom prst="rect">
            <a:avLst/>
          </a:prstGeom>
          <a:noFill/>
          <a:ln/>
        </p:spPr>
        <p:txBody>
          <a:bodyPr wrap="square" lIns="0" tIns="0" rIns="0" bIns="0" rtlCol="0" anchor="t">
            <a:normAutofit/>
          </a:bodyPr>
          <a:lstStyle/>
          <a:p>
            <a:pPr algn="l" indent="0" marL="0">
              <a:lnSpc>
                <a:spcPts val="1820"/>
              </a:lnSpc>
              <a:buNone/>
            </a:pPr>
            <a:r>
              <a:rPr lang="en-US" sz="1400" dirty="0">
                <a:solidFill>
                  <a:srgbClr val="4A5568"/>
                </a:solidFill>
                <a:latin typeface="IBM Plex Sans" pitchFamily="34" charset="0"/>
                <a:ea typeface="IBM Plex Sans" pitchFamily="34" charset="-122"/>
                <a:cs typeface="IBM Plex Sans" pitchFamily="34" charset="-120"/>
              </a:rPr>
              <a:t>What the resolver already picked: exact versions, hashes, channels</a:t>
            </a:r>
            <a:endParaRPr lang="en-US" sz="1400" dirty="0"/>
          </a:p>
        </p:txBody>
      </p:sp>
      <p:pic>
        <p:nvPicPr>
          <p:cNvPr id="7" name="Image 0" descr="arrow-right">    </p:cNvPr>
          <p:cNvPicPr>
            <a:picLocks noChangeAspect="1"/>
          </p:cNvPicPr>
          <p:nvPr/>
        </p:nvPicPr>
        <p:blipFill>
          <a:blip r:embed="rId1"/>
          <a:srcRect l="0" r="0" t="0" b="0"/>
          <a:stretch/>
        </p:blipFill>
        <p:spPr>
          <a:xfrm>
            <a:off x="3822700" y="3125391"/>
            <a:ext cx="698500" cy="355600"/>
          </a:xfrm>
          <a:prstGeom prst="rect">
            <a:avLst/>
          </a:prstGeom>
        </p:spPr>
      </p:pic>
      <p:sp>
        <p:nvSpPr>
          <p:cNvPr id="8" name="Shape 5"/>
          <p:cNvSpPr/>
          <p:nvPr/>
        </p:nvSpPr>
        <p:spPr>
          <a:xfrm>
            <a:off x="4673600" y="2571700"/>
            <a:ext cx="2844800" cy="1462980"/>
          </a:xfrm>
          <a:prstGeom prst="roundRect">
            <a:avLst>
              <a:gd name="adj" fmla="val 6945"/>
            </a:avLst>
          </a:prstGeom>
          <a:solidFill>
            <a:srgbClr val="10212B"/>
          </a:solidFill>
          <a:ln/>
        </p:spPr>
      </p:sp>
      <p:sp>
        <p:nvSpPr>
          <p:cNvPr id="9" name="Text 6"/>
          <p:cNvSpPr/>
          <p:nvPr/>
        </p:nvSpPr>
        <p:spPr>
          <a:xfrm>
            <a:off x="4902200" y="2800300"/>
            <a:ext cx="2459228" cy="274290"/>
          </a:xfrm>
          <a:prstGeom prst="rect">
            <a:avLst/>
          </a:prstGeom>
          <a:noFill/>
          <a:ln/>
        </p:spPr>
        <p:txBody>
          <a:bodyPr wrap="square" lIns="0" tIns="0" rIns="0" bIns="0" rtlCol="0" anchor="t">
            <a:normAutofit/>
          </a:bodyPr>
          <a:lstStyle/>
          <a:p>
            <a:pPr algn="l" indent="0" marL="0">
              <a:lnSpc>
                <a:spcPts val="1960"/>
              </a:lnSpc>
              <a:buNone/>
            </a:pPr>
            <a:r>
              <a:rPr lang="en-US" sz="1400" b="1" dirty="0">
                <a:solidFill>
                  <a:srgbClr val="6FBFAE"/>
                </a:solidFill>
                <a:latin typeface="JetBrains Mono" pitchFamily="34" charset="0"/>
                <a:ea typeface="JetBrains Mono" pitchFamily="34" charset="-122"/>
                <a:cs typeface="JetBrains Mono" pitchFamily="34" charset="-120"/>
              </a:rPr>
              <a:t>pixi-sbom</a:t>
            </a:r>
            <a:endParaRPr lang="en-US" sz="1400" dirty="0"/>
          </a:p>
        </p:txBody>
      </p:sp>
      <p:sp>
        <p:nvSpPr>
          <p:cNvPr id="10" name="Text 7"/>
          <p:cNvSpPr/>
          <p:nvPr/>
        </p:nvSpPr>
        <p:spPr>
          <a:xfrm>
            <a:off x="4902200" y="3112691"/>
            <a:ext cx="2459228" cy="718790"/>
          </a:xfrm>
          <a:prstGeom prst="rect">
            <a:avLst/>
          </a:prstGeom>
          <a:noFill/>
          <a:ln/>
        </p:spPr>
        <p:txBody>
          <a:bodyPr wrap="square" lIns="0" tIns="0" rIns="0" bIns="0" rtlCol="0" anchor="t">
            <a:normAutofit/>
          </a:bodyPr>
          <a:lstStyle/>
          <a:p>
            <a:pPr algn="l" indent="0" marL="0">
              <a:lnSpc>
                <a:spcPts val="1820"/>
              </a:lnSpc>
              <a:buNone/>
            </a:pPr>
            <a:r>
              <a:rPr lang="en-US" sz="1400" dirty="0">
                <a:solidFill>
                  <a:srgbClr val="B5C4CA"/>
                </a:solidFill>
                <a:latin typeface="IBM Plex Sans" pitchFamily="34" charset="0"/>
                <a:ea typeface="IBM Plex Sans" pitchFamily="34" charset="-122"/>
                <a:cs typeface="IBM Plex Sans" pitchFamily="34" charset="-120"/>
              </a:rPr>
              <a:t>Reads it, fills in licenses and identity, looks up known vulnerabilities</a:t>
            </a:r>
            <a:endParaRPr lang="en-US" sz="1400" dirty="0"/>
          </a:p>
        </p:txBody>
      </p:sp>
      <p:pic>
        <p:nvPicPr>
          <p:cNvPr id="11" name="Image 1" descr="arrow-right">    </p:cNvPr>
          <p:cNvPicPr>
            <a:picLocks noChangeAspect="1"/>
          </p:cNvPicPr>
          <p:nvPr/>
        </p:nvPicPr>
        <p:blipFill>
          <a:blip r:embed="rId2"/>
          <a:srcRect l="0" r="0" t="0" b="0"/>
          <a:stretch/>
        </p:blipFill>
        <p:spPr>
          <a:xfrm>
            <a:off x="7670800" y="3125391"/>
            <a:ext cx="698500" cy="355600"/>
          </a:xfrm>
          <a:prstGeom prst="rect">
            <a:avLst/>
          </a:prstGeom>
        </p:spPr>
      </p:pic>
      <p:sp>
        <p:nvSpPr>
          <p:cNvPr id="12" name="Shape 8"/>
          <p:cNvSpPr/>
          <p:nvPr/>
        </p:nvSpPr>
        <p:spPr>
          <a:xfrm>
            <a:off x="8524875" y="2568525"/>
            <a:ext cx="2851150" cy="1469330"/>
          </a:xfrm>
          <a:prstGeom prst="roundRect">
            <a:avLst>
              <a:gd name="adj" fmla="val 6699"/>
            </a:avLst>
          </a:prstGeom>
          <a:solidFill>
            <a:srgbClr val="FFFFFF"/>
          </a:solidFill>
          <a:ln w="6350">
            <a:solidFill>
              <a:srgbClr val="DFE3DE"/>
            </a:solidFill>
            <a:prstDash val="solid"/>
          </a:ln>
        </p:spPr>
      </p:sp>
      <p:sp>
        <p:nvSpPr>
          <p:cNvPr id="13" name="Text 9"/>
          <p:cNvSpPr/>
          <p:nvPr/>
        </p:nvSpPr>
        <p:spPr>
          <a:xfrm>
            <a:off x="8756650" y="2800300"/>
            <a:ext cx="2459228" cy="274290"/>
          </a:xfrm>
          <a:prstGeom prst="rect">
            <a:avLst/>
          </a:prstGeom>
          <a:noFill/>
          <a:ln/>
        </p:spPr>
        <p:txBody>
          <a:bodyPr wrap="square" lIns="0" tIns="0" rIns="0" bIns="0" rtlCol="0" anchor="t">
            <a:normAutofit/>
          </a:bodyPr>
          <a:lstStyle/>
          <a:p>
            <a:pPr algn="l" indent="0" marL="0">
              <a:lnSpc>
                <a:spcPts val="1960"/>
              </a:lnSpc>
              <a:buNone/>
            </a:pPr>
            <a:r>
              <a:rPr lang="en-US" sz="1400" b="1" dirty="0">
                <a:solidFill>
                  <a:srgbClr val="10212B"/>
                </a:solidFill>
                <a:latin typeface="JetBrains Mono" pitchFamily="34" charset="0"/>
                <a:ea typeface="JetBrains Mono" pitchFamily="34" charset="-122"/>
                <a:cs typeface="JetBrains Mono" pitchFamily="34" charset="-120"/>
              </a:rPr>
              <a:t>CycloneDX / SPDX</a:t>
            </a:r>
            <a:endParaRPr lang="en-US" sz="1400" dirty="0"/>
          </a:p>
        </p:txBody>
      </p:sp>
      <p:sp>
        <p:nvSpPr>
          <p:cNvPr id="14" name="Text 10"/>
          <p:cNvSpPr/>
          <p:nvPr/>
        </p:nvSpPr>
        <p:spPr>
          <a:xfrm>
            <a:off x="8756650" y="3112691"/>
            <a:ext cx="2459228" cy="718790"/>
          </a:xfrm>
          <a:prstGeom prst="rect">
            <a:avLst/>
          </a:prstGeom>
          <a:noFill/>
          <a:ln/>
        </p:spPr>
        <p:txBody>
          <a:bodyPr wrap="square" lIns="0" tIns="0" rIns="0" bIns="0" rtlCol="0" anchor="t">
            <a:normAutofit/>
          </a:bodyPr>
          <a:lstStyle/>
          <a:p>
            <a:pPr algn="l" indent="0" marL="0">
              <a:lnSpc>
                <a:spcPts val="1820"/>
              </a:lnSpc>
              <a:buNone/>
            </a:pPr>
            <a:r>
              <a:rPr lang="en-US" sz="1400" dirty="0">
                <a:solidFill>
                  <a:srgbClr val="4A5568"/>
                </a:solidFill>
                <a:latin typeface="IBM Plex Sans" pitchFamily="34" charset="0"/>
                <a:ea typeface="IBM Plex Sans" pitchFamily="34" charset="-122"/>
                <a:cs typeface="IBM Plex Sans" pitchFamily="34" charset="-120"/>
              </a:rPr>
              <a:t>The two standard formats auditors, customers and scanners already read</a:t>
            </a:r>
            <a:endParaRPr lang="en-US" sz="14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8F6"/>
        </a:solidFill>
      </p:bgPr>
    </p:bg>
    <p:spTree>
      <p:nvGrpSpPr>
        <p:cNvPr id="1" name=""/>
        <p:cNvGrpSpPr/>
        <p:nvPr/>
      </p:nvGrpSpPr>
      <p:grpSpPr>
        <a:xfrm>
          <a:off x="0" y="0"/>
          <a:ext cx="0" cy="0"/>
          <a:chOff x="0" y="0"/>
          <a:chExt cx="0" cy="0"/>
        </a:xfrm>
      </p:grpSpPr>
      <p:sp>
        <p:nvSpPr>
          <p:cNvPr id="2" name="Text 0"/>
          <p:cNvSpPr/>
          <p:nvPr/>
        </p:nvSpPr>
        <p:spPr>
          <a:xfrm>
            <a:off x="812800" y="812800"/>
            <a:ext cx="10883392" cy="528290"/>
          </a:xfrm>
          <a:prstGeom prst="rect">
            <a:avLst/>
          </a:prstGeom>
          <a:noFill/>
          <a:ln/>
        </p:spPr>
        <p:txBody>
          <a:bodyPr wrap="square" lIns="0" tIns="0" rIns="0" bIns="0" rtlCol="0" anchor="t">
            <a:normAutofit/>
          </a:bodyPr>
          <a:lstStyle/>
          <a:p>
            <a:pPr algn="l" indent="0" marL="0">
              <a:lnSpc>
                <a:spcPts val="3960"/>
              </a:lnSpc>
              <a:buNone/>
            </a:pPr>
            <a:r>
              <a:rPr lang="en-US" sz="3600" b="1" dirty="0">
                <a:solidFill>
                  <a:srgbClr val="10212B"/>
                </a:solidFill>
                <a:latin typeface="IBM Plex Sans" pitchFamily="34" charset="0"/>
                <a:ea typeface="IBM Plex Sans" pitchFamily="34" charset="-122"/>
                <a:cs typeface="IBM Plex Sans" pitchFamily="34" charset="-120"/>
              </a:rPr>
              <a:t>Why we're being asked for this now</a:t>
            </a:r>
            <a:endParaRPr lang="en-US" sz="3600" dirty="0"/>
          </a:p>
        </p:txBody>
      </p:sp>
      <p:sp>
        <p:nvSpPr>
          <p:cNvPr id="3" name="Shape 1"/>
          <p:cNvSpPr/>
          <p:nvPr/>
        </p:nvSpPr>
        <p:spPr>
          <a:xfrm>
            <a:off x="815975" y="1623665"/>
            <a:ext cx="3380284" cy="2208461"/>
          </a:xfrm>
          <a:prstGeom prst="roundRect">
            <a:avLst>
              <a:gd name="adj" fmla="val 4457"/>
            </a:avLst>
          </a:prstGeom>
          <a:solidFill>
            <a:srgbClr val="FFFFFF"/>
          </a:solidFill>
          <a:ln w="6350">
            <a:solidFill>
              <a:srgbClr val="DFE3DE"/>
            </a:solidFill>
            <a:prstDash val="solid"/>
          </a:ln>
        </p:spPr>
      </p:sp>
      <p:sp>
        <p:nvSpPr>
          <p:cNvPr id="4" name="Text 2"/>
          <p:cNvSpPr/>
          <p:nvPr/>
        </p:nvSpPr>
        <p:spPr>
          <a:xfrm>
            <a:off x="1073150" y="1880840"/>
            <a:ext cx="2951912" cy="23872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C2571A"/>
                </a:solidFill>
                <a:latin typeface="JetBrains Mono" pitchFamily="34" charset="0"/>
                <a:ea typeface="JetBrains Mono" pitchFamily="34" charset="-122"/>
                <a:cs typeface="JetBrains Mono" pitchFamily="34" charset="-120"/>
              </a:rPr>
              <a:t>UNITED STATES</a:t>
            </a:r>
            <a:endParaRPr lang="en-US" sz="1200" dirty="0"/>
          </a:p>
        </p:txBody>
      </p:sp>
      <p:sp>
        <p:nvSpPr>
          <p:cNvPr id="5" name="Text 3"/>
          <p:cNvSpPr/>
          <p:nvPr/>
        </p:nvSpPr>
        <p:spPr>
          <a:xfrm>
            <a:off x="1073150" y="2183061"/>
            <a:ext cx="2951912" cy="299690"/>
          </a:xfrm>
          <a:prstGeom prst="rect">
            <a:avLst/>
          </a:prstGeom>
          <a:noFill/>
          <a:ln/>
        </p:spPr>
        <p:txBody>
          <a:bodyPr wrap="square" lIns="0" tIns="0" rIns="0" bIns="0" rtlCol="0" anchor="t">
            <a:normAutofit/>
          </a:bodyPr>
          <a:lstStyle/>
          <a:p>
            <a:pPr algn="l" indent="0" marL="0">
              <a:lnSpc>
                <a:spcPts val="2160"/>
              </a:lnSpc>
              <a:buNone/>
            </a:pPr>
            <a:r>
              <a:rPr lang="en-US" sz="1800" b="1" dirty="0">
                <a:solidFill>
                  <a:srgbClr val="10212B"/>
                </a:solidFill>
                <a:latin typeface="IBM Plex Sans" pitchFamily="34" charset="0"/>
                <a:ea typeface="IBM Plex Sans" pitchFamily="34" charset="-122"/>
                <a:cs typeface="IBM Plex Sans" pitchFamily="34" charset="-120"/>
              </a:rPr>
              <a:t>Executive Order 14028</a:t>
            </a:r>
            <a:endParaRPr lang="en-US" sz="1800" dirty="0"/>
          </a:p>
        </p:txBody>
      </p:sp>
      <p:sp>
        <p:nvSpPr>
          <p:cNvPr id="6" name="Text 4"/>
          <p:cNvSpPr/>
          <p:nvPr/>
        </p:nvSpPr>
        <p:spPr>
          <a:xfrm>
            <a:off x="1073150" y="2546251"/>
            <a:ext cx="2951912" cy="1054100"/>
          </a:xfrm>
          <a:prstGeom prst="rect">
            <a:avLst/>
          </a:prstGeom>
          <a:noFill/>
          <a:ln/>
        </p:spPr>
        <p:txBody>
          <a:bodyPr wrap="square" lIns="0" tIns="0" rIns="0" bIns="0" rtlCol="0" anchor="t">
            <a:normAutofit/>
          </a:bodyPr>
          <a:lstStyle/>
          <a:p>
            <a:pPr algn="l" indent="0" marL="0">
              <a:lnSpc>
                <a:spcPts val="2025"/>
              </a:lnSpc>
              <a:buNone/>
            </a:pPr>
            <a:r>
              <a:rPr lang="en-US" sz="1500" dirty="0">
                <a:solidFill>
                  <a:srgbClr val="4A5568"/>
                </a:solidFill>
                <a:latin typeface="IBM Plex Sans" pitchFamily="34" charset="0"/>
                <a:ea typeface="IBM Plex Sans" pitchFamily="34" charset="-122"/>
                <a:cs typeface="IBM Plex Sans" pitchFamily="34" charset="-120"/>
              </a:rPr>
              <a:t>Software sold to the federal government has to ship with an SBOM. NTIA's minimum elements spell out the fields.</a:t>
            </a:r>
            <a:endParaRPr lang="en-US" sz="1500" dirty="0"/>
          </a:p>
        </p:txBody>
      </p:sp>
      <p:sp>
        <p:nvSpPr>
          <p:cNvPr id="7" name="Shape 5"/>
          <p:cNvSpPr/>
          <p:nvPr/>
        </p:nvSpPr>
        <p:spPr>
          <a:xfrm>
            <a:off x="4405809" y="1623665"/>
            <a:ext cx="3380333" cy="2208461"/>
          </a:xfrm>
          <a:prstGeom prst="roundRect">
            <a:avLst>
              <a:gd name="adj" fmla="val 4457"/>
            </a:avLst>
          </a:prstGeom>
          <a:solidFill>
            <a:srgbClr val="FFFFFF"/>
          </a:solidFill>
          <a:ln w="6350">
            <a:solidFill>
              <a:srgbClr val="DFE3DE"/>
            </a:solidFill>
            <a:prstDash val="solid"/>
          </a:ln>
        </p:spPr>
      </p:sp>
      <p:sp>
        <p:nvSpPr>
          <p:cNvPr id="8" name="Text 6"/>
          <p:cNvSpPr/>
          <p:nvPr/>
        </p:nvSpPr>
        <p:spPr>
          <a:xfrm>
            <a:off x="4662984" y="1880840"/>
            <a:ext cx="2951963" cy="23872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C2571A"/>
                </a:solidFill>
                <a:latin typeface="JetBrains Mono" pitchFamily="34" charset="0"/>
                <a:ea typeface="JetBrains Mono" pitchFamily="34" charset="-122"/>
                <a:cs typeface="JetBrains Mono" pitchFamily="34" charset="-120"/>
              </a:rPr>
              <a:t>EUROPEAN UNION</a:t>
            </a:r>
            <a:endParaRPr lang="en-US" sz="1200" dirty="0"/>
          </a:p>
        </p:txBody>
      </p:sp>
      <p:sp>
        <p:nvSpPr>
          <p:cNvPr id="9" name="Text 7"/>
          <p:cNvSpPr/>
          <p:nvPr/>
        </p:nvSpPr>
        <p:spPr>
          <a:xfrm>
            <a:off x="4662984" y="2183061"/>
            <a:ext cx="2951963" cy="299690"/>
          </a:xfrm>
          <a:prstGeom prst="rect">
            <a:avLst/>
          </a:prstGeom>
          <a:noFill/>
          <a:ln/>
        </p:spPr>
        <p:txBody>
          <a:bodyPr wrap="square" lIns="0" tIns="0" rIns="0" bIns="0" rtlCol="0" anchor="t">
            <a:normAutofit/>
          </a:bodyPr>
          <a:lstStyle/>
          <a:p>
            <a:pPr algn="l" indent="0" marL="0">
              <a:lnSpc>
                <a:spcPts val="2160"/>
              </a:lnSpc>
              <a:buNone/>
            </a:pPr>
            <a:r>
              <a:rPr lang="en-US" sz="1800" b="1" dirty="0">
                <a:solidFill>
                  <a:srgbClr val="10212B"/>
                </a:solidFill>
                <a:latin typeface="IBM Plex Sans" pitchFamily="34" charset="0"/>
                <a:ea typeface="IBM Plex Sans" pitchFamily="34" charset="-122"/>
                <a:cs typeface="IBM Plex Sans" pitchFamily="34" charset="-120"/>
              </a:rPr>
              <a:t>Cyber Resilience Act</a:t>
            </a:r>
            <a:endParaRPr lang="en-US" sz="1800" dirty="0"/>
          </a:p>
        </p:txBody>
      </p:sp>
      <p:sp>
        <p:nvSpPr>
          <p:cNvPr id="10" name="Text 8"/>
          <p:cNvSpPr/>
          <p:nvPr/>
        </p:nvSpPr>
        <p:spPr>
          <a:xfrm>
            <a:off x="4662984" y="2546251"/>
            <a:ext cx="2951963" cy="1054100"/>
          </a:xfrm>
          <a:prstGeom prst="rect">
            <a:avLst/>
          </a:prstGeom>
          <a:noFill/>
          <a:ln/>
        </p:spPr>
        <p:txBody>
          <a:bodyPr wrap="square" lIns="0" tIns="0" rIns="0" bIns="0" rtlCol="0" anchor="t">
            <a:normAutofit/>
          </a:bodyPr>
          <a:lstStyle/>
          <a:p>
            <a:pPr algn="l" indent="0" marL="0">
              <a:lnSpc>
                <a:spcPts val="2025"/>
              </a:lnSpc>
              <a:buNone/>
            </a:pPr>
            <a:r>
              <a:rPr lang="en-US" sz="1500" dirty="0">
                <a:solidFill>
                  <a:srgbClr val="4A5568"/>
                </a:solidFill>
                <a:latin typeface="IBM Plex Sans" pitchFamily="34" charset="0"/>
                <a:ea typeface="IBM Plex Sans" pitchFamily="34" charset="-122"/>
                <a:cs typeface="IBM Plex Sans" pitchFamily="34" charset="-120"/>
              </a:rPr>
              <a:t>Anyone putting a product with digital elements on the EU market has to draw up an SBOM. It phases in through 2027.</a:t>
            </a:r>
            <a:endParaRPr lang="en-US" sz="1500" dirty="0"/>
          </a:p>
        </p:txBody>
      </p:sp>
      <p:sp>
        <p:nvSpPr>
          <p:cNvPr id="11" name="Shape 9"/>
          <p:cNvSpPr/>
          <p:nvPr/>
        </p:nvSpPr>
        <p:spPr>
          <a:xfrm>
            <a:off x="7995692" y="1623665"/>
            <a:ext cx="3380333" cy="2208461"/>
          </a:xfrm>
          <a:prstGeom prst="roundRect">
            <a:avLst>
              <a:gd name="adj" fmla="val 4457"/>
            </a:avLst>
          </a:prstGeom>
          <a:solidFill>
            <a:srgbClr val="FFFFFF"/>
          </a:solidFill>
          <a:ln w="6350">
            <a:solidFill>
              <a:srgbClr val="DFE3DE"/>
            </a:solidFill>
            <a:prstDash val="solid"/>
          </a:ln>
        </p:spPr>
      </p:sp>
      <p:sp>
        <p:nvSpPr>
          <p:cNvPr id="12" name="Text 10"/>
          <p:cNvSpPr/>
          <p:nvPr/>
        </p:nvSpPr>
        <p:spPr>
          <a:xfrm>
            <a:off x="8252867" y="1880840"/>
            <a:ext cx="2951963" cy="23872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C2571A"/>
                </a:solidFill>
                <a:latin typeface="JetBrains Mono" pitchFamily="34" charset="0"/>
                <a:ea typeface="JetBrains Mono" pitchFamily="34" charset="-122"/>
                <a:cs typeface="JetBrains Mono" pitchFamily="34" charset="-120"/>
              </a:rPr>
              <a:t>CUSTOMERS</a:t>
            </a:r>
            <a:endParaRPr lang="en-US" sz="1200" dirty="0"/>
          </a:p>
        </p:txBody>
      </p:sp>
      <p:sp>
        <p:nvSpPr>
          <p:cNvPr id="13" name="Text 11"/>
          <p:cNvSpPr/>
          <p:nvPr/>
        </p:nvSpPr>
        <p:spPr>
          <a:xfrm>
            <a:off x="8252867" y="2183061"/>
            <a:ext cx="2951963" cy="299690"/>
          </a:xfrm>
          <a:prstGeom prst="rect">
            <a:avLst/>
          </a:prstGeom>
          <a:noFill/>
          <a:ln/>
        </p:spPr>
        <p:txBody>
          <a:bodyPr wrap="square" lIns="0" tIns="0" rIns="0" bIns="0" rtlCol="0" anchor="t">
            <a:normAutofit/>
          </a:bodyPr>
          <a:lstStyle/>
          <a:p>
            <a:pPr algn="l" indent="0" marL="0">
              <a:lnSpc>
                <a:spcPts val="2160"/>
              </a:lnSpc>
              <a:buNone/>
            </a:pPr>
            <a:r>
              <a:rPr lang="en-US" sz="1800" b="1" dirty="0">
                <a:solidFill>
                  <a:srgbClr val="10212B"/>
                </a:solidFill>
                <a:latin typeface="IBM Plex Sans" pitchFamily="34" charset="0"/>
                <a:ea typeface="IBM Plex Sans" pitchFamily="34" charset="-122"/>
                <a:cs typeface="IBM Plex Sans" pitchFamily="34" charset="-120"/>
              </a:rPr>
              <a:t>Security questionnaires</a:t>
            </a:r>
            <a:endParaRPr lang="en-US" sz="1800" dirty="0"/>
          </a:p>
        </p:txBody>
      </p:sp>
      <p:sp>
        <p:nvSpPr>
          <p:cNvPr id="14" name="Text 12"/>
          <p:cNvSpPr/>
          <p:nvPr/>
        </p:nvSpPr>
        <p:spPr>
          <a:xfrm>
            <a:off x="8252867" y="2546251"/>
            <a:ext cx="2951963" cy="796925"/>
          </a:xfrm>
          <a:prstGeom prst="rect">
            <a:avLst/>
          </a:prstGeom>
          <a:noFill/>
          <a:ln/>
        </p:spPr>
        <p:txBody>
          <a:bodyPr wrap="square" lIns="0" tIns="0" rIns="0" bIns="0" rtlCol="0" anchor="t">
            <a:normAutofit/>
          </a:bodyPr>
          <a:lstStyle/>
          <a:p>
            <a:pPr algn="l" indent="0" marL="0">
              <a:lnSpc>
                <a:spcPts val="2025"/>
              </a:lnSpc>
              <a:buNone/>
            </a:pPr>
            <a:r>
              <a:rPr lang="en-US" sz="1500" dirty="0">
                <a:solidFill>
                  <a:srgbClr val="4A5568"/>
                </a:solidFill>
                <a:latin typeface="IBM Plex Sans" pitchFamily="34" charset="0"/>
                <a:ea typeface="IBM Plex Sans" pitchFamily="34" charset="-122"/>
                <a:cs typeface="IBM Plex Sans" pitchFamily="34" charset="-120"/>
              </a:rPr>
              <a:t>These arrive one deal at a time, on someone else's deadline. Today we answer them by hand.</a:t>
            </a:r>
            <a:endParaRPr lang="en-US" sz="1500" dirty="0"/>
          </a:p>
        </p:txBody>
      </p:sp>
      <p:sp>
        <p:nvSpPr>
          <p:cNvPr id="15" name="Text 13"/>
          <p:cNvSpPr/>
          <p:nvPr/>
        </p:nvSpPr>
        <p:spPr>
          <a:xfrm>
            <a:off x="812800" y="4140101"/>
            <a:ext cx="10464800" cy="309860"/>
          </a:xfrm>
          <a:prstGeom prst="rect">
            <a:avLst/>
          </a:prstGeom>
          <a:noFill/>
          <a:ln/>
        </p:spPr>
        <p:txBody>
          <a:bodyPr wrap="square" lIns="0" tIns="0" rIns="0" bIns="0" rtlCol="0" anchor="t">
            <a:normAutofit/>
          </a:bodyPr>
          <a:lstStyle/>
          <a:p>
            <a:pPr algn="l" indent="0" marL="0">
              <a:lnSpc>
                <a:spcPts val="2240"/>
              </a:lnSpc>
              <a:buNone/>
            </a:pPr>
            <a:r>
              <a:rPr lang="en-US" sz="1600" dirty="0">
                <a:solidFill>
                  <a:srgbClr val="10212B"/>
                </a:solidFill>
                <a:latin typeface="IBM Plex Sans" pitchFamily="34" charset="0"/>
                <a:ea typeface="IBM Plex Sans" pitchFamily="34" charset="-122"/>
                <a:cs typeface="IBM Plex Sans" pitchFamily="34" charset="-120"/>
              </a:rPr>
              <a:t>All three want the same thing from us: a list we can produce on demand, built the same way every time.</a:t>
            </a:r>
            <a:endParaRPr lang="en-US" sz="1600" dirty="0"/>
          </a:p>
        </p:txBody>
      </p:sp>
      <p:sp>
        <p:nvSpPr>
          <p:cNvPr id="16" name="Text 14"/>
          <p:cNvSpPr/>
          <p:nvPr/>
        </p:nvSpPr>
        <p:spPr>
          <a:xfrm>
            <a:off x="812800" y="6238280"/>
            <a:ext cx="6431815"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A7179"/>
                </a:solidFill>
                <a:latin typeface="IBM Plex Sans" pitchFamily="34" charset="0"/>
                <a:ea typeface="IBM Plex Sans" pitchFamily="34" charset="-122"/>
                <a:cs typeface="IBM Plex Sans" pitchFamily="34" charset="-120"/>
              </a:rPr>
              <a:t>Check the current regulatory dates before presenting — these timelines have shifted before.</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8F6"/>
        </a:solidFill>
      </p:bgPr>
    </p:bg>
    <p:spTree>
      <p:nvGrpSpPr>
        <p:cNvPr id="1" name=""/>
        <p:cNvGrpSpPr/>
        <p:nvPr/>
      </p:nvGrpSpPr>
      <p:grpSpPr>
        <a:xfrm>
          <a:off x="0" y="0"/>
          <a:ext cx="0" cy="0"/>
          <a:chOff x="0" y="0"/>
          <a:chExt cx="0" cy="0"/>
        </a:xfrm>
      </p:grpSpPr>
      <p:sp>
        <p:nvSpPr>
          <p:cNvPr id="2" name="Text 0"/>
          <p:cNvSpPr/>
          <p:nvPr/>
        </p:nvSpPr>
        <p:spPr>
          <a:xfrm>
            <a:off x="812800" y="812800"/>
            <a:ext cx="10883392" cy="528290"/>
          </a:xfrm>
          <a:prstGeom prst="rect">
            <a:avLst/>
          </a:prstGeom>
          <a:noFill/>
          <a:ln/>
        </p:spPr>
        <p:txBody>
          <a:bodyPr wrap="square" lIns="0" tIns="0" rIns="0" bIns="0" rtlCol="0" anchor="t">
            <a:normAutofit/>
          </a:bodyPr>
          <a:lstStyle/>
          <a:p>
            <a:pPr algn="l" indent="0" marL="0">
              <a:lnSpc>
                <a:spcPts val="3960"/>
              </a:lnSpc>
              <a:buNone/>
            </a:pPr>
            <a:r>
              <a:rPr lang="en-US" sz="3600" b="1" dirty="0">
                <a:solidFill>
                  <a:srgbClr val="10212B"/>
                </a:solidFill>
                <a:latin typeface="IBM Plex Sans" pitchFamily="34" charset="0"/>
                <a:ea typeface="IBM Plex Sans" pitchFamily="34" charset="-122"/>
                <a:cs typeface="IBM Plex Sans" pitchFamily="34" charset="-120"/>
              </a:rPr>
              <a:t>Why the tools already out there don't fit</a:t>
            </a:r>
            <a:endParaRPr lang="en-US" sz="3600" dirty="0"/>
          </a:p>
        </p:txBody>
      </p:sp>
      <p:sp>
        <p:nvSpPr>
          <p:cNvPr id="3" name="Text 1"/>
          <p:cNvSpPr/>
          <p:nvPr/>
        </p:nvSpPr>
        <p:spPr>
          <a:xfrm>
            <a:off x="812800" y="1595090"/>
            <a:ext cx="10595610" cy="665460"/>
          </a:xfrm>
          <a:prstGeom prst="rect">
            <a:avLst/>
          </a:prstGeom>
          <a:noFill/>
          <a:ln/>
        </p:spPr>
        <p:txBody>
          <a:bodyPr wrap="square" lIns="0" tIns="0" rIns="0" bIns="0" rtlCol="0" anchor="t">
            <a:normAutofit/>
          </a:bodyPr>
          <a:lstStyle/>
          <a:p>
            <a:pPr algn="l" indent="0" marL="0">
              <a:lnSpc>
                <a:spcPts val="2520"/>
              </a:lnSpc>
              <a:buNone/>
            </a:pPr>
            <a:r>
              <a:rPr lang="en-US" sz="1800" dirty="0">
                <a:solidFill>
                  <a:srgbClr val="4A5568"/>
                </a:solidFill>
                <a:latin typeface="IBM Plex Sans" pitchFamily="34" charset="0"/>
                <a:ea typeface="IBM Plex Sans" pitchFamily="34" charset="-122"/>
                <a:cs typeface="IBM Plex Sans" pitchFamily="34" charset="-120"/>
              </a:rPr>
              <a:t>Most SBOM tooling was built for pip, npm and Maven. A pixi environment is conda packages </a:t>
            </a:r>
            <a:r>
              <a:rPr lang="en-US" sz="1800" b="1" dirty="0">
                <a:solidFill>
                  <a:srgbClr val="4A5568"/>
                </a:solidFill>
                <a:latin typeface="IBM Plex Sans" pitchFamily="34" charset="0"/>
                <a:ea typeface="IBM Plex Sans" pitchFamily="34" charset="-122"/>
                <a:cs typeface="IBM Plex Sans" pitchFamily="34" charset="-120"/>
              </a:rPr>
              <a:t>and</a:t>
            </a:r>
            <a:r>
              <a:rPr lang="en-US" sz="1800" dirty="0">
                <a:solidFill>
                  <a:srgbClr val="4A5568"/>
                </a:solidFill>
                <a:latin typeface="IBM Plex Sans" pitchFamily="34" charset="0"/>
                <a:ea typeface="IBM Plex Sans" pitchFamily="34" charset="-122"/>
                <a:cs typeface="IBM Plex Sans" pitchFamily="34" charset="-120"/>
              </a:rPr>
              <a:t> PyPI wheels, resolved together into one lockfile.</a:t>
            </a:r>
            <a:endParaRPr lang="en-US" sz="1800" dirty="0"/>
          </a:p>
        </p:txBody>
      </p:sp>
      <p:sp>
        <p:nvSpPr>
          <p:cNvPr id="4" name="Shape 2"/>
          <p:cNvSpPr/>
          <p:nvPr/>
        </p:nvSpPr>
        <p:spPr>
          <a:xfrm>
            <a:off x="815975" y="2517725"/>
            <a:ext cx="5181600" cy="2005310"/>
          </a:xfrm>
          <a:prstGeom prst="roundRect">
            <a:avLst>
              <a:gd name="adj" fmla="val 4908"/>
            </a:avLst>
          </a:prstGeom>
          <a:solidFill>
            <a:srgbClr val="FFFFFF"/>
          </a:solidFill>
          <a:ln w="6350">
            <a:solidFill>
              <a:srgbClr val="DFE3DE"/>
            </a:solidFill>
            <a:prstDash val="solid"/>
          </a:ln>
        </p:spPr>
      </p:sp>
      <p:sp>
        <p:nvSpPr>
          <p:cNvPr id="5" name="Text 3"/>
          <p:cNvSpPr/>
          <p:nvPr/>
        </p:nvSpPr>
        <p:spPr>
          <a:xfrm>
            <a:off x="1073150" y="2774900"/>
            <a:ext cx="4807268" cy="284460"/>
          </a:xfrm>
          <a:prstGeom prst="rect">
            <a:avLst/>
          </a:prstGeom>
          <a:noFill/>
          <a:ln/>
        </p:spPr>
        <p:txBody>
          <a:bodyPr wrap="square" lIns="0" tIns="0" rIns="0" bIns="0" rtlCol="0" anchor="t">
            <a:normAutofit/>
          </a:bodyPr>
          <a:lstStyle/>
          <a:p>
            <a:pPr algn="l" indent="0" marL="0">
              <a:lnSpc>
                <a:spcPts val="2040"/>
              </a:lnSpc>
              <a:buNone/>
            </a:pPr>
            <a:r>
              <a:rPr lang="en-US" sz="1700" b="1" dirty="0">
                <a:solidFill>
                  <a:srgbClr val="C2571A"/>
                </a:solidFill>
                <a:latin typeface="IBM Plex Sans" pitchFamily="34" charset="0"/>
                <a:ea typeface="IBM Plex Sans" pitchFamily="34" charset="-122"/>
                <a:cs typeface="IBM Plex Sans" pitchFamily="34" charset="-120"/>
              </a:rPr>
              <a:t>What a generic tool sees</a:t>
            </a:r>
            <a:endParaRPr lang="en-US" sz="1700" dirty="0"/>
          </a:p>
        </p:txBody>
      </p:sp>
      <p:sp>
        <p:nvSpPr>
          <p:cNvPr id="6" name="Text 4"/>
          <p:cNvSpPr/>
          <p:nvPr/>
        </p:nvSpPr>
        <p:spPr>
          <a:xfrm>
            <a:off x="1073150" y="3122861"/>
            <a:ext cx="4807268" cy="1168400"/>
          </a:xfrm>
          <a:prstGeom prst="rect">
            <a:avLst/>
          </a:prstGeom>
          <a:noFill/>
          <a:ln/>
        </p:spPr>
        <p:txBody>
          <a:bodyPr wrap="square" lIns="0" tIns="0" rIns="0" bIns="0" rtlCol="0" anchor="t">
            <a:normAutofit/>
          </a:bodyPr>
          <a:lstStyle/>
          <a:p>
            <a:pPr algn="l" marL="228600" indent="-182880">
              <a:lnSpc>
                <a:spcPts val="2250"/>
              </a:lnSpc>
              <a:buSzPct val="100000"/>
              <a:buChar char="•"/>
            </a:pPr>
            <a:r>
              <a:rPr lang="en-US" sz="1500" dirty="0">
                <a:solidFill>
                  <a:srgbClr val="4A5568"/>
                </a:solidFill>
                <a:latin typeface="IBM Plex Sans" pitchFamily="34" charset="0"/>
                <a:ea typeface="IBM Plex Sans" pitchFamily="34" charset="-122"/>
                <a:cs typeface="IBM Plex Sans" pitchFamily="34" charset="-120"/>
              </a:rPr>
              <a:t>The wheels it recognizes</a:t>
            </a:r>
            <a:endParaRPr lang="en-US" sz="1500" dirty="0"/>
          </a:p>
          <a:p>
            <a:pPr algn="l" marL="228600" indent="-182880">
              <a:lnSpc>
                <a:spcPts val="2250"/>
              </a:lnSpc>
              <a:buSzPct val="100000"/>
              <a:buChar char="•"/>
            </a:pPr>
            <a:r>
              <a:rPr lang="en-US" sz="1500" dirty="0">
                <a:solidFill>
                  <a:srgbClr val="4A5568"/>
                </a:solidFill>
                <a:latin typeface="IBM Plex Sans" pitchFamily="34" charset="0"/>
                <a:ea typeface="IBM Plex Sans" pitchFamily="34" charset="-122"/>
                <a:cs typeface="IBM Plex Sans" pitchFamily="34" charset="-120"/>
              </a:rPr>
              <a:t>Conda packages as unknown, or missed entirely</a:t>
            </a:r>
            <a:endParaRPr lang="en-US" sz="1500" dirty="0"/>
          </a:p>
          <a:p>
            <a:pPr algn="l" marL="228600" indent="-182880">
              <a:lnSpc>
                <a:spcPts val="2250"/>
              </a:lnSpc>
              <a:buSzPct val="100000"/>
              <a:buChar char="•"/>
            </a:pPr>
            <a:r>
              <a:rPr lang="en-US" sz="1500" dirty="0">
                <a:solidFill>
                  <a:srgbClr val="4A5568"/>
                </a:solidFill>
                <a:latin typeface="IBM Plex Sans" pitchFamily="34" charset="0"/>
                <a:ea typeface="IBM Plex Sans" pitchFamily="34" charset="-122"/>
                <a:cs typeface="IBM Plex Sans" pitchFamily="34" charset="-120"/>
              </a:rPr>
              <a:t>No channel, build string or subdir</a:t>
            </a:r>
            <a:endParaRPr lang="en-US" sz="1500" dirty="0"/>
          </a:p>
          <a:p>
            <a:pPr algn="l" marL="228600" indent="-182880">
              <a:lnSpc>
                <a:spcPts val="2250"/>
              </a:lnSpc>
              <a:buSzPct val="100000"/>
              <a:buChar char="•"/>
            </a:pPr>
            <a:r>
              <a:rPr lang="en-US" sz="1500" dirty="0">
                <a:solidFill>
                  <a:srgbClr val="4A5568"/>
                </a:solidFill>
                <a:latin typeface="IBM Plex Sans" pitchFamily="34" charset="0"/>
                <a:ea typeface="IBM Plex Sans" pitchFamily="34" charset="-122"/>
                <a:cs typeface="IBM Plex Sans" pitchFamily="34" charset="-120"/>
              </a:rPr>
              <a:t>An inventory that looks complete and isn't</a:t>
            </a:r>
            <a:endParaRPr lang="en-US" sz="1500" dirty="0"/>
          </a:p>
        </p:txBody>
      </p:sp>
      <p:sp>
        <p:nvSpPr>
          <p:cNvPr id="7" name="Shape 5"/>
          <p:cNvSpPr/>
          <p:nvPr/>
        </p:nvSpPr>
        <p:spPr>
          <a:xfrm>
            <a:off x="6203950" y="2514550"/>
            <a:ext cx="5175250" cy="2011660"/>
          </a:xfrm>
          <a:prstGeom prst="roundRect">
            <a:avLst>
              <a:gd name="adj" fmla="val 5051"/>
            </a:avLst>
          </a:prstGeom>
          <a:solidFill>
            <a:srgbClr val="10212B"/>
          </a:solidFill>
          <a:ln/>
        </p:spPr>
      </p:sp>
      <p:sp>
        <p:nvSpPr>
          <p:cNvPr id="8" name="Text 6"/>
          <p:cNvSpPr/>
          <p:nvPr/>
        </p:nvSpPr>
        <p:spPr>
          <a:xfrm>
            <a:off x="6457950" y="2768550"/>
            <a:ext cx="4807268" cy="284460"/>
          </a:xfrm>
          <a:prstGeom prst="rect">
            <a:avLst/>
          </a:prstGeom>
          <a:noFill/>
          <a:ln/>
        </p:spPr>
        <p:txBody>
          <a:bodyPr wrap="square" lIns="0" tIns="0" rIns="0" bIns="0" rtlCol="0" anchor="t">
            <a:normAutofit/>
          </a:bodyPr>
          <a:lstStyle/>
          <a:p>
            <a:pPr algn="l" indent="0" marL="0">
              <a:lnSpc>
                <a:spcPts val="2040"/>
              </a:lnSpc>
              <a:buNone/>
            </a:pPr>
            <a:r>
              <a:rPr lang="en-US" sz="1700" b="1" dirty="0">
                <a:solidFill>
                  <a:srgbClr val="6FBFAE"/>
                </a:solidFill>
                <a:latin typeface="IBM Plex Sans" pitchFamily="34" charset="0"/>
                <a:ea typeface="IBM Plex Sans" pitchFamily="34" charset="-122"/>
                <a:cs typeface="IBM Plex Sans" pitchFamily="34" charset="-120"/>
              </a:rPr>
              <a:t>What pixi-sbom sees</a:t>
            </a:r>
            <a:endParaRPr lang="en-US" sz="1700" dirty="0"/>
          </a:p>
        </p:txBody>
      </p:sp>
      <p:sp>
        <p:nvSpPr>
          <p:cNvPr id="9" name="Text 7"/>
          <p:cNvSpPr/>
          <p:nvPr/>
        </p:nvSpPr>
        <p:spPr>
          <a:xfrm>
            <a:off x="6457950" y="3116511"/>
            <a:ext cx="4807268" cy="1168400"/>
          </a:xfrm>
          <a:prstGeom prst="rect">
            <a:avLst/>
          </a:prstGeom>
          <a:noFill/>
          <a:ln/>
        </p:spPr>
        <p:txBody>
          <a:bodyPr wrap="square" lIns="0" tIns="0" rIns="0" bIns="0" rtlCol="0" anchor="t">
            <a:normAutofit/>
          </a:bodyPr>
          <a:lstStyle/>
          <a:p>
            <a:pPr algn="l" marL="228600" indent="-182880">
              <a:lnSpc>
                <a:spcPts val="2250"/>
              </a:lnSpc>
              <a:buSzPct val="100000"/>
              <a:buChar char="•"/>
            </a:pPr>
            <a:r>
              <a:rPr lang="en-US" sz="1500" dirty="0">
                <a:solidFill>
                  <a:srgbClr val="B5C4CA"/>
                </a:solidFill>
                <a:latin typeface="IBM Plex Sans" pitchFamily="34" charset="0"/>
                <a:ea typeface="IBM Plex Sans" pitchFamily="34" charset="-122"/>
                <a:cs typeface="IBM Plex Sans" pitchFamily="34" charset="-120"/>
              </a:rPr>
              <a:t>Every locked package, both kinds</a:t>
            </a:r>
            <a:endParaRPr lang="en-US" sz="1500" dirty="0"/>
          </a:p>
          <a:p>
            <a:pPr algn="l" marL="228600" indent="-182880">
              <a:lnSpc>
                <a:spcPts val="2250"/>
              </a:lnSpc>
              <a:buSzPct val="100000"/>
              <a:buChar char="•"/>
            </a:pPr>
            <a:r>
              <a:rPr lang="en-US" sz="1500" dirty="0">
                <a:solidFill>
                  <a:srgbClr val="B5C4CA"/>
                </a:solidFill>
                <a:latin typeface="IBM Plex Sans" pitchFamily="34" charset="0"/>
                <a:ea typeface="IBM Plex Sans" pitchFamily="34" charset="-122"/>
                <a:cs typeface="IBM Plex Sans" pitchFamily="34" charset="-120"/>
              </a:rPr>
              <a:t>Channel, build, subdir and hashes</a:t>
            </a:r>
            <a:endParaRPr lang="en-US" sz="1500" dirty="0"/>
          </a:p>
          <a:p>
            <a:pPr algn="l" marL="228600" indent="-182880">
              <a:lnSpc>
                <a:spcPts val="2250"/>
              </a:lnSpc>
              <a:buSzPct val="100000"/>
              <a:buChar char="•"/>
            </a:pPr>
            <a:r>
              <a:rPr lang="en-US" sz="1500" dirty="0">
                <a:solidFill>
                  <a:srgbClr val="B5C4CA"/>
                </a:solidFill>
                <a:latin typeface="IBM Plex Sans" pitchFamily="34" charset="0"/>
                <a:ea typeface="IBM Plex Sans" pitchFamily="34" charset="-122"/>
                <a:cs typeface="IBM Plex Sans" pitchFamily="34" charset="-120"/>
              </a:rPr>
              <a:t>PyPI identity matched onto conda packages</a:t>
            </a:r>
            <a:endParaRPr lang="en-US" sz="1500" dirty="0"/>
          </a:p>
          <a:p>
            <a:pPr algn="l" marL="228600" indent="-182880">
              <a:lnSpc>
                <a:spcPts val="2250"/>
              </a:lnSpc>
              <a:buSzPct val="100000"/>
              <a:buChar char="•"/>
            </a:pPr>
            <a:r>
              <a:rPr lang="en-US" sz="1500" dirty="0">
                <a:solidFill>
                  <a:srgbClr val="B5C4CA"/>
                </a:solidFill>
                <a:latin typeface="IBM Plex Sans" pitchFamily="34" charset="0"/>
                <a:ea typeface="IBM Plex Sans" pitchFamily="34" charset="-122"/>
                <a:cs typeface="IBM Plex Sans" pitchFamily="34" charset="-120"/>
              </a:rPr>
              <a:t>The dependency graph the resolver picked</a:t>
            </a:r>
            <a:endParaRPr lang="en-US" sz="15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0212B"/>
        </a:solidFill>
      </p:bgPr>
    </p:bg>
    <p:spTree>
      <p:nvGrpSpPr>
        <p:cNvPr id="1" name=""/>
        <p:cNvGrpSpPr/>
        <p:nvPr/>
      </p:nvGrpSpPr>
      <p:grpSpPr>
        <a:xfrm>
          <a:off x="0" y="0"/>
          <a:ext cx="0" cy="0"/>
          <a:chOff x="0" y="0"/>
          <a:chExt cx="0" cy="0"/>
        </a:xfrm>
      </p:grpSpPr>
      <p:sp>
        <p:nvSpPr>
          <p:cNvPr id="2" name="Text 0"/>
          <p:cNvSpPr/>
          <p:nvPr/>
        </p:nvSpPr>
        <p:spPr>
          <a:xfrm>
            <a:off x="812800" y="812800"/>
            <a:ext cx="10883392" cy="528290"/>
          </a:xfrm>
          <a:prstGeom prst="rect">
            <a:avLst/>
          </a:prstGeom>
          <a:noFill/>
          <a:ln/>
        </p:spPr>
        <p:txBody>
          <a:bodyPr wrap="square" lIns="0" tIns="0" rIns="0" bIns="0" rtlCol="0" anchor="t">
            <a:normAutofit/>
          </a:bodyPr>
          <a:lstStyle/>
          <a:p>
            <a:pPr algn="l" indent="0" marL="0">
              <a:lnSpc>
                <a:spcPts val="3960"/>
              </a:lnSpc>
              <a:buNone/>
            </a:pPr>
            <a:r>
              <a:rPr lang="en-US" sz="3600" b="1" dirty="0">
                <a:solidFill>
                  <a:srgbClr val="F7F8F6"/>
                </a:solidFill>
                <a:latin typeface="IBM Plex Sans" pitchFamily="34" charset="0"/>
                <a:ea typeface="IBM Plex Sans" pitchFamily="34" charset="-122"/>
                <a:cs typeface="IBM Plex Sans" pitchFamily="34" charset="-120"/>
              </a:rPr>
              <a:t>What it is</a:t>
            </a:r>
            <a:endParaRPr lang="en-US" sz="3600" dirty="0"/>
          </a:p>
        </p:txBody>
      </p:sp>
      <p:sp>
        <p:nvSpPr>
          <p:cNvPr id="3" name="Text 1"/>
          <p:cNvSpPr/>
          <p:nvPr/>
        </p:nvSpPr>
        <p:spPr>
          <a:xfrm>
            <a:off x="812800" y="1645890"/>
            <a:ext cx="10595610" cy="454620"/>
          </a:xfrm>
          <a:prstGeom prst="rect">
            <a:avLst/>
          </a:prstGeom>
          <a:noFill/>
          <a:ln/>
        </p:spPr>
        <p:txBody>
          <a:bodyPr wrap="square" lIns="0" tIns="0" rIns="0" bIns="0" rtlCol="0" anchor="t">
            <a:normAutofit/>
          </a:bodyPr>
          <a:lstStyle/>
          <a:p>
            <a:pPr algn="l" indent="0" marL="0">
              <a:lnSpc>
                <a:spcPts val="3380"/>
              </a:lnSpc>
              <a:buNone/>
            </a:pPr>
            <a:r>
              <a:rPr lang="en-US" sz="2600" dirty="0">
                <a:solidFill>
                  <a:srgbClr val="F7F8F6"/>
                </a:solidFill>
                <a:latin typeface="IBM Plex Sans" pitchFamily="34" charset="0"/>
                <a:ea typeface="IBM Plex Sans" pitchFamily="34" charset="-122"/>
                <a:cs typeface="IBM Plex Sans" pitchFamily="34" charset="-120"/>
              </a:rPr>
              <a:t>One binary. It reads </a:t>
            </a:r>
            <a:r>
              <a:rPr lang="en-US" sz="2600" dirty="0">
                <a:solidFill>
                  <a:srgbClr val="6FBFAE"/>
                </a:solidFill>
                <a:latin typeface="IBM Plex Sans" pitchFamily="34" charset="0"/>
                <a:ea typeface="IBM Plex Sans" pitchFamily="34" charset="-122"/>
                <a:cs typeface="IBM Plex Sans" pitchFamily="34" charset="-120"/>
              </a:rPr>
              <a:t>pixi.lock</a:t>
            </a:r>
            <a:r>
              <a:rPr lang="en-US" sz="2600" dirty="0">
                <a:solidFill>
                  <a:srgbClr val="F7F8F6"/>
                </a:solidFill>
                <a:latin typeface="IBM Plex Sans" pitchFamily="34" charset="0"/>
                <a:ea typeface="IBM Plex Sans" pitchFamily="34" charset="-122"/>
                <a:cs typeface="IBM Plex Sans" pitchFamily="34" charset="-120"/>
              </a:rPr>
              <a:t> and writes CycloneDX or SPDX.</a:t>
            </a:r>
            <a:endParaRPr lang="en-US" sz="2600" dirty="0"/>
          </a:p>
        </p:txBody>
      </p:sp>
      <p:sp>
        <p:nvSpPr>
          <p:cNvPr id="4" name="Shape 2"/>
          <p:cNvSpPr/>
          <p:nvPr/>
        </p:nvSpPr>
        <p:spPr>
          <a:xfrm>
            <a:off x="812800" y="2405311"/>
            <a:ext cx="2508250" cy="1417290"/>
          </a:xfrm>
          <a:prstGeom prst="roundRect">
            <a:avLst>
              <a:gd name="adj" fmla="val 7169"/>
            </a:avLst>
          </a:prstGeom>
          <a:solidFill>
            <a:srgbClr val="18313E"/>
          </a:solidFill>
          <a:ln/>
        </p:spPr>
      </p:sp>
      <p:sp>
        <p:nvSpPr>
          <p:cNvPr id="5" name="Text 3"/>
          <p:cNvSpPr/>
          <p:nvPr/>
        </p:nvSpPr>
        <p:spPr>
          <a:xfrm>
            <a:off x="1041400" y="2633911"/>
            <a:ext cx="2112582" cy="472430"/>
          </a:xfrm>
          <a:prstGeom prst="rect">
            <a:avLst/>
          </a:prstGeom>
          <a:noFill/>
          <a:ln/>
        </p:spPr>
        <p:txBody>
          <a:bodyPr wrap="square" lIns="0" tIns="0" rIns="0" bIns="0" rtlCol="0" anchor="t">
            <a:normAutofit/>
          </a:bodyPr>
          <a:lstStyle/>
          <a:p>
            <a:pPr algn="l" indent="0" marL="0">
              <a:lnSpc>
                <a:spcPts val="3520"/>
              </a:lnSpc>
              <a:buNone/>
            </a:pPr>
            <a:r>
              <a:rPr lang="en-US" sz="3200" b="1" dirty="0">
                <a:solidFill>
                  <a:srgbClr val="6FBFAE"/>
                </a:solidFill>
                <a:latin typeface="IBM Plex Sans" pitchFamily="34" charset="0"/>
                <a:ea typeface="IBM Plex Sans" pitchFamily="34" charset="-122"/>
                <a:cs typeface="IBM Plex Sans" pitchFamily="34" charset="-120"/>
              </a:rPr>
              <a:t>7.6 MB</a:t>
            </a:r>
            <a:endParaRPr lang="en-US" sz="3200" dirty="0"/>
          </a:p>
        </p:txBody>
      </p:sp>
      <p:sp>
        <p:nvSpPr>
          <p:cNvPr id="6" name="Text 4"/>
          <p:cNvSpPr/>
          <p:nvPr/>
        </p:nvSpPr>
        <p:spPr>
          <a:xfrm>
            <a:off x="1041400" y="3131741"/>
            <a:ext cx="2112582" cy="487660"/>
          </a:xfrm>
          <a:prstGeom prst="rect">
            <a:avLst/>
          </a:prstGeom>
          <a:noFill/>
          <a:ln/>
        </p:spPr>
        <p:txBody>
          <a:bodyPr wrap="square" lIns="0" tIns="0" rIns="0" bIns="0" rtlCol="0" anchor="t">
            <a:normAutofit/>
          </a:bodyPr>
          <a:lstStyle/>
          <a:p>
            <a:pPr algn="l" indent="0" marL="0">
              <a:lnSpc>
                <a:spcPts val="1820"/>
              </a:lnSpc>
              <a:buNone/>
            </a:pPr>
            <a:r>
              <a:rPr lang="en-US" sz="1400" dirty="0">
                <a:solidFill>
                  <a:srgbClr val="B5C4CA"/>
                </a:solidFill>
                <a:latin typeface="IBM Plex Sans" pitchFamily="34" charset="0"/>
                <a:ea typeface="IBM Plex Sans" pitchFamily="34" charset="-122"/>
                <a:cs typeface="IBM Plex Sans" pitchFamily="34" charset="-120"/>
              </a:rPr>
              <a:t>one executable, no runtime to install</a:t>
            </a:r>
            <a:endParaRPr lang="en-US" sz="1400" dirty="0"/>
          </a:p>
        </p:txBody>
      </p:sp>
      <p:sp>
        <p:nvSpPr>
          <p:cNvPr id="7" name="Shape 5"/>
          <p:cNvSpPr/>
          <p:nvPr/>
        </p:nvSpPr>
        <p:spPr>
          <a:xfrm>
            <a:off x="3498850" y="2405311"/>
            <a:ext cx="2508250" cy="1417290"/>
          </a:xfrm>
          <a:prstGeom prst="roundRect">
            <a:avLst>
              <a:gd name="adj" fmla="val 7169"/>
            </a:avLst>
          </a:prstGeom>
          <a:solidFill>
            <a:srgbClr val="18313E"/>
          </a:solidFill>
          <a:ln/>
        </p:spPr>
      </p:sp>
      <p:sp>
        <p:nvSpPr>
          <p:cNvPr id="8" name="Text 6"/>
          <p:cNvSpPr/>
          <p:nvPr/>
        </p:nvSpPr>
        <p:spPr>
          <a:xfrm>
            <a:off x="3727450" y="2633911"/>
            <a:ext cx="2112582" cy="472430"/>
          </a:xfrm>
          <a:prstGeom prst="rect">
            <a:avLst/>
          </a:prstGeom>
          <a:noFill/>
          <a:ln/>
        </p:spPr>
        <p:txBody>
          <a:bodyPr wrap="square" lIns="0" tIns="0" rIns="0" bIns="0" rtlCol="0" anchor="t">
            <a:normAutofit/>
          </a:bodyPr>
          <a:lstStyle/>
          <a:p>
            <a:pPr algn="l" indent="0" marL="0">
              <a:lnSpc>
                <a:spcPts val="3520"/>
              </a:lnSpc>
              <a:buNone/>
            </a:pPr>
            <a:r>
              <a:rPr lang="en-US" sz="3200" b="1" dirty="0">
                <a:solidFill>
                  <a:srgbClr val="6FBFAE"/>
                </a:solidFill>
                <a:latin typeface="IBM Plex Sans" pitchFamily="34" charset="0"/>
                <a:ea typeface="IBM Plex Sans" pitchFamily="34" charset="-122"/>
                <a:cs typeface="IBM Plex Sans" pitchFamily="34" charset="-120"/>
              </a:rPr>
              <a:t>5</a:t>
            </a:r>
            <a:endParaRPr lang="en-US" sz="3200" dirty="0"/>
          </a:p>
        </p:txBody>
      </p:sp>
      <p:sp>
        <p:nvSpPr>
          <p:cNvPr id="9" name="Text 7"/>
          <p:cNvSpPr/>
          <p:nvPr/>
        </p:nvSpPr>
        <p:spPr>
          <a:xfrm>
            <a:off x="3727450" y="3131741"/>
            <a:ext cx="2112582" cy="487660"/>
          </a:xfrm>
          <a:prstGeom prst="rect">
            <a:avLst/>
          </a:prstGeom>
          <a:noFill/>
          <a:ln/>
        </p:spPr>
        <p:txBody>
          <a:bodyPr wrap="square" lIns="0" tIns="0" rIns="0" bIns="0" rtlCol="0" anchor="t">
            <a:normAutofit/>
          </a:bodyPr>
          <a:lstStyle/>
          <a:p>
            <a:pPr algn="l" indent="0" marL="0">
              <a:lnSpc>
                <a:spcPts val="1820"/>
              </a:lnSpc>
              <a:buNone/>
            </a:pPr>
            <a:r>
              <a:rPr lang="en-US" sz="1400" dirty="0">
                <a:solidFill>
                  <a:srgbClr val="B5C4CA"/>
                </a:solidFill>
                <a:latin typeface="IBM Plex Sans" pitchFamily="34" charset="0"/>
                <a:ea typeface="IBM Plex Sans" pitchFamily="34" charset="-122"/>
                <a:cs typeface="IBM Plex Sans" pitchFamily="34" charset="-120"/>
              </a:rPr>
              <a:t>platforms: Linux, macOS, Windows, Intel and ARM</a:t>
            </a:r>
            <a:endParaRPr lang="en-US" sz="1400" dirty="0"/>
          </a:p>
        </p:txBody>
      </p:sp>
      <p:sp>
        <p:nvSpPr>
          <p:cNvPr id="10" name="Shape 8"/>
          <p:cNvSpPr/>
          <p:nvPr/>
        </p:nvSpPr>
        <p:spPr>
          <a:xfrm>
            <a:off x="6184900" y="2405311"/>
            <a:ext cx="2508250" cy="1417290"/>
          </a:xfrm>
          <a:prstGeom prst="roundRect">
            <a:avLst>
              <a:gd name="adj" fmla="val 7169"/>
            </a:avLst>
          </a:prstGeom>
          <a:solidFill>
            <a:srgbClr val="18313E"/>
          </a:solidFill>
          <a:ln/>
        </p:spPr>
      </p:sp>
      <p:sp>
        <p:nvSpPr>
          <p:cNvPr id="11" name="Text 9"/>
          <p:cNvSpPr/>
          <p:nvPr/>
        </p:nvSpPr>
        <p:spPr>
          <a:xfrm>
            <a:off x="6413500" y="2633911"/>
            <a:ext cx="2112582" cy="472430"/>
          </a:xfrm>
          <a:prstGeom prst="rect">
            <a:avLst/>
          </a:prstGeom>
          <a:noFill/>
          <a:ln/>
        </p:spPr>
        <p:txBody>
          <a:bodyPr wrap="square" lIns="0" tIns="0" rIns="0" bIns="0" rtlCol="0" anchor="t">
            <a:normAutofit/>
          </a:bodyPr>
          <a:lstStyle/>
          <a:p>
            <a:pPr algn="l" indent="0" marL="0">
              <a:lnSpc>
                <a:spcPts val="3520"/>
              </a:lnSpc>
              <a:buNone/>
            </a:pPr>
            <a:r>
              <a:rPr lang="en-US" sz="3200" b="1" dirty="0">
                <a:solidFill>
                  <a:srgbClr val="6FBFAE"/>
                </a:solidFill>
                <a:latin typeface="IBM Plex Sans" pitchFamily="34" charset="0"/>
                <a:ea typeface="IBM Plex Sans" pitchFamily="34" charset="-122"/>
                <a:cs typeface="IBM Plex Sans" pitchFamily="34" charset="-120"/>
              </a:rPr>
              <a:t>0</a:t>
            </a:r>
            <a:endParaRPr lang="en-US" sz="3200" dirty="0"/>
          </a:p>
        </p:txBody>
      </p:sp>
      <p:sp>
        <p:nvSpPr>
          <p:cNvPr id="12" name="Text 10"/>
          <p:cNvSpPr/>
          <p:nvPr/>
        </p:nvSpPr>
        <p:spPr>
          <a:xfrm>
            <a:off x="6413500" y="3131741"/>
            <a:ext cx="2112582" cy="487660"/>
          </a:xfrm>
          <a:prstGeom prst="rect">
            <a:avLst/>
          </a:prstGeom>
          <a:noFill/>
          <a:ln/>
        </p:spPr>
        <p:txBody>
          <a:bodyPr wrap="square" lIns="0" tIns="0" rIns="0" bIns="0" rtlCol="0" anchor="t">
            <a:normAutofit/>
          </a:bodyPr>
          <a:lstStyle/>
          <a:p>
            <a:pPr algn="l" indent="0" marL="0">
              <a:lnSpc>
                <a:spcPts val="1820"/>
              </a:lnSpc>
              <a:buNone/>
            </a:pPr>
            <a:r>
              <a:rPr lang="en-US" sz="1400" dirty="0">
                <a:solidFill>
                  <a:srgbClr val="B5C4CA"/>
                </a:solidFill>
                <a:latin typeface="IBM Plex Sans" pitchFamily="34" charset="0"/>
                <a:ea typeface="IBM Plex Sans" pitchFamily="34" charset="-122"/>
                <a:cs typeface="IBM Plex Sans" pitchFamily="34" charset="-120"/>
              </a:rPr>
              <a:t>servers, accounts or telemetry</a:t>
            </a:r>
            <a:endParaRPr lang="en-US" sz="1400" dirty="0"/>
          </a:p>
        </p:txBody>
      </p:sp>
      <p:sp>
        <p:nvSpPr>
          <p:cNvPr id="13" name="Shape 11"/>
          <p:cNvSpPr/>
          <p:nvPr/>
        </p:nvSpPr>
        <p:spPr>
          <a:xfrm>
            <a:off x="8870950" y="2405311"/>
            <a:ext cx="2508250" cy="1417290"/>
          </a:xfrm>
          <a:prstGeom prst="roundRect">
            <a:avLst>
              <a:gd name="adj" fmla="val 7169"/>
            </a:avLst>
          </a:prstGeom>
          <a:solidFill>
            <a:srgbClr val="18313E"/>
          </a:solidFill>
          <a:ln/>
        </p:spPr>
      </p:sp>
      <p:sp>
        <p:nvSpPr>
          <p:cNvPr id="14" name="Text 12"/>
          <p:cNvSpPr/>
          <p:nvPr/>
        </p:nvSpPr>
        <p:spPr>
          <a:xfrm>
            <a:off x="9099550" y="2633911"/>
            <a:ext cx="2112582" cy="472430"/>
          </a:xfrm>
          <a:prstGeom prst="rect">
            <a:avLst/>
          </a:prstGeom>
          <a:noFill/>
          <a:ln/>
        </p:spPr>
        <p:txBody>
          <a:bodyPr wrap="square" lIns="0" tIns="0" rIns="0" bIns="0" rtlCol="0" anchor="t">
            <a:normAutofit/>
          </a:bodyPr>
          <a:lstStyle/>
          <a:p>
            <a:pPr algn="l" indent="0" marL="0">
              <a:lnSpc>
                <a:spcPts val="3520"/>
              </a:lnSpc>
              <a:buNone/>
            </a:pPr>
            <a:r>
              <a:rPr lang="en-US" sz="3200" b="1" dirty="0">
                <a:solidFill>
                  <a:srgbClr val="6FBFAE"/>
                </a:solidFill>
                <a:latin typeface="IBM Plex Sans" pitchFamily="34" charset="0"/>
                <a:ea typeface="IBM Plex Sans" pitchFamily="34" charset="-122"/>
                <a:cs typeface="IBM Plex Sans" pitchFamily="34" charset="-120"/>
              </a:rPr>
              <a:t>Offline</a:t>
            </a:r>
            <a:endParaRPr lang="en-US" sz="3200" dirty="0"/>
          </a:p>
        </p:txBody>
      </p:sp>
      <p:sp>
        <p:nvSpPr>
          <p:cNvPr id="15" name="Text 13"/>
          <p:cNvSpPr/>
          <p:nvPr/>
        </p:nvSpPr>
        <p:spPr>
          <a:xfrm>
            <a:off x="9099550" y="3131741"/>
            <a:ext cx="2112582" cy="487660"/>
          </a:xfrm>
          <a:prstGeom prst="rect">
            <a:avLst/>
          </a:prstGeom>
          <a:noFill/>
          <a:ln/>
        </p:spPr>
        <p:txBody>
          <a:bodyPr wrap="square" lIns="0" tIns="0" rIns="0" bIns="0" rtlCol="0" anchor="t">
            <a:normAutofit/>
          </a:bodyPr>
          <a:lstStyle/>
          <a:p>
            <a:pPr algn="l" indent="0" marL="0">
              <a:lnSpc>
                <a:spcPts val="1820"/>
              </a:lnSpc>
              <a:buNone/>
            </a:pPr>
            <a:r>
              <a:rPr lang="en-US" sz="1400" dirty="0">
                <a:solidFill>
                  <a:srgbClr val="B5C4CA"/>
                </a:solidFill>
                <a:latin typeface="IBM Plex Sans" pitchFamily="34" charset="0"/>
                <a:ea typeface="IBM Plex Sans" pitchFamily="34" charset="-122"/>
                <a:cs typeface="IBM Plex Sans" pitchFamily="34" charset="-120"/>
              </a:rPr>
              <a:t>works with no network when it has to</a:t>
            </a:r>
            <a:endParaRPr lang="en-US" sz="14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8F6"/>
        </a:solidFill>
      </p:bgPr>
    </p:bg>
    <p:spTree>
      <p:nvGrpSpPr>
        <p:cNvPr id="1" name=""/>
        <p:cNvGrpSpPr/>
        <p:nvPr/>
      </p:nvGrpSpPr>
      <p:grpSpPr>
        <a:xfrm>
          <a:off x="0" y="0"/>
          <a:ext cx="0" cy="0"/>
          <a:chOff x="0" y="0"/>
          <a:chExt cx="0" cy="0"/>
        </a:xfrm>
      </p:grpSpPr>
      <p:sp>
        <p:nvSpPr>
          <p:cNvPr id="2" name="Text 0"/>
          <p:cNvSpPr/>
          <p:nvPr/>
        </p:nvSpPr>
        <p:spPr>
          <a:xfrm>
            <a:off x="812800" y="812800"/>
            <a:ext cx="10883392" cy="528290"/>
          </a:xfrm>
          <a:prstGeom prst="rect">
            <a:avLst/>
          </a:prstGeom>
          <a:noFill/>
          <a:ln/>
        </p:spPr>
        <p:txBody>
          <a:bodyPr wrap="square" lIns="0" tIns="0" rIns="0" bIns="0" rtlCol="0" anchor="t">
            <a:normAutofit/>
          </a:bodyPr>
          <a:lstStyle/>
          <a:p>
            <a:pPr algn="l" indent="0" marL="0">
              <a:lnSpc>
                <a:spcPts val="3960"/>
              </a:lnSpc>
              <a:buNone/>
            </a:pPr>
            <a:r>
              <a:rPr lang="en-US" sz="3600" b="1" dirty="0">
                <a:solidFill>
                  <a:srgbClr val="10212B"/>
                </a:solidFill>
                <a:latin typeface="IBM Plex Sans" pitchFamily="34" charset="0"/>
                <a:ea typeface="IBM Plex Sans" pitchFamily="34" charset="-122"/>
                <a:cs typeface="IBM Plex Sans" pitchFamily="34" charset="-120"/>
              </a:rPr>
              <a:t>What it does</a:t>
            </a:r>
            <a:endParaRPr lang="en-US" sz="3600" dirty="0"/>
          </a:p>
        </p:txBody>
      </p:sp>
      <p:sp>
        <p:nvSpPr>
          <p:cNvPr id="3" name="Shape 1"/>
          <p:cNvSpPr/>
          <p:nvPr/>
        </p:nvSpPr>
        <p:spPr>
          <a:xfrm>
            <a:off x="815975" y="1572865"/>
            <a:ext cx="3397250" cy="1833811"/>
          </a:xfrm>
          <a:prstGeom prst="roundRect">
            <a:avLst>
              <a:gd name="adj" fmla="val 5367"/>
            </a:avLst>
          </a:prstGeom>
          <a:solidFill>
            <a:srgbClr val="FFFFFF"/>
          </a:solidFill>
          <a:ln w="6350">
            <a:solidFill>
              <a:srgbClr val="DFE3DE"/>
            </a:solidFill>
            <a:prstDash val="solid"/>
          </a:ln>
        </p:spPr>
      </p:sp>
      <p:pic>
        <p:nvPicPr>
          <p:cNvPr id="4" name="Image 0" descr="Book">    </p:cNvPr>
          <p:cNvPicPr>
            <a:picLocks noChangeAspect="1"/>
          </p:cNvPicPr>
          <p:nvPr/>
        </p:nvPicPr>
        <p:blipFill>
          <a:blip r:embed="rId1"/>
          <a:srcRect l="0" r="0" t="0" b="0"/>
          <a:stretch/>
        </p:blipFill>
        <p:spPr>
          <a:xfrm>
            <a:off x="1047750" y="1804640"/>
            <a:ext cx="279400" cy="279400"/>
          </a:xfrm>
          <a:prstGeom prst="rect">
            <a:avLst/>
          </a:prstGeom>
        </p:spPr>
      </p:pic>
      <p:sp>
        <p:nvSpPr>
          <p:cNvPr id="5" name="Text 2"/>
          <p:cNvSpPr/>
          <p:nvPr/>
        </p:nvSpPr>
        <p:spPr>
          <a:xfrm>
            <a:off x="1047750" y="2147540"/>
            <a:ext cx="3021711" cy="269230"/>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10212B"/>
                </a:solidFill>
                <a:latin typeface="IBM Plex Sans" pitchFamily="34" charset="0"/>
                <a:ea typeface="IBM Plex Sans" pitchFamily="34" charset="-122"/>
                <a:cs typeface="IBM Plex Sans" pitchFamily="34" charset="-120"/>
              </a:rPr>
              <a:t>Both standards</a:t>
            </a:r>
            <a:endParaRPr lang="en-US" sz="1600" dirty="0"/>
          </a:p>
        </p:txBody>
      </p:sp>
      <p:sp>
        <p:nvSpPr>
          <p:cNvPr id="6" name="Text 3"/>
          <p:cNvSpPr/>
          <p:nvPr/>
        </p:nvSpPr>
        <p:spPr>
          <a:xfrm>
            <a:off x="1047750" y="2454870"/>
            <a:ext cx="3021711" cy="745430"/>
          </a:xfrm>
          <a:prstGeom prst="rect">
            <a:avLst/>
          </a:prstGeom>
          <a:noFill/>
          <a:ln/>
        </p:spPr>
        <p:txBody>
          <a:bodyPr wrap="square" lIns="0" tIns="0" rIns="0" bIns="0" rtlCol="0" anchor="t">
            <a:normAutofit/>
          </a:bodyPr>
          <a:lstStyle/>
          <a:p>
            <a:pPr algn="l" indent="0" marL="0">
              <a:lnSpc>
                <a:spcPts val="1890"/>
              </a:lnSpc>
              <a:buNone/>
            </a:pPr>
            <a:r>
              <a:rPr lang="en-US" sz="1400" dirty="0">
                <a:solidFill>
                  <a:srgbClr val="4A5568"/>
                </a:solidFill>
                <a:latin typeface="IBM Plex Sans" pitchFamily="34" charset="0"/>
                <a:ea typeface="IBM Plex Sans" pitchFamily="34" charset="-122"/>
                <a:cs typeface="IBM Plex Sans" pitchFamily="34" charset="-120"/>
              </a:rPr>
              <a:t>CycloneDX 1.6 and 1.7, SPDX 2.3 and 3.0.1. Whoever asks gets the format they already use.</a:t>
            </a:r>
            <a:endParaRPr lang="en-US" sz="1400" dirty="0"/>
          </a:p>
        </p:txBody>
      </p:sp>
      <p:sp>
        <p:nvSpPr>
          <p:cNvPr id="7" name="Shape 4"/>
          <p:cNvSpPr/>
          <p:nvPr/>
        </p:nvSpPr>
        <p:spPr>
          <a:xfrm>
            <a:off x="4397375" y="1572865"/>
            <a:ext cx="3397250" cy="1833811"/>
          </a:xfrm>
          <a:prstGeom prst="roundRect">
            <a:avLst>
              <a:gd name="adj" fmla="val 5367"/>
            </a:avLst>
          </a:prstGeom>
          <a:solidFill>
            <a:srgbClr val="FFFFFF"/>
          </a:solidFill>
          <a:ln w="6350">
            <a:solidFill>
              <a:srgbClr val="DFE3DE"/>
            </a:solidFill>
            <a:prstDash val="solid"/>
          </a:ln>
        </p:spPr>
      </p:sp>
      <p:pic>
        <p:nvPicPr>
          <p:cNvPr id="8" name="Image 1" descr="Warning">    </p:cNvPr>
          <p:cNvPicPr>
            <a:picLocks noChangeAspect="1"/>
          </p:cNvPicPr>
          <p:nvPr/>
        </p:nvPicPr>
        <p:blipFill>
          <a:blip r:embed="rId2"/>
          <a:srcRect l="0" r="0" t="0" b="0"/>
          <a:stretch/>
        </p:blipFill>
        <p:spPr>
          <a:xfrm>
            <a:off x="4629150" y="1804640"/>
            <a:ext cx="279400" cy="279400"/>
          </a:xfrm>
          <a:prstGeom prst="rect">
            <a:avLst/>
          </a:prstGeom>
        </p:spPr>
      </p:pic>
      <p:sp>
        <p:nvSpPr>
          <p:cNvPr id="9" name="Text 5"/>
          <p:cNvSpPr/>
          <p:nvPr/>
        </p:nvSpPr>
        <p:spPr>
          <a:xfrm>
            <a:off x="4629150" y="2147540"/>
            <a:ext cx="3021711" cy="269230"/>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10212B"/>
                </a:solidFill>
                <a:latin typeface="IBM Plex Sans" pitchFamily="34" charset="0"/>
                <a:ea typeface="IBM Plex Sans" pitchFamily="34" charset="-122"/>
                <a:cs typeface="IBM Plex Sans" pitchFamily="34" charset="-120"/>
              </a:rPr>
              <a:t>Known vulnerabilities</a:t>
            </a:r>
            <a:endParaRPr lang="en-US" sz="1600" dirty="0"/>
          </a:p>
        </p:txBody>
      </p:sp>
      <p:sp>
        <p:nvSpPr>
          <p:cNvPr id="10" name="Text 6"/>
          <p:cNvSpPr/>
          <p:nvPr/>
        </p:nvSpPr>
        <p:spPr>
          <a:xfrm>
            <a:off x="4629150" y="2454870"/>
            <a:ext cx="3021711" cy="745430"/>
          </a:xfrm>
          <a:prstGeom prst="rect">
            <a:avLst/>
          </a:prstGeom>
          <a:noFill/>
          <a:ln/>
        </p:spPr>
        <p:txBody>
          <a:bodyPr wrap="square" lIns="0" tIns="0" rIns="0" bIns="0" rtlCol="0" anchor="t">
            <a:normAutofit/>
          </a:bodyPr>
          <a:lstStyle/>
          <a:p>
            <a:pPr algn="l" indent="0" marL="0">
              <a:lnSpc>
                <a:spcPts val="1890"/>
              </a:lnSpc>
              <a:buNone/>
            </a:pPr>
            <a:r>
              <a:rPr lang="en-US" sz="1400" dirty="0">
                <a:solidFill>
                  <a:srgbClr val="4A5568"/>
                </a:solidFill>
                <a:latin typeface="IBM Plex Sans" pitchFamily="34" charset="0"/>
                <a:ea typeface="IBM Plex Sans" pitchFamily="34" charset="-122"/>
                <a:cs typeface="IBM Plex Sans" pitchFamily="34" charset="-120"/>
              </a:rPr>
              <a:t>Looks them up in OSV and flags anything sitting in CISA's known-exploited list.</a:t>
            </a:r>
            <a:endParaRPr lang="en-US" sz="1400" dirty="0"/>
          </a:p>
        </p:txBody>
      </p:sp>
      <p:sp>
        <p:nvSpPr>
          <p:cNvPr id="11" name="Shape 7"/>
          <p:cNvSpPr/>
          <p:nvPr/>
        </p:nvSpPr>
        <p:spPr>
          <a:xfrm>
            <a:off x="7978775" y="1572865"/>
            <a:ext cx="3397250" cy="1833811"/>
          </a:xfrm>
          <a:prstGeom prst="roundRect">
            <a:avLst>
              <a:gd name="adj" fmla="val 5367"/>
            </a:avLst>
          </a:prstGeom>
          <a:solidFill>
            <a:srgbClr val="FFFFFF"/>
          </a:solidFill>
          <a:ln w="6350">
            <a:solidFill>
              <a:srgbClr val="DFE3DE"/>
            </a:solidFill>
            <a:prstDash val="solid"/>
          </a:ln>
        </p:spPr>
      </p:sp>
      <p:pic>
        <p:nvPicPr>
          <p:cNvPr id="12" name="Image 2" descr="Check">    </p:cNvPr>
          <p:cNvPicPr>
            <a:picLocks noChangeAspect="1"/>
          </p:cNvPicPr>
          <p:nvPr/>
        </p:nvPicPr>
        <p:blipFill>
          <a:blip r:embed="rId3"/>
          <a:srcRect l="0" r="0" t="0" b="0"/>
          <a:stretch/>
        </p:blipFill>
        <p:spPr>
          <a:xfrm>
            <a:off x="8210550" y="1804640"/>
            <a:ext cx="279400" cy="279400"/>
          </a:xfrm>
          <a:prstGeom prst="rect">
            <a:avLst/>
          </a:prstGeom>
        </p:spPr>
      </p:pic>
      <p:sp>
        <p:nvSpPr>
          <p:cNvPr id="13" name="Text 8"/>
          <p:cNvSpPr/>
          <p:nvPr/>
        </p:nvSpPr>
        <p:spPr>
          <a:xfrm>
            <a:off x="8210550" y="2147540"/>
            <a:ext cx="3021711" cy="269230"/>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10212B"/>
                </a:solidFill>
                <a:latin typeface="IBM Plex Sans" pitchFamily="34" charset="0"/>
                <a:ea typeface="IBM Plex Sans" pitchFamily="34" charset="-122"/>
                <a:cs typeface="IBM Plex Sans" pitchFamily="34" charset="-120"/>
              </a:rPr>
              <a:t>License rules</a:t>
            </a:r>
            <a:endParaRPr lang="en-US" sz="1600" dirty="0"/>
          </a:p>
        </p:txBody>
      </p:sp>
      <p:sp>
        <p:nvSpPr>
          <p:cNvPr id="14" name="Text 9"/>
          <p:cNvSpPr/>
          <p:nvPr/>
        </p:nvSpPr>
        <p:spPr>
          <a:xfrm>
            <a:off x="8210550" y="2454870"/>
            <a:ext cx="3021711" cy="745430"/>
          </a:xfrm>
          <a:prstGeom prst="rect">
            <a:avLst/>
          </a:prstGeom>
          <a:noFill/>
          <a:ln/>
        </p:spPr>
        <p:txBody>
          <a:bodyPr wrap="square" lIns="0" tIns="0" rIns="0" bIns="0" rtlCol="0" anchor="t">
            <a:normAutofit/>
          </a:bodyPr>
          <a:lstStyle/>
          <a:p>
            <a:pPr algn="l" indent="0" marL="0">
              <a:lnSpc>
                <a:spcPts val="1890"/>
              </a:lnSpc>
              <a:buNone/>
            </a:pPr>
            <a:r>
              <a:rPr lang="en-US" sz="1400" dirty="0">
                <a:solidFill>
                  <a:srgbClr val="4A5568"/>
                </a:solidFill>
                <a:latin typeface="IBM Plex Sans" pitchFamily="34" charset="0"/>
                <a:ea typeface="IBM Plex Sans" pitchFamily="34" charset="-122"/>
                <a:cs typeface="IBM Plex Sans" pitchFamily="34" charset="-120"/>
              </a:rPr>
              <a:t>Allow and deny lists, with exemptions that have to carry a reason.</a:t>
            </a:r>
            <a:endParaRPr lang="en-US" sz="1400" dirty="0"/>
          </a:p>
        </p:txBody>
      </p:sp>
      <p:sp>
        <p:nvSpPr>
          <p:cNvPr id="15" name="Shape 10"/>
          <p:cNvSpPr/>
          <p:nvPr/>
        </p:nvSpPr>
        <p:spPr>
          <a:xfrm>
            <a:off x="815975" y="3590826"/>
            <a:ext cx="3397250" cy="1833811"/>
          </a:xfrm>
          <a:prstGeom prst="roundRect">
            <a:avLst>
              <a:gd name="adj" fmla="val 5367"/>
            </a:avLst>
          </a:prstGeom>
          <a:solidFill>
            <a:srgbClr val="FFFFFF"/>
          </a:solidFill>
          <a:ln w="6350">
            <a:solidFill>
              <a:srgbClr val="DFE3DE"/>
            </a:solidFill>
            <a:prstDash val="solid"/>
          </a:ln>
        </p:spPr>
      </p:sp>
      <p:pic>
        <p:nvPicPr>
          <p:cNvPr id="16" name="Image 3" descr="Search">    </p:cNvPr>
          <p:cNvPicPr>
            <a:picLocks noChangeAspect="1"/>
          </p:cNvPicPr>
          <p:nvPr/>
        </p:nvPicPr>
        <p:blipFill>
          <a:blip r:embed="rId4"/>
          <a:srcRect l="0" r="0" t="0" b="0"/>
          <a:stretch/>
        </p:blipFill>
        <p:spPr>
          <a:xfrm>
            <a:off x="1047750" y="3822601"/>
            <a:ext cx="279400" cy="279400"/>
          </a:xfrm>
          <a:prstGeom prst="rect">
            <a:avLst/>
          </a:prstGeom>
        </p:spPr>
      </p:pic>
      <p:sp>
        <p:nvSpPr>
          <p:cNvPr id="17" name="Text 11"/>
          <p:cNvSpPr/>
          <p:nvPr/>
        </p:nvSpPr>
        <p:spPr>
          <a:xfrm>
            <a:off x="1047750" y="4165501"/>
            <a:ext cx="3021711" cy="269230"/>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10212B"/>
                </a:solidFill>
                <a:latin typeface="IBM Plex Sans" pitchFamily="34" charset="0"/>
                <a:ea typeface="IBM Plex Sans" pitchFamily="34" charset="-122"/>
                <a:cs typeface="IBM Plex Sans" pitchFamily="34" charset="-120"/>
              </a:rPr>
              <a:t>Provenance</a:t>
            </a:r>
            <a:endParaRPr lang="en-US" sz="1600" dirty="0"/>
          </a:p>
        </p:txBody>
      </p:sp>
      <p:sp>
        <p:nvSpPr>
          <p:cNvPr id="18" name="Text 12"/>
          <p:cNvSpPr/>
          <p:nvPr/>
        </p:nvSpPr>
        <p:spPr>
          <a:xfrm>
            <a:off x="1047750" y="4472831"/>
            <a:ext cx="3021711" cy="745430"/>
          </a:xfrm>
          <a:prstGeom prst="rect">
            <a:avLst/>
          </a:prstGeom>
          <a:noFill/>
          <a:ln/>
        </p:spPr>
        <p:txBody>
          <a:bodyPr wrap="square" lIns="0" tIns="0" rIns="0" bIns="0" rtlCol="0" anchor="t">
            <a:normAutofit/>
          </a:bodyPr>
          <a:lstStyle/>
          <a:p>
            <a:pPr algn="l" indent="0" marL="0">
              <a:lnSpc>
                <a:spcPts val="1890"/>
              </a:lnSpc>
              <a:buNone/>
            </a:pPr>
            <a:r>
              <a:rPr lang="en-US" sz="1400" dirty="0">
                <a:solidFill>
                  <a:srgbClr val="4A5568"/>
                </a:solidFill>
                <a:latin typeface="IBM Plex Sans" pitchFamily="34" charset="0"/>
                <a:ea typeface="IBM Plex Sans" pitchFamily="34" charset="-122"/>
                <a:cs typeface="IBM Plex Sans" pitchFamily="34" charset="-120"/>
              </a:rPr>
              <a:t>Every fact records where it came from, including the sources that came back empty.</a:t>
            </a:r>
            <a:endParaRPr lang="en-US" sz="1400" dirty="0"/>
          </a:p>
        </p:txBody>
      </p:sp>
      <p:sp>
        <p:nvSpPr>
          <p:cNvPr id="19" name="Shape 13"/>
          <p:cNvSpPr/>
          <p:nvPr/>
        </p:nvSpPr>
        <p:spPr>
          <a:xfrm>
            <a:off x="4397375" y="3590826"/>
            <a:ext cx="3397250" cy="1833811"/>
          </a:xfrm>
          <a:prstGeom prst="roundRect">
            <a:avLst>
              <a:gd name="adj" fmla="val 5367"/>
            </a:avLst>
          </a:prstGeom>
          <a:solidFill>
            <a:srgbClr val="FFFFFF"/>
          </a:solidFill>
          <a:ln w="6350">
            <a:solidFill>
              <a:srgbClr val="DFE3DE"/>
            </a:solidFill>
            <a:prstDash val="solid"/>
          </a:ln>
        </p:spPr>
      </p:sp>
      <p:pic>
        <p:nvPicPr>
          <p:cNvPr id="20" name="Image 4" descr="Chart">    </p:cNvPr>
          <p:cNvPicPr>
            <a:picLocks noChangeAspect="1"/>
          </p:cNvPicPr>
          <p:nvPr/>
        </p:nvPicPr>
        <p:blipFill>
          <a:blip r:embed="rId5"/>
          <a:srcRect l="0" r="0" t="0" b="0"/>
          <a:stretch/>
        </p:blipFill>
        <p:spPr>
          <a:xfrm>
            <a:off x="4629150" y="3822601"/>
            <a:ext cx="279400" cy="279400"/>
          </a:xfrm>
          <a:prstGeom prst="rect">
            <a:avLst/>
          </a:prstGeom>
        </p:spPr>
      </p:pic>
      <p:sp>
        <p:nvSpPr>
          <p:cNvPr id="21" name="Text 14"/>
          <p:cNvSpPr/>
          <p:nvPr/>
        </p:nvSpPr>
        <p:spPr>
          <a:xfrm>
            <a:off x="4629150" y="4165501"/>
            <a:ext cx="3021711" cy="269230"/>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10212B"/>
                </a:solidFill>
                <a:latin typeface="IBM Plex Sans" pitchFamily="34" charset="0"/>
                <a:ea typeface="IBM Plex Sans" pitchFamily="34" charset="-122"/>
                <a:cs typeface="IBM Plex Sans" pitchFamily="34" charset="-120"/>
              </a:rPr>
              <a:t>Release-to-release diff</a:t>
            </a:r>
            <a:endParaRPr lang="en-US" sz="1600" dirty="0"/>
          </a:p>
        </p:txBody>
      </p:sp>
      <p:sp>
        <p:nvSpPr>
          <p:cNvPr id="22" name="Text 15"/>
          <p:cNvSpPr/>
          <p:nvPr/>
        </p:nvSpPr>
        <p:spPr>
          <a:xfrm>
            <a:off x="4629150" y="4472831"/>
            <a:ext cx="3021711" cy="505420"/>
          </a:xfrm>
          <a:prstGeom prst="rect">
            <a:avLst/>
          </a:prstGeom>
          <a:noFill/>
          <a:ln/>
        </p:spPr>
        <p:txBody>
          <a:bodyPr wrap="square" lIns="0" tIns="0" rIns="0" bIns="0" rtlCol="0" anchor="t">
            <a:normAutofit/>
          </a:bodyPr>
          <a:lstStyle/>
          <a:p>
            <a:pPr algn="l" indent="0" marL="0">
              <a:lnSpc>
                <a:spcPts val="1890"/>
              </a:lnSpc>
              <a:buNone/>
            </a:pPr>
            <a:r>
              <a:rPr lang="en-US" sz="1400" dirty="0">
                <a:solidFill>
                  <a:srgbClr val="4A5568"/>
                </a:solidFill>
                <a:latin typeface="IBM Plex Sans" pitchFamily="34" charset="0"/>
                <a:ea typeface="IBM Plex Sans" pitchFamily="34" charset="-122"/>
                <a:cs typeface="IBM Plex Sans" pitchFamily="34" charset="-120"/>
              </a:rPr>
              <a:t>What got added, dropped, upgraded or relicensed since last time.</a:t>
            </a:r>
            <a:endParaRPr lang="en-US" sz="1400" dirty="0"/>
          </a:p>
        </p:txBody>
      </p:sp>
      <p:sp>
        <p:nvSpPr>
          <p:cNvPr id="23" name="Shape 16"/>
          <p:cNvSpPr/>
          <p:nvPr/>
        </p:nvSpPr>
        <p:spPr>
          <a:xfrm>
            <a:off x="7978775" y="3590826"/>
            <a:ext cx="3397250" cy="1833811"/>
          </a:xfrm>
          <a:prstGeom prst="roundRect">
            <a:avLst>
              <a:gd name="adj" fmla="val 5367"/>
            </a:avLst>
          </a:prstGeom>
          <a:solidFill>
            <a:srgbClr val="FFFFFF"/>
          </a:solidFill>
          <a:ln w="6350">
            <a:solidFill>
              <a:srgbClr val="DFE3DE"/>
            </a:solidFill>
            <a:prstDash val="solid"/>
          </a:ln>
        </p:spPr>
      </p:sp>
      <p:pic>
        <p:nvPicPr>
          <p:cNvPr id="24" name="Image 5" descr="Settings">    </p:cNvPr>
          <p:cNvPicPr>
            <a:picLocks noChangeAspect="1"/>
          </p:cNvPicPr>
          <p:nvPr/>
        </p:nvPicPr>
        <p:blipFill>
          <a:blip r:embed="rId6"/>
          <a:srcRect l="0" r="0" t="0" b="0"/>
          <a:stretch/>
        </p:blipFill>
        <p:spPr>
          <a:xfrm>
            <a:off x="8210550" y="3822601"/>
            <a:ext cx="279400" cy="279400"/>
          </a:xfrm>
          <a:prstGeom prst="rect">
            <a:avLst/>
          </a:prstGeom>
        </p:spPr>
      </p:pic>
      <p:sp>
        <p:nvSpPr>
          <p:cNvPr id="25" name="Text 17"/>
          <p:cNvSpPr/>
          <p:nvPr/>
        </p:nvSpPr>
        <p:spPr>
          <a:xfrm>
            <a:off x="8210550" y="4165501"/>
            <a:ext cx="3021711" cy="269230"/>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10212B"/>
                </a:solidFill>
                <a:latin typeface="IBM Plex Sans" pitchFamily="34" charset="0"/>
                <a:ea typeface="IBM Plex Sans" pitchFamily="34" charset="-122"/>
                <a:cs typeface="IBM Plex Sans" pitchFamily="34" charset="-120"/>
              </a:rPr>
              <a:t>A GitHub Action</a:t>
            </a:r>
            <a:endParaRPr lang="en-US" sz="1600" dirty="0"/>
          </a:p>
        </p:txBody>
      </p:sp>
      <p:sp>
        <p:nvSpPr>
          <p:cNvPr id="26" name="Text 18"/>
          <p:cNvSpPr/>
          <p:nvPr/>
        </p:nvSpPr>
        <p:spPr>
          <a:xfrm>
            <a:off x="8210550" y="4472831"/>
            <a:ext cx="3021711" cy="505420"/>
          </a:xfrm>
          <a:prstGeom prst="rect">
            <a:avLst/>
          </a:prstGeom>
          <a:noFill/>
          <a:ln/>
        </p:spPr>
        <p:txBody>
          <a:bodyPr wrap="square" lIns="0" tIns="0" rIns="0" bIns="0" rtlCol="0" anchor="t">
            <a:normAutofit/>
          </a:bodyPr>
          <a:lstStyle/>
          <a:p>
            <a:pPr algn="l" indent="0" marL="0">
              <a:lnSpc>
                <a:spcPts val="1890"/>
              </a:lnSpc>
              <a:buNone/>
            </a:pPr>
            <a:r>
              <a:rPr lang="en-US" sz="1400" dirty="0">
                <a:solidFill>
                  <a:srgbClr val="4A5568"/>
                </a:solidFill>
                <a:latin typeface="IBM Plex Sans" pitchFamily="34" charset="0"/>
                <a:ea typeface="IBM Plex Sans" pitchFamily="34" charset="-122"/>
                <a:cs typeface="IBM Plex Sans" pitchFamily="34" charset="-120"/>
              </a:rPr>
              <a:t>Drop it in and the document comes out attached to the build.</a:t>
            </a:r>
            <a:endParaRPr lang="en-US" sz="14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8F6"/>
        </a:solidFill>
      </p:bgPr>
    </p:bg>
    <p:spTree>
      <p:nvGrpSpPr>
        <p:cNvPr id="1" name=""/>
        <p:cNvGrpSpPr/>
        <p:nvPr/>
      </p:nvGrpSpPr>
      <p:grpSpPr>
        <a:xfrm>
          <a:off x="0" y="0"/>
          <a:ext cx="0" cy="0"/>
          <a:chOff x="0" y="0"/>
          <a:chExt cx="0" cy="0"/>
        </a:xfrm>
      </p:grpSpPr>
      <p:sp>
        <p:nvSpPr>
          <p:cNvPr id="2" name="Text 0"/>
          <p:cNvSpPr/>
          <p:nvPr/>
        </p:nvSpPr>
        <p:spPr>
          <a:xfrm>
            <a:off x="812800" y="812800"/>
            <a:ext cx="10883392" cy="528290"/>
          </a:xfrm>
          <a:prstGeom prst="rect">
            <a:avLst/>
          </a:prstGeom>
          <a:noFill/>
          <a:ln/>
        </p:spPr>
        <p:txBody>
          <a:bodyPr wrap="square" lIns="0" tIns="0" rIns="0" bIns="0" rtlCol="0" anchor="t">
            <a:normAutofit/>
          </a:bodyPr>
          <a:lstStyle/>
          <a:p>
            <a:pPr algn="l" indent="0" marL="0">
              <a:lnSpc>
                <a:spcPts val="3960"/>
              </a:lnSpc>
              <a:buNone/>
            </a:pPr>
            <a:r>
              <a:rPr lang="en-US" sz="3600" b="1" dirty="0">
                <a:solidFill>
                  <a:srgbClr val="10212B"/>
                </a:solidFill>
                <a:latin typeface="IBM Plex Sans" pitchFamily="34" charset="0"/>
                <a:ea typeface="IBM Plex Sans" pitchFamily="34" charset="-122"/>
                <a:cs typeface="IBM Plex Sans" pitchFamily="34" charset="-120"/>
              </a:rPr>
              <a:t>What it isn't</a:t>
            </a:r>
            <a:endParaRPr lang="en-US" sz="3600" dirty="0"/>
          </a:p>
        </p:txBody>
      </p:sp>
      <p:sp>
        <p:nvSpPr>
          <p:cNvPr id="3" name="Shape 1"/>
          <p:cNvSpPr/>
          <p:nvPr/>
        </p:nvSpPr>
        <p:spPr>
          <a:xfrm>
            <a:off x="815975" y="1598265"/>
            <a:ext cx="10560050" cy="1302990"/>
          </a:xfrm>
          <a:prstGeom prst="roundRect">
            <a:avLst>
              <a:gd name="adj" fmla="val 7554"/>
            </a:avLst>
          </a:prstGeom>
          <a:solidFill>
            <a:srgbClr val="FFFFFF"/>
          </a:solidFill>
          <a:ln w="6350">
            <a:solidFill>
              <a:srgbClr val="DFE3DE"/>
            </a:solidFill>
            <a:prstDash val="solid"/>
          </a:ln>
        </p:spPr>
      </p:sp>
      <p:sp>
        <p:nvSpPr>
          <p:cNvPr id="4" name="Text 2"/>
          <p:cNvSpPr/>
          <p:nvPr/>
        </p:nvSpPr>
        <p:spPr>
          <a:xfrm>
            <a:off x="1073150" y="1830040"/>
            <a:ext cx="10347071" cy="299690"/>
          </a:xfrm>
          <a:prstGeom prst="rect">
            <a:avLst/>
          </a:prstGeom>
          <a:noFill/>
          <a:ln/>
        </p:spPr>
        <p:txBody>
          <a:bodyPr wrap="square" lIns="0" tIns="0" rIns="0" bIns="0" rtlCol="0" anchor="t">
            <a:normAutofit/>
          </a:bodyPr>
          <a:lstStyle/>
          <a:p>
            <a:pPr algn="l" indent="0" marL="0">
              <a:lnSpc>
                <a:spcPts val="2160"/>
              </a:lnSpc>
              <a:buNone/>
            </a:pPr>
            <a:r>
              <a:rPr lang="en-US" sz="1800" b="1" dirty="0">
                <a:solidFill>
                  <a:srgbClr val="10212B"/>
                </a:solidFill>
                <a:latin typeface="IBM Plex Sans" pitchFamily="34" charset="0"/>
                <a:ea typeface="IBM Plex Sans" pitchFamily="34" charset="-122"/>
                <a:cs typeface="IBM Plex Sans" pitchFamily="34" charset="-120"/>
              </a:rPr>
              <a:t>Not a vulnerability scanner</a:t>
            </a:r>
            <a:endParaRPr lang="en-US" sz="1800" dirty="0"/>
          </a:p>
        </p:txBody>
      </p:sp>
      <p:sp>
        <p:nvSpPr>
          <p:cNvPr id="5" name="Text 3"/>
          <p:cNvSpPr/>
          <p:nvPr/>
        </p:nvSpPr>
        <p:spPr>
          <a:xfrm>
            <a:off x="1073150" y="2155130"/>
            <a:ext cx="10347071" cy="539750"/>
          </a:xfrm>
          <a:prstGeom prst="rect">
            <a:avLst/>
          </a:prstGeom>
          <a:noFill/>
          <a:ln/>
        </p:spPr>
        <p:txBody>
          <a:bodyPr wrap="square" lIns="0" tIns="0" rIns="0" bIns="0" rtlCol="0" anchor="t">
            <a:normAutofit/>
          </a:bodyPr>
          <a:lstStyle/>
          <a:p>
            <a:pPr algn="l" indent="0" marL="0">
              <a:lnSpc>
                <a:spcPts val="2025"/>
              </a:lnSpc>
              <a:buNone/>
            </a:pPr>
            <a:r>
              <a:rPr lang="en-US" sz="1500" dirty="0">
                <a:solidFill>
                  <a:srgbClr val="4A5568"/>
                </a:solidFill>
                <a:latin typeface="IBM Plex Sans" pitchFamily="34" charset="0"/>
                <a:ea typeface="IBM Plex Sans" pitchFamily="34" charset="-122"/>
                <a:cs typeface="IBM Plex Sans" pitchFamily="34" charset="-120"/>
              </a:rPr>
              <a:t>It tells you what you're shipping and hands that to whatever scans it. It doesn't replace the security tooling we already pay for.</a:t>
            </a:r>
            <a:endParaRPr lang="en-US" sz="1500" dirty="0"/>
          </a:p>
        </p:txBody>
      </p:sp>
      <p:sp>
        <p:nvSpPr>
          <p:cNvPr id="6" name="Shape 4"/>
          <p:cNvSpPr/>
          <p:nvPr/>
        </p:nvSpPr>
        <p:spPr>
          <a:xfrm>
            <a:off x="815975" y="3060005"/>
            <a:ext cx="10560050" cy="1302990"/>
          </a:xfrm>
          <a:prstGeom prst="roundRect">
            <a:avLst>
              <a:gd name="adj" fmla="val 7554"/>
            </a:avLst>
          </a:prstGeom>
          <a:solidFill>
            <a:srgbClr val="FFFFFF"/>
          </a:solidFill>
          <a:ln w="6350">
            <a:solidFill>
              <a:srgbClr val="DFE3DE"/>
            </a:solidFill>
            <a:prstDash val="solid"/>
          </a:ln>
        </p:spPr>
      </p:sp>
      <p:sp>
        <p:nvSpPr>
          <p:cNvPr id="7" name="Text 5"/>
          <p:cNvSpPr/>
          <p:nvPr/>
        </p:nvSpPr>
        <p:spPr>
          <a:xfrm>
            <a:off x="1073150" y="3291780"/>
            <a:ext cx="10347071" cy="299690"/>
          </a:xfrm>
          <a:prstGeom prst="rect">
            <a:avLst/>
          </a:prstGeom>
          <a:noFill/>
          <a:ln/>
        </p:spPr>
        <p:txBody>
          <a:bodyPr wrap="square" lIns="0" tIns="0" rIns="0" bIns="0" rtlCol="0" anchor="t">
            <a:normAutofit/>
          </a:bodyPr>
          <a:lstStyle/>
          <a:p>
            <a:pPr algn="l" indent="0" marL="0">
              <a:lnSpc>
                <a:spcPts val="2160"/>
              </a:lnSpc>
              <a:buNone/>
            </a:pPr>
            <a:r>
              <a:rPr lang="en-US" sz="1800" b="1" dirty="0">
                <a:solidFill>
                  <a:srgbClr val="10212B"/>
                </a:solidFill>
                <a:latin typeface="IBM Plex Sans" pitchFamily="34" charset="0"/>
                <a:ea typeface="IBM Plex Sans" pitchFamily="34" charset="-122"/>
                <a:cs typeface="IBM Plex Sans" pitchFamily="34" charset="-120"/>
              </a:rPr>
              <a:t>Not a policy engine for the whole company</a:t>
            </a:r>
            <a:endParaRPr lang="en-US" sz="1800" dirty="0"/>
          </a:p>
        </p:txBody>
      </p:sp>
      <p:sp>
        <p:nvSpPr>
          <p:cNvPr id="8" name="Text 6"/>
          <p:cNvSpPr/>
          <p:nvPr/>
        </p:nvSpPr>
        <p:spPr>
          <a:xfrm>
            <a:off x="1073150" y="3616871"/>
            <a:ext cx="10347071" cy="539750"/>
          </a:xfrm>
          <a:prstGeom prst="rect">
            <a:avLst/>
          </a:prstGeom>
          <a:noFill/>
          <a:ln/>
        </p:spPr>
        <p:txBody>
          <a:bodyPr wrap="square" lIns="0" tIns="0" rIns="0" bIns="0" rtlCol="0" anchor="t">
            <a:normAutofit/>
          </a:bodyPr>
          <a:lstStyle/>
          <a:p>
            <a:pPr algn="l" indent="0" marL="0">
              <a:lnSpc>
                <a:spcPts val="2025"/>
              </a:lnSpc>
              <a:buNone/>
            </a:pPr>
            <a:r>
              <a:rPr lang="en-US" sz="1500" dirty="0">
                <a:solidFill>
                  <a:srgbClr val="4A5568"/>
                </a:solidFill>
                <a:latin typeface="IBM Plex Sans" pitchFamily="34" charset="0"/>
                <a:ea typeface="IBM Plex Sans" pitchFamily="34" charset="-122"/>
                <a:cs typeface="IBM Plex Sans" pitchFamily="34" charset="-120"/>
              </a:rPr>
              <a:t>It enforces license and vulnerability rules for one build. Governance across every team is a different problem with different owners.</a:t>
            </a:r>
            <a:endParaRPr lang="en-US" sz="1500" dirty="0"/>
          </a:p>
        </p:txBody>
      </p:sp>
      <p:sp>
        <p:nvSpPr>
          <p:cNvPr id="9" name="Shape 7"/>
          <p:cNvSpPr/>
          <p:nvPr/>
        </p:nvSpPr>
        <p:spPr>
          <a:xfrm>
            <a:off x="815975" y="4521746"/>
            <a:ext cx="10560050" cy="1302990"/>
          </a:xfrm>
          <a:prstGeom prst="roundRect">
            <a:avLst>
              <a:gd name="adj" fmla="val 7554"/>
            </a:avLst>
          </a:prstGeom>
          <a:solidFill>
            <a:srgbClr val="FFFFFF"/>
          </a:solidFill>
          <a:ln w="6350">
            <a:solidFill>
              <a:srgbClr val="DFE3DE"/>
            </a:solidFill>
            <a:prstDash val="solid"/>
          </a:ln>
        </p:spPr>
      </p:sp>
      <p:sp>
        <p:nvSpPr>
          <p:cNvPr id="10" name="Text 8"/>
          <p:cNvSpPr/>
          <p:nvPr/>
        </p:nvSpPr>
        <p:spPr>
          <a:xfrm>
            <a:off x="1073150" y="4753521"/>
            <a:ext cx="10347071" cy="299690"/>
          </a:xfrm>
          <a:prstGeom prst="rect">
            <a:avLst/>
          </a:prstGeom>
          <a:noFill/>
          <a:ln/>
        </p:spPr>
        <p:txBody>
          <a:bodyPr wrap="square" lIns="0" tIns="0" rIns="0" bIns="0" rtlCol="0" anchor="t">
            <a:normAutofit/>
          </a:bodyPr>
          <a:lstStyle/>
          <a:p>
            <a:pPr algn="l" indent="0" marL="0">
              <a:lnSpc>
                <a:spcPts val="2160"/>
              </a:lnSpc>
              <a:buNone/>
            </a:pPr>
            <a:r>
              <a:rPr lang="en-US" sz="1800" b="1" dirty="0">
                <a:solidFill>
                  <a:srgbClr val="10212B"/>
                </a:solidFill>
                <a:latin typeface="IBM Plex Sans" pitchFamily="34" charset="0"/>
                <a:ea typeface="IBM Plex Sans" pitchFamily="34" charset="-122"/>
                <a:cs typeface="IBM Plex Sans" pitchFamily="34" charset="-120"/>
              </a:rPr>
              <a:t>Not a promise that nothing is missing</a:t>
            </a:r>
            <a:endParaRPr lang="en-US" sz="1800" dirty="0"/>
          </a:p>
        </p:txBody>
      </p:sp>
      <p:sp>
        <p:nvSpPr>
          <p:cNvPr id="11" name="Text 9"/>
          <p:cNvSpPr/>
          <p:nvPr/>
        </p:nvSpPr>
        <p:spPr>
          <a:xfrm>
            <a:off x="1073150" y="5078611"/>
            <a:ext cx="10347071" cy="539750"/>
          </a:xfrm>
          <a:prstGeom prst="rect">
            <a:avLst/>
          </a:prstGeom>
          <a:noFill/>
          <a:ln/>
        </p:spPr>
        <p:txBody>
          <a:bodyPr wrap="square" lIns="0" tIns="0" rIns="0" bIns="0" rtlCol="0" anchor="t">
            <a:normAutofit/>
          </a:bodyPr>
          <a:lstStyle/>
          <a:p>
            <a:pPr algn="l" indent="0" marL="0">
              <a:lnSpc>
                <a:spcPts val="2025"/>
              </a:lnSpc>
              <a:buNone/>
            </a:pPr>
            <a:r>
              <a:rPr lang="en-US" sz="1500" dirty="0">
                <a:solidFill>
                  <a:srgbClr val="4A5568"/>
                </a:solidFill>
                <a:latin typeface="IBM Plex Sans" pitchFamily="34" charset="0"/>
                <a:ea typeface="IBM Plex Sans" pitchFamily="34" charset="-122"/>
                <a:cs typeface="IBM Plex Sans" pitchFamily="34" charset="-120"/>
              </a:rPr>
              <a:t>When an upstream publishes no license or no advisory, the document says so instead of filling in a guess. You can tell an unanswered question from an empty answer.</a:t>
            </a:r>
            <a:endParaRPr lang="en-US" sz="15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8F6"/>
        </a:solidFill>
      </p:bgPr>
    </p:bg>
    <p:spTree>
      <p:nvGrpSpPr>
        <p:cNvPr id="1" name=""/>
        <p:cNvGrpSpPr/>
        <p:nvPr/>
      </p:nvGrpSpPr>
      <p:grpSpPr>
        <a:xfrm>
          <a:off x="0" y="0"/>
          <a:ext cx="0" cy="0"/>
          <a:chOff x="0" y="0"/>
          <a:chExt cx="0" cy="0"/>
        </a:xfrm>
      </p:grpSpPr>
      <p:sp>
        <p:nvSpPr>
          <p:cNvPr id="2" name="Text 0"/>
          <p:cNvSpPr/>
          <p:nvPr/>
        </p:nvSpPr>
        <p:spPr>
          <a:xfrm>
            <a:off x="812800" y="812800"/>
            <a:ext cx="10883392" cy="528290"/>
          </a:xfrm>
          <a:prstGeom prst="rect">
            <a:avLst/>
          </a:prstGeom>
          <a:noFill/>
          <a:ln/>
        </p:spPr>
        <p:txBody>
          <a:bodyPr wrap="square" lIns="0" tIns="0" rIns="0" bIns="0" rtlCol="0" anchor="t">
            <a:normAutofit/>
          </a:bodyPr>
          <a:lstStyle/>
          <a:p>
            <a:pPr algn="l" indent="0" marL="0">
              <a:lnSpc>
                <a:spcPts val="3960"/>
              </a:lnSpc>
              <a:buNone/>
            </a:pPr>
            <a:r>
              <a:rPr lang="en-US" sz="3600" b="1" dirty="0">
                <a:solidFill>
                  <a:srgbClr val="10212B"/>
                </a:solidFill>
                <a:latin typeface="IBM Plex Sans" pitchFamily="34" charset="0"/>
                <a:ea typeface="IBM Plex Sans" pitchFamily="34" charset="-122"/>
                <a:cs typeface="IBM Plex Sans" pitchFamily="34" charset="-120"/>
              </a:rPr>
              <a:t>What a team gets out of it</a:t>
            </a:r>
            <a:endParaRPr lang="en-US" sz="3600" dirty="0"/>
          </a:p>
        </p:txBody>
      </p:sp>
      <p:sp>
        <p:nvSpPr>
          <p:cNvPr id="3" name="Shape 1"/>
          <p:cNvSpPr/>
          <p:nvPr/>
        </p:nvSpPr>
        <p:spPr>
          <a:xfrm>
            <a:off x="812800" y="1576040"/>
            <a:ext cx="10566400" cy="0"/>
          </a:xfrm>
          <a:prstGeom prst="line">
            <a:avLst/>
          </a:prstGeom>
          <a:noFill/>
          <a:ln w="12700">
            <a:solidFill>
              <a:srgbClr val="141413">
                <a:alpha val="22000"/>
              </a:srgbClr>
            </a:solidFill>
            <a:prstDash val="solid"/>
          </a:ln>
        </p:spPr>
      </p:sp>
      <p:sp>
        <p:nvSpPr>
          <p:cNvPr id="4" name="Shape 2"/>
          <p:cNvSpPr/>
          <p:nvPr/>
        </p:nvSpPr>
        <p:spPr>
          <a:xfrm>
            <a:off x="819150" y="1569690"/>
            <a:ext cx="0" cy="3251200"/>
          </a:xfrm>
          <a:prstGeom prst="line">
            <a:avLst/>
          </a:prstGeom>
          <a:noFill/>
          <a:ln w="12700">
            <a:solidFill>
              <a:srgbClr val="141413">
                <a:alpha val="22000"/>
              </a:srgbClr>
            </a:solidFill>
            <a:prstDash val="solid"/>
          </a:ln>
        </p:spPr>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965200" y="1696690"/>
          <a:ext cx="10274300" cy="3009900"/>
        </p:xfrm>
        <a:graphic>
          <a:graphicData uri="http://schemas.openxmlformats.org/drawingml/2006/table">
            <a:tbl>
              <a:tblPr/>
              <a:tblGrid>
                <a:gridCol w="4726178"/>
                <a:gridCol w="3493262"/>
                <a:gridCol w="2054860"/>
              </a:tblGrid>
              <a:tr h="412750">
                <a:tc>
                  <a:txBody>
                    <a:bodyPr/>
                    <a:lstStyle/>
                    <a:p>
                      <a:pPr indent="0" marL="0">
                        <a:lnSpc>
                          <a:spcPts val="2100"/>
                        </a:lnSpc>
                        <a:buNone/>
                      </a:pPr>
                      <a:r>
                        <a:rPr lang="en-US" sz="1500" b="1" dirty="0">
                          <a:solidFill>
                            <a:srgbClr val="F7F8F6"/>
                          </a:solidFill>
                          <a:latin typeface="IBM Plex Sans" pitchFamily="34" charset="0"/>
                          <a:ea typeface="IBM Plex Sans" pitchFamily="34" charset="-122"/>
                          <a:cs typeface="IBM Plex Sans" pitchFamily="34" charset="-120"/>
                        </a:rPr>
                        <a:t>How it goes today</a:t>
                      </a:r>
                      <a:endParaRPr lang="en-US" sz="1500" dirty="0">
                        <a:latin typeface="IBM Plex Sans" charset="0"/>
                        <a:ea typeface="IBM Plex Sans" charset="0"/>
                        <a:cs typeface="IBM Plex Sans" charset="0"/>
                      </a:endParaRPr>
                    </a:p>
                  </a:txBody>
                  <a:tcPr marL="66675" marR="66675" marT="66675" marB="66675" anchor="t">
                    <a:lnL w="0" cap="flat" cmpd="sng" algn="ctr">
                      <a:noFill/>
                    </a:lnL>
                    <a:lnR w="12700" cap="flat" cmpd="sng" algn="ctr">
                      <a:solidFill>
                        <a:srgbClr val="111E26"/>
                      </a:solidFill>
                      <a:prstDash val="solid"/>
                      <a:round/>
                      <a:headEnd type="none" w="med" len="med"/>
                      <a:tailEnd type="none" w="med" len="med"/>
                    </a:lnR>
                    <a:lnT w="0" cap="flat" cmpd="sng" algn="ctr">
                      <a:noFill/>
                    </a:lnT>
                    <a:lnB w="12700" cap="flat" cmpd="sng" algn="ctr">
                      <a:solidFill>
                        <a:srgbClr val="111E26"/>
                      </a:solidFill>
                      <a:prstDash val="solid"/>
                      <a:round/>
                      <a:headEnd type="none" w="med" len="med"/>
                      <a:tailEnd type="none" w="med" len="med"/>
                    </a:lnB>
                    <a:solidFill>
                      <a:srgbClr val="10212B"/>
                    </a:solidFill>
                  </a:tcPr>
                </a:tc>
                <a:tc>
                  <a:txBody>
                    <a:bodyPr/>
                    <a:lstStyle/>
                    <a:p>
                      <a:pPr indent="0" marL="0">
                        <a:lnSpc>
                          <a:spcPts val="2100"/>
                        </a:lnSpc>
                        <a:buNone/>
                      </a:pPr>
                      <a:r>
                        <a:rPr lang="en-US" sz="1500" b="1" dirty="0">
                          <a:solidFill>
                            <a:srgbClr val="F7F8F6"/>
                          </a:solidFill>
                          <a:latin typeface="IBM Plex Sans" pitchFamily="34" charset="0"/>
                          <a:ea typeface="IBM Plex Sans" pitchFamily="34" charset="-122"/>
                          <a:cs typeface="IBM Plex Sans" pitchFamily="34" charset="-120"/>
                        </a:rPr>
                        <a:t>With this in CI</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111E26"/>
                      </a:solidFill>
                      <a:prstDash val="solid"/>
                      <a:round/>
                      <a:headEnd type="none" w="med" len="med"/>
                      <a:tailEnd type="none" w="med" len="med"/>
                    </a:lnL>
                    <a:lnR w="12700" cap="flat" cmpd="sng" algn="ctr">
                      <a:solidFill>
                        <a:srgbClr val="111E26"/>
                      </a:solidFill>
                      <a:prstDash val="solid"/>
                      <a:round/>
                      <a:headEnd type="none" w="med" len="med"/>
                      <a:tailEnd type="none" w="med" len="med"/>
                    </a:lnR>
                    <a:lnT w="0" cap="flat" cmpd="sng" algn="ctr">
                      <a:noFill/>
                    </a:lnT>
                    <a:lnB w="12700" cap="flat" cmpd="sng" algn="ctr">
                      <a:solidFill>
                        <a:srgbClr val="111E26"/>
                      </a:solidFill>
                      <a:prstDash val="solid"/>
                      <a:round/>
                      <a:headEnd type="none" w="med" len="med"/>
                      <a:tailEnd type="none" w="med" len="med"/>
                    </a:lnB>
                    <a:solidFill>
                      <a:srgbClr val="10212B"/>
                    </a:solidFill>
                  </a:tcPr>
                </a:tc>
                <a:tc>
                  <a:txBody>
                    <a:bodyPr/>
                    <a:lstStyle/>
                    <a:p>
                      <a:pPr indent="0" marL="0">
                        <a:lnSpc>
                          <a:spcPts val="2100"/>
                        </a:lnSpc>
                        <a:buNone/>
                      </a:pPr>
                      <a:r>
                        <a:rPr lang="en-US" sz="1500" b="1" dirty="0">
                          <a:solidFill>
                            <a:srgbClr val="F7F8F6"/>
                          </a:solidFill>
                          <a:latin typeface="IBM Plex Sans" pitchFamily="34" charset="0"/>
                          <a:ea typeface="IBM Plex Sans" pitchFamily="34" charset="-122"/>
                          <a:cs typeface="IBM Plex Sans" pitchFamily="34" charset="-120"/>
                        </a:rPr>
                        <a:t>Signal</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111E26"/>
                      </a:solidFill>
                      <a:prstDash val="solid"/>
                      <a:round/>
                      <a:headEnd type="none" w="med" len="med"/>
                      <a:tailEnd type="none" w="med" len="med"/>
                    </a:lnL>
                    <a:lnR w="12700" cap="flat" cmpd="sng" algn="ctr">
                      <a:solidFill>
                        <a:srgbClr val="111E26"/>
                      </a:solidFill>
                      <a:prstDash val="solid"/>
                      <a:round/>
                      <a:headEnd type="none" w="med" len="med"/>
                      <a:tailEnd type="none" w="med" len="med"/>
                    </a:lnR>
                    <a:lnT w="0" cap="flat" cmpd="sng" algn="ctr">
                      <a:noFill/>
                    </a:lnT>
                    <a:lnB w="12700" cap="flat" cmpd="sng" algn="ctr">
                      <a:solidFill>
                        <a:srgbClr val="111E26"/>
                      </a:solidFill>
                      <a:prstDash val="solid"/>
                      <a:round/>
                      <a:headEnd type="none" w="med" len="med"/>
                      <a:tailEnd type="none" w="med" len="med"/>
                    </a:lnB>
                    <a:solidFill>
                      <a:srgbClr val="10212B"/>
                    </a:solidFill>
                  </a:tcPr>
                </a:tc>
              </a:tr>
              <a:tr h="412750">
                <a:tc>
                  <a:txBody>
                    <a:bodyPr/>
                    <a:lstStyle/>
                    <a:p>
                      <a:pPr indent="0" marL="0">
                        <a:lnSpc>
                          <a:spcPts val="2100"/>
                        </a:lnSpc>
                        <a:buNone/>
                      </a:pPr>
                      <a:r>
                        <a:rPr lang="en-US" sz="1500" dirty="0">
                          <a:solidFill>
                            <a:srgbClr val="10212B"/>
                          </a:solidFill>
                          <a:latin typeface="IBM Plex Sans" pitchFamily="34" charset="0"/>
                          <a:ea typeface="IBM Plex Sans" pitchFamily="34" charset="-122"/>
                          <a:cs typeface="IBM Plex Sans" pitchFamily="34" charset="-120"/>
                        </a:rPr>
                        <a:t>Someone asks if we're exposed to a CVE</a:t>
                      </a:r>
                      <a:endParaRPr lang="en-US" sz="1500" dirty="0">
                        <a:latin typeface="IBM Plex Sans" charset="0"/>
                        <a:ea typeface="IBM Plex Sans" charset="0"/>
                        <a:cs typeface="IBM Plex Sans" charset="0"/>
                      </a:endParaRPr>
                    </a:p>
                  </a:txBody>
                  <a:tcPr marL="66675" marR="66675" marT="66675" marB="66675" anchor="t">
                    <a:lnL w="0" cap="flat" cmpd="sng" algn="ctr">
                      <a:noFill/>
                    </a:lnL>
                    <a:lnR w="12700" cap="flat" cmpd="sng" algn="ctr">
                      <a:solidFill>
                        <a:srgbClr val="C5C6C4"/>
                      </a:solidFill>
                      <a:prstDash val="solid"/>
                      <a:round/>
                      <a:headEnd type="none" w="med" len="med"/>
                      <a:tailEnd type="none" w="med" len="med"/>
                    </a:lnR>
                    <a:lnT w="12700" cap="flat" cmpd="sng" algn="ctr">
                      <a:solidFill>
                        <a:srgbClr val="111E26"/>
                      </a:solidFill>
                      <a:prstDash val="solid"/>
                      <a:round/>
                      <a:headEnd type="none" w="med" len="med"/>
                      <a:tailEnd type="none" w="med" len="med"/>
                    </a:lnT>
                    <a:lnB w="12700" cap="flat" cmpd="sng" algn="ctr">
                      <a:solidFill>
                        <a:srgbClr val="C5C6C4"/>
                      </a:solidFill>
                      <a:prstDash val="solid"/>
                      <a:round/>
                      <a:headEnd type="none" w="med" len="med"/>
                      <a:tailEnd type="none" w="med" len="med"/>
                    </a:lnB>
                  </a:tcPr>
                </a:tc>
                <a:tc>
                  <a:txBody>
                    <a:bodyPr/>
                    <a:lstStyle/>
                    <a:p>
                      <a:pPr indent="0" marL="0">
                        <a:lnSpc>
                          <a:spcPts val="2100"/>
                        </a:lnSpc>
                        <a:buNone/>
                      </a:pPr>
                      <a:r>
                        <a:rPr lang="en-US" sz="1500" dirty="0">
                          <a:solidFill>
                            <a:srgbClr val="10212B"/>
                          </a:solidFill>
                          <a:latin typeface="IBM Plex Sans" pitchFamily="34" charset="0"/>
                          <a:ea typeface="IBM Plex Sans" pitchFamily="34" charset="-122"/>
                          <a:cs typeface="IBM Plex Sans" pitchFamily="34" charset="-120"/>
                        </a:rPr>
                        <a:t>Search the document for that release</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5C6C4"/>
                      </a:solidFill>
                      <a:prstDash val="solid"/>
                      <a:round/>
                      <a:headEnd type="none" w="med" len="med"/>
                      <a:tailEnd type="none" w="med" len="med"/>
                    </a:lnL>
                    <a:lnR w="12700" cap="flat" cmpd="sng" algn="ctr">
                      <a:solidFill>
                        <a:srgbClr val="C5C6C4"/>
                      </a:solidFill>
                      <a:prstDash val="solid"/>
                      <a:round/>
                      <a:headEnd type="none" w="med" len="med"/>
                      <a:tailEnd type="none" w="med" len="med"/>
                    </a:lnR>
                    <a:lnT w="12700" cap="flat" cmpd="sng" algn="ctr">
                      <a:solidFill>
                        <a:srgbClr val="111E26"/>
                      </a:solidFill>
                      <a:prstDash val="solid"/>
                      <a:round/>
                      <a:headEnd type="none" w="med" len="med"/>
                      <a:tailEnd type="none" w="med" len="med"/>
                    </a:lnT>
                    <a:lnB w="12700" cap="flat" cmpd="sng" algn="ctr">
                      <a:solidFill>
                        <a:srgbClr val="C5C6C4"/>
                      </a:solidFill>
                      <a:prstDash val="solid"/>
                      <a:round/>
                      <a:headEnd type="none" w="med" len="med"/>
                      <a:tailEnd type="none" w="med" len="med"/>
                    </a:lnB>
                  </a:tcPr>
                </a:tc>
                <a:tc>
                  <a:txBody>
                    <a:bodyPr/>
                    <a:lstStyle/>
                    <a:p>
                      <a:pPr indent="0" marL="0">
                        <a:lnSpc>
                          <a:spcPts val="2100"/>
                        </a:lnSpc>
                        <a:buNone/>
                      </a:pPr>
                      <a:r>
                        <a:rPr lang="en-US" sz="1500" dirty="0">
                          <a:solidFill>
                            <a:srgbClr val="10212B"/>
                          </a:solidFill>
                          <a:latin typeface="IBM Plex Sans" pitchFamily="34" charset="0"/>
                          <a:ea typeface="IBM Plex Sans" pitchFamily="34" charset="-122"/>
                          <a:cs typeface="IBM Plex Sans" pitchFamily="34" charset="-120"/>
                        </a:rPr>
                        <a:t>Minutes, not a day</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5C6C4"/>
                      </a:solidFill>
                      <a:prstDash val="solid"/>
                      <a:round/>
                      <a:headEnd type="none" w="med" len="med"/>
                      <a:tailEnd type="none" w="med" len="med"/>
                    </a:lnL>
                    <a:lnR w="12700" cap="flat" cmpd="sng" algn="ctr">
                      <a:solidFill>
                        <a:srgbClr val="C5C6C4"/>
                      </a:solidFill>
                      <a:prstDash val="solid"/>
                      <a:round/>
                      <a:headEnd type="none" w="med" len="med"/>
                      <a:tailEnd type="none" w="med" len="med"/>
                    </a:lnR>
                    <a:lnT w="12700" cap="flat" cmpd="sng" algn="ctr">
                      <a:solidFill>
                        <a:srgbClr val="111E26"/>
                      </a:solidFill>
                      <a:prstDash val="solid"/>
                      <a:round/>
                      <a:headEnd type="none" w="med" len="med"/>
                      <a:tailEnd type="none" w="med" len="med"/>
                    </a:lnT>
                    <a:lnB w="12700" cap="flat" cmpd="sng" algn="ctr">
                      <a:solidFill>
                        <a:srgbClr val="C5C6C4"/>
                      </a:solidFill>
                      <a:prstDash val="solid"/>
                      <a:round/>
                      <a:headEnd type="none" w="med" len="med"/>
                      <a:tailEnd type="none" w="med" len="med"/>
                    </a:lnB>
                  </a:tcPr>
                </a:tc>
              </a:tr>
              <a:tr h="679450">
                <a:tc>
                  <a:txBody>
                    <a:bodyPr/>
                    <a:lstStyle/>
                    <a:p>
                      <a:pPr indent="0" marL="0">
                        <a:lnSpc>
                          <a:spcPts val="2100"/>
                        </a:lnSpc>
                        <a:buNone/>
                      </a:pPr>
                      <a:r>
                        <a:rPr lang="en-US" sz="1500" dirty="0">
                          <a:solidFill>
                            <a:srgbClr val="10212B"/>
                          </a:solidFill>
                          <a:latin typeface="IBM Plex Sans" pitchFamily="34" charset="0"/>
                          <a:ea typeface="IBM Plex Sans" pitchFamily="34" charset="-122"/>
                          <a:cs typeface="IBM Plex Sans" pitchFamily="34" charset="-120"/>
                        </a:rPr>
                        <a:t>A copyleft license rides in on a transitive dependency</a:t>
                      </a:r>
                      <a:endParaRPr lang="en-US" sz="1500" dirty="0">
                        <a:latin typeface="IBM Plex Sans" charset="0"/>
                        <a:ea typeface="IBM Plex Sans" charset="0"/>
                        <a:cs typeface="IBM Plex Sans" charset="0"/>
                      </a:endParaRPr>
                    </a:p>
                  </a:txBody>
                  <a:tcPr marL="66675" marR="66675" marT="66675" marB="66675" anchor="t">
                    <a:lnL w="0" cap="flat" cmpd="sng" algn="ctr">
                      <a:noFill/>
                    </a:lnL>
                    <a:lnR w="12700" cap="flat" cmpd="sng" algn="ctr">
                      <a:solidFill>
                        <a:srgbClr val="BFC1BE"/>
                      </a:solidFill>
                      <a:prstDash val="solid"/>
                      <a:round/>
                      <a:headEnd type="none" w="med" len="med"/>
                      <a:tailEnd type="none" w="med" len="med"/>
                    </a:lnR>
                    <a:lnT w="12700" cap="flat" cmpd="sng" algn="ctr">
                      <a:solidFill>
                        <a:srgbClr val="C5C6C4"/>
                      </a:solidFill>
                      <a:prstDash val="solid"/>
                      <a:round/>
                      <a:headEnd type="none" w="med" len="med"/>
                      <a:tailEnd type="none" w="med" len="med"/>
                    </a:lnT>
                    <a:lnB w="12700" cap="flat" cmpd="sng" algn="ctr">
                      <a:solidFill>
                        <a:srgbClr val="BFC1BE"/>
                      </a:solidFill>
                      <a:prstDash val="solid"/>
                      <a:round/>
                      <a:headEnd type="none" w="med" len="med"/>
                      <a:tailEnd type="none" w="med" len="med"/>
                    </a:lnB>
                    <a:solidFill>
                      <a:srgbClr val="EFF2EE"/>
                    </a:solidFill>
                  </a:tcPr>
                </a:tc>
                <a:tc>
                  <a:txBody>
                    <a:bodyPr/>
                    <a:lstStyle/>
                    <a:p>
                      <a:pPr indent="0" marL="0">
                        <a:lnSpc>
                          <a:spcPts val="2100"/>
                        </a:lnSpc>
                        <a:buNone/>
                      </a:pPr>
                      <a:r>
                        <a:rPr lang="en-US" sz="1500" dirty="0">
                          <a:solidFill>
                            <a:srgbClr val="10212B"/>
                          </a:solidFill>
                          <a:latin typeface="IBM Plex Sans" pitchFamily="34" charset="0"/>
                          <a:ea typeface="IBM Plex Sans" pitchFamily="34" charset="-122"/>
                          <a:cs typeface="IBM Plex Sans" pitchFamily="34" charset="-120"/>
                        </a:rPr>
                        <a:t>The build stops before it ships</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BFC1BE"/>
                      </a:solidFill>
                      <a:prstDash val="solid"/>
                      <a:round/>
                      <a:headEnd type="none" w="med" len="med"/>
                      <a:tailEnd type="none" w="med" len="med"/>
                    </a:lnL>
                    <a:lnR w="12700" cap="flat" cmpd="sng" algn="ctr">
                      <a:solidFill>
                        <a:srgbClr val="BFC1BE"/>
                      </a:solidFill>
                      <a:prstDash val="solid"/>
                      <a:round/>
                      <a:headEnd type="none" w="med" len="med"/>
                      <a:tailEnd type="none" w="med" len="med"/>
                    </a:lnR>
                    <a:lnT w="12700" cap="flat" cmpd="sng" algn="ctr">
                      <a:solidFill>
                        <a:srgbClr val="C5C6C4"/>
                      </a:solidFill>
                      <a:prstDash val="solid"/>
                      <a:round/>
                      <a:headEnd type="none" w="med" len="med"/>
                      <a:tailEnd type="none" w="med" len="med"/>
                    </a:lnT>
                    <a:lnB w="12700" cap="flat" cmpd="sng" algn="ctr">
                      <a:solidFill>
                        <a:srgbClr val="BFC1BE"/>
                      </a:solidFill>
                      <a:prstDash val="solid"/>
                      <a:round/>
                      <a:headEnd type="none" w="med" len="med"/>
                      <a:tailEnd type="none" w="med" len="med"/>
                    </a:lnB>
                    <a:solidFill>
                      <a:srgbClr val="EFF2EE"/>
                    </a:solidFill>
                  </a:tcPr>
                </a:tc>
                <a:tc>
                  <a:txBody>
                    <a:bodyPr/>
                    <a:lstStyle/>
                    <a:p>
                      <a:pPr indent="0" marL="0">
                        <a:lnSpc>
                          <a:spcPts val="2100"/>
                        </a:lnSpc>
                        <a:buNone/>
                      </a:pPr>
                      <a:r>
                        <a:rPr lang="en-US" sz="1500" dirty="0">
                          <a:solidFill>
                            <a:srgbClr val="10212B"/>
                          </a:solidFill>
                          <a:latin typeface="IBM Plex Sans" pitchFamily="34" charset="0"/>
                          <a:ea typeface="IBM Plex Sans" pitchFamily="34" charset="-122"/>
                          <a:cs typeface="IBM Plex Sans" pitchFamily="34" charset="-120"/>
                        </a:rPr>
                        <a:t>Exit 3</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BFC1BE"/>
                      </a:solidFill>
                      <a:prstDash val="solid"/>
                      <a:round/>
                      <a:headEnd type="none" w="med" len="med"/>
                      <a:tailEnd type="none" w="med" len="med"/>
                    </a:lnL>
                    <a:lnR w="12700" cap="flat" cmpd="sng" algn="ctr">
                      <a:solidFill>
                        <a:srgbClr val="BFC1BE"/>
                      </a:solidFill>
                      <a:prstDash val="solid"/>
                      <a:round/>
                      <a:headEnd type="none" w="med" len="med"/>
                      <a:tailEnd type="none" w="med" len="med"/>
                    </a:lnR>
                    <a:lnT w="12700" cap="flat" cmpd="sng" algn="ctr">
                      <a:solidFill>
                        <a:srgbClr val="C5C6C4"/>
                      </a:solidFill>
                      <a:prstDash val="solid"/>
                      <a:round/>
                      <a:headEnd type="none" w="med" len="med"/>
                      <a:tailEnd type="none" w="med" len="med"/>
                    </a:lnT>
                    <a:lnB w="12700" cap="flat" cmpd="sng" algn="ctr">
                      <a:solidFill>
                        <a:srgbClr val="BFC1BE"/>
                      </a:solidFill>
                      <a:prstDash val="solid"/>
                      <a:round/>
                      <a:headEnd type="none" w="med" len="med"/>
                      <a:tailEnd type="none" w="med" len="med"/>
                    </a:lnB>
                    <a:solidFill>
                      <a:srgbClr val="EFF2EE"/>
                    </a:solidFill>
                  </a:tcPr>
                </a:tc>
              </a:tr>
              <a:tr h="679450">
                <a:tc>
                  <a:txBody>
                    <a:bodyPr/>
                    <a:lstStyle/>
                    <a:p>
                      <a:pPr indent="0" marL="0">
                        <a:lnSpc>
                          <a:spcPts val="2100"/>
                        </a:lnSpc>
                        <a:buNone/>
                      </a:pPr>
                      <a:r>
                        <a:rPr lang="en-US" sz="1500" dirty="0">
                          <a:solidFill>
                            <a:srgbClr val="10212B"/>
                          </a:solidFill>
                          <a:latin typeface="IBM Plex Sans" pitchFamily="34" charset="0"/>
                          <a:ea typeface="IBM Plex Sans" pitchFamily="34" charset="-122"/>
                          <a:cs typeface="IBM Plex Sans" pitchFamily="34" charset="-120"/>
                        </a:rPr>
                        <a:t>A dependency has a known-exploited vulnerability</a:t>
                      </a:r>
                      <a:endParaRPr lang="en-US" sz="1500" dirty="0">
                        <a:latin typeface="IBM Plex Sans" charset="0"/>
                        <a:ea typeface="IBM Plex Sans" charset="0"/>
                        <a:cs typeface="IBM Plex Sans" charset="0"/>
                      </a:endParaRPr>
                    </a:p>
                  </a:txBody>
                  <a:tcPr marL="66675" marR="66675" marT="66675" marB="66675" anchor="t">
                    <a:lnL w="0" cap="flat" cmpd="sng" algn="ctr">
                      <a:noFill/>
                    </a:lnL>
                    <a:lnR w="12700" cap="flat" cmpd="sng" algn="ctr">
                      <a:solidFill>
                        <a:srgbClr val="C5C6C4"/>
                      </a:solidFill>
                      <a:prstDash val="solid"/>
                      <a:round/>
                      <a:headEnd type="none" w="med" len="med"/>
                      <a:tailEnd type="none" w="med" len="med"/>
                    </a:lnR>
                    <a:lnT w="12700" cap="flat" cmpd="sng" algn="ctr">
                      <a:solidFill>
                        <a:srgbClr val="BFC1BE"/>
                      </a:solidFill>
                      <a:prstDash val="solid"/>
                      <a:round/>
                      <a:headEnd type="none" w="med" len="med"/>
                      <a:tailEnd type="none" w="med" len="med"/>
                    </a:lnT>
                    <a:lnB w="12700" cap="flat" cmpd="sng" algn="ctr">
                      <a:solidFill>
                        <a:srgbClr val="C5C6C4"/>
                      </a:solidFill>
                      <a:prstDash val="solid"/>
                      <a:round/>
                      <a:headEnd type="none" w="med" len="med"/>
                      <a:tailEnd type="none" w="med" len="med"/>
                    </a:lnB>
                  </a:tcPr>
                </a:tc>
                <a:tc>
                  <a:txBody>
                    <a:bodyPr/>
                    <a:lstStyle/>
                    <a:p>
                      <a:pPr indent="0" marL="0">
                        <a:lnSpc>
                          <a:spcPts val="2100"/>
                        </a:lnSpc>
                        <a:buNone/>
                      </a:pPr>
                      <a:r>
                        <a:rPr lang="en-US" sz="1500" dirty="0">
                          <a:solidFill>
                            <a:srgbClr val="10212B"/>
                          </a:solidFill>
                          <a:latin typeface="IBM Plex Sans" pitchFamily="34" charset="0"/>
                          <a:ea typeface="IBM Plex Sans" pitchFamily="34" charset="-122"/>
                          <a:cs typeface="IBM Plex Sans" pitchFamily="34" charset="-120"/>
                        </a:rPr>
                        <a:t>The build stops and names the CISA entry</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5C6C4"/>
                      </a:solidFill>
                      <a:prstDash val="solid"/>
                      <a:round/>
                      <a:headEnd type="none" w="med" len="med"/>
                      <a:tailEnd type="none" w="med" len="med"/>
                    </a:lnL>
                    <a:lnR w="12700" cap="flat" cmpd="sng" algn="ctr">
                      <a:solidFill>
                        <a:srgbClr val="C5C6C4"/>
                      </a:solidFill>
                      <a:prstDash val="solid"/>
                      <a:round/>
                      <a:headEnd type="none" w="med" len="med"/>
                      <a:tailEnd type="none" w="med" len="med"/>
                    </a:lnR>
                    <a:lnT w="12700" cap="flat" cmpd="sng" algn="ctr">
                      <a:solidFill>
                        <a:srgbClr val="BFC1BE"/>
                      </a:solidFill>
                      <a:prstDash val="solid"/>
                      <a:round/>
                      <a:headEnd type="none" w="med" len="med"/>
                      <a:tailEnd type="none" w="med" len="med"/>
                    </a:lnT>
                    <a:lnB w="12700" cap="flat" cmpd="sng" algn="ctr">
                      <a:solidFill>
                        <a:srgbClr val="C5C6C4"/>
                      </a:solidFill>
                      <a:prstDash val="solid"/>
                      <a:round/>
                      <a:headEnd type="none" w="med" len="med"/>
                      <a:tailEnd type="none" w="med" len="med"/>
                    </a:lnB>
                  </a:tcPr>
                </a:tc>
                <a:tc>
                  <a:txBody>
                    <a:bodyPr/>
                    <a:lstStyle/>
                    <a:p>
                      <a:pPr indent="0" marL="0">
                        <a:lnSpc>
                          <a:spcPts val="2100"/>
                        </a:lnSpc>
                        <a:buNone/>
                      </a:pPr>
                      <a:r>
                        <a:rPr lang="en-US" sz="1500" dirty="0">
                          <a:solidFill>
                            <a:srgbClr val="10212B"/>
                          </a:solidFill>
                          <a:latin typeface="IBM Plex Sans" pitchFamily="34" charset="0"/>
                          <a:ea typeface="IBM Plex Sans" pitchFamily="34" charset="-122"/>
                          <a:cs typeface="IBM Plex Sans" pitchFamily="34" charset="-120"/>
                        </a:rPr>
                        <a:t>Exit 4</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5C6C4"/>
                      </a:solidFill>
                      <a:prstDash val="solid"/>
                      <a:round/>
                      <a:headEnd type="none" w="med" len="med"/>
                      <a:tailEnd type="none" w="med" len="med"/>
                    </a:lnL>
                    <a:lnR w="12700" cap="flat" cmpd="sng" algn="ctr">
                      <a:solidFill>
                        <a:srgbClr val="C5C6C4"/>
                      </a:solidFill>
                      <a:prstDash val="solid"/>
                      <a:round/>
                      <a:headEnd type="none" w="med" len="med"/>
                      <a:tailEnd type="none" w="med" len="med"/>
                    </a:lnR>
                    <a:lnT w="12700" cap="flat" cmpd="sng" algn="ctr">
                      <a:solidFill>
                        <a:srgbClr val="BFC1BE"/>
                      </a:solidFill>
                      <a:prstDash val="solid"/>
                      <a:round/>
                      <a:headEnd type="none" w="med" len="med"/>
                      <a:tailEnd type="none" w="med" len="med"/>
                    </a:lnT>
                    <a:lnB w="12700" cap="flat" cmpd="sng" algn="ctr">
                      <a:solidFill>
                        <a:srgbClr val="C5C6C4"/>
                      </a:solidFill>
                      <a:prstDash val="solid"/>
                      <a:round/>
                      <a:headEnd type="none" w="med" len="med"/>
                      <a:tailEnd type="none" w="med" len="med"/>
                    </a:lnB>
                  </a:tcPr>
                </a:tc>
              </a:tr>
              <a:tr h="412750">
                <a:tc>
                  <a:txBody>
                    <a:bodyPr/>
                    <a:lstStyle/>
                    <a:p>
                      <a:pPr indent="0" marL="0">
                        <a:lnSpc>
                          <a:spcPts val="2100"/>
                        </a:lnSpc>
                        <a:buNone/>
                      </a:pPr>
                      <a:r>
                        <a:rPr lang="en-US" sz="1500" dirty="0">
                          <a:solidFill>
                            <a:srgbClr val="10212B"/>
                          </a:solidFill>
                          <a:latin typeface="IBM Plex Sans" pitchFamily="34" charset="0"/>
                          <a:ea typeface="IBM Plex Sans" pitchFamily="34" charset="-122"/>
                          <a:cs typeface="IBM Plex Sans" pitchFamily="34" charset="-120"/>
                        </a:rPr>
                        <a:t>Code imports a package nobody declared</a:t>
                      </a:r>
                      <a:endParaRPr lang="en-US" sz="1500" dirty="0">
                        <a:latin typeface="IBM Plex Sans" charset="0"/>
                        <a:ea typeface="IBM Plex Sans" charset="0"/>
                        <a:cs typeface="IBM Plex Sans" charset="0"/>
                      </a:endParaRPr>
                    </a:p>
                  </a:txBody>
                  <a:tcPr marL="66675" marR="66675" marT="66675" marB="66675" anchor="t">
                    <a:lnL w="0" cap="flat" cmpd="sng" algn="ctr">
                      <a:noFill/>
                    </a:lnL>
                    <a:lnR w="12700" cap="flat" cmpd="sng" algn="ctr">
                      <a:solidFill>
                        <a:srgbClr val="BFC1BE"/>
                      </a:solidFill>
                      <a:prstDash val="solid"/>
                      <a:round/>
                      <a:headEnd type="none" w="med" len="med"/>
                      <a:tailEnd type="none" w="med" len="med"/>
                    </a:lnR>
                    <a:lnT w="12700" cap="flat" cmpd="sng" algn="ctr">
                      <a:solidFill>
                        <a:srgbClr val="C5C6C4"/>
                      </a:solidFill>
                      <a:prstDash val="solid"/>
                      <a:round/>
                      <a:headEnd type="none" w="med" len="med"/>
                      <a:tailEnd type="none" w="med" len="med"/>
                    </a:lnT>
                    <a:lnB w="12700" cap="flat" cmpd="sng" algn="ctr">
                      <a:solidFill>
                        <a:srgbClr val="BFC1BE"/>
                      </a:solidFill>
                      <a:prstDash val="solid"/>
                      <a:round/>
                      <a:headEnd type="none" w="med" len="med"/>
                      <a:tailEnd type="none" w="med" len="med"/>
                    </a:lnB>
                    <a:solidFill>
                      <a:srgbClr val="EFF2EE"/>
                    </a:solidFill>
                  </a:tcPr>
                </a:tc>
                <a:tc>
                  <a:txBody>
                    <a:bodyPr/>
                    <a:lstStyle/>
                    <a:p>
                      <a:pPr indent="0" marL="0">
                        <a:lnSpc>
                          <a:spcPts val="2100"/>
                        </a:lnSpc>
                        <a:buNone/>
                      </a:pPr>
                      <a:r>
                        <a:rPr lang="en-US" sz="1500" dirty="0">
                          <a:solidFill>
                            <a:srgbClr val="10212B"/>
                          </a:solidFill>
                          <a:latin typeface="IBM Plex Sans" pitchFamily="34" charset="0"/>
                          <a:ea typeface="IBM Plex Sans" pitchFamily="34" charset="-122"/>
                          <a:cs typeface="IBM Plex Sans" pitchFamily="34" charset="-120"/>
                        </a:rPr>
                        <a:t>Reported against the manifest</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BFC1BE"/>
                      </a:solidFill>
                      <a:prstDash val="solid"/>
                      <a:round/>
                      <a:headEnd type="none" w="med" len="med"/>
                      <a:tailEnd type="none" w="med" len="med"/>
                    </a:lnL>
                    <a:lnR w="12700" cap="flat" cmpd="sng" algn="ctr">
                      <a:solidFill>
                        <a:srgbClr val="BFC1BE"/>
                      </a:solidFill>
                      <a:prstDash val="solid"/>
                      <a:round/>
                      <a:headEnd type="none" w="med" len="med"/>
                      <a:tailEnd type="none" w="med" len="med"/>
                    </a:lnR>
                    <a:lnT w="12700" cap="flat" cmpd="sng" algn="ctr">
                      <a:solidFill>
                        <a:srgbClr val="C5C6C4"/>
                      </a:solidFill>
                      <a:prstDash val="solid"/>
                      <a:round/>
                      <a:headEnd type="none" w="med" len="med"/>
                      <a:tailEnd type="none" w="med" len="med"/>
                    </a:lnT>
                    <a:lnB w="12700" cap="flat" cmpd="sng" algn="ctr">
                      <a:solidFill>
                        <a:srgbClr val="BFC1BE"/>
                      </a:solidFill>
                      <a:prstDash val="solid"/>
                      <a:round/>
                      <a:headEnd type="none" w="med" len="med"/>
                      <a:tailEnd type="none" w="med" len="med"/>
                    </a:lnB>
                    <a:solidFill>
                      <a:srgbClr val="EFF2EE"/>
                    </a:solidFill>
                  </a:tcPr>
                </a:tc>
                <a:tc>
                  <a:txBody>
                    <a:bodyPr/>
                    <a:lstStyle/>
                    <a:p>
                      <a:pPr indent="0" marL="0">
                        <a:lnSpc>
                          <a:spcPts val="2100"/>
                        </a:lnSpc>
                        <a:buNone/>
                      </a:pPr>
                      <a:r>
                        <a:rPr lang="en-US" sz="1500" dirty="0">
                          <a:solidFill>
                            <a:srgbClr val="10212B"/>
                          </a:solidFill>
                          <a:latin typeface="IBM Plex Sans" pitchFamily="34" charset="0"/>
                          <a:ea typeface="IBM Plex Sans" pitchFamily="34" charset="-122"/>
                          <a:cs typeface="IBM Plex Sans" pitchFamily="34" charset="-120"/>
                        </a:rPr>
                        <a:t>Exit 8</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BFC1BE"/>
                      </a:solidFill>
                      <a:prstDash val="solid"/>
                      <a:round/>
                      <a:headEnd type="none" w="med" len="med"/>
                      <a:tailEnd type="none" w="med" len="med"/>
                    </a:lnL>
                    <a:lnR w="12700" cap="flat" cmpd="sng" algn="ctr">
                      <a:solidFill>
                        <a:srgbClr val="BFC1BE"/>
                      </a:solidFill>
                      <a:prstDash val="solid"/>
                      <a:round/>
                      <a:headEnd type="none" w="med" len="med"/>
                      <a:tailEnd type="none" w="med" len="med"/>
                    </a:lnR>
                    <a:lnT w="12700" cap="flat" cmpd="sng" algn="ctr">
                      <a:solidFill>
                        <a:srgbClr val="C5C6C4"/>
                      </a:solidFill>
                      <a:prstDash val="solid"/>
                      <a:round/>
                      <a:headEnd type="none" w="med" len="med"/>
                      <a:tailEnd type="none" w="med" len="med"/>
                    </a:lnT>
                    <a:lnB w="12700" cap="flat" cmpd="sng" algn="ctr">
                      <a:solidFill>
                        <a:srgbClr val="BFC1BE"/>
                      </a:solidFill>
                      <a:prstDash val="solid"/>
                      <a:round/>
                      <a:headEnd type="none" w="med" len="med"/>
                      <a:tailEnd type="none" w="med" len="med"/>
                    </a:lnB>
                    <a:solidFill>
                      <a:srgbClr val="EFF2EE"/>
                    </a:solidFill>
                  </a:tcPr>
                </a:tc>
              </a:tr>
              <a:tr h="412750">
                <a:tc>
                  <a:txBody>
                    <a:bodyPr/>
                    <a:lstStyle/>
                    <a:p>
                      <a:pPr indent="0" marL="0">
                        <a:lnSpc>
                          <a:spcPts val="2100"/>
                        </a:lnSpc>
                        <a:buNone/>
                      </a:pPr>
                      <a:r>
                        <a:rPr lang="en-US" sz="1500" dirty="0">
                          <a:solidFill>
                            <a:srgbClr val="10212B"/>
                          </a:solidFill>
                          <a:latin typeface="IBM Plex Sans" pitchFamily="34" charset="0"/>
                          <a:ea typeface="IBM Plex Sans" pitchFamily="34" charset="-122"/>
                          <a:cs typeface="IBM Plex Sans" pitchFamily="34" charset="-120"/>
                        </a:rPr>
                        <a:t>"What changed since the last release?"</a:t>
                      </a:r>
                      <a:endParaRPr lang="en-US" sz="1500" dirty="0">
                        <a:latin typeface="IBM Plex Sans" charset="0"/>
                        <a:ea typeface="IBM Plex Sans" charset="0"/>
                        <a:cs typeface="IBM Plex Sans" charset="0"/>
                      </a:endParaRPr>
                    </a:p>
                  </a:txBody>
                  <a:tcPr marL="66675" marR="66675" marT="66675" marB="66675" anchor="t">
                    <a:lnL w="0" cap="flat" cmpd="sng" algn="ctr">
                      <a:noFill/>
                    </a:lnL>
                    <a:lnR w="12700" cap="flat" cmpd="sng" algn="ctr">
                      <a:solidFill>
                        <a:srgbClr val="C5C6C4"/>
                      </a:solidFill>
                      <a:prstDash val="solid"/>
                      <a:round/>
                      <a:headEnd type="none" w="med" len="med"/>
                      <a:tailEnd type="none" w="med" len="med"/>
                    </a:lnR>
                    <a:lnT w="12700" cap="flat" cmpd="sng" algn="ctr">
                      <a:solidFill>
                        <a:srgbClr val="BFC1BE"/>
                      </a:solidFill>
                      <a:prstDash val="solid"/>
                      <a:round/>
                      <a:headEnd type="none" w="med" len="med"/>
                      <a:tailEnd type="none" w="med" len="med"/>
                    </a:lnT>
                    <a:lnB w="12700" cap="flat" cmpd="sng" algn="ctr">
                      <a:solidFill>
                        <a:srgbClr val="C5C6C4"/>
                      </a:solidFill>
                      <a:prstDash val="solid"/>
                      <a:round/>
                      <a:headEnd type="none" w="med" len="med"/>
                      <a:tailEnd type="none" w="med" len="med"/>
                    </a:lnB>
                  </a:tcPr>
                </a:tc>
                <a:tc>
                  <a:txBody>
                    <a:bodyPr/>
                    <a:lstStyle/>
                    <a:p>
                      <a:pPr indent="0" marL="0">
                        <a:lnSpc>
                          <a:spcPts val="2100"/>
                        </a:lnSpc>
                        <a:buNone/>
                      </a:pPr>
                      <a:r>
                        <a:rPr lang="en-US" sz="1500" dirty="0">
                          <a:solidFill>
                            <a:srgbClr val="10212B"/>
                          </a:solidFill>
                          <a:latin typeface="IBM Plex Sans" pitchFamily="34" charset="0"/>
                          <a:ea typeface="IBM Plex Sans" pitchFamily="34" charset="-122"/>
                          <a:cs typeface="IBM Plex Sans" pitchFamily="34" charset="-120"/>
                        </a:rPr>
                        <a:t>A diff of the two documents</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5C6C4"/>
                      </a:solidFill>
                      <a:prstDash val="solid"/>
                      <a:round/>
                      <a:headEnd type="none" w="med" len="med"/>
                      <a:tailEnd type="none" w="med" len="med"/>
                    </a:lnL>
                    <a:lnR w="12700" cap="flat" cmpd="sng" algn="ctr">
                      <a:solidFill>
                        <a:srgbClr val="C5C6C4"/>
                      </a:solidFill>
                      <a:prstDash val="solid"/>
                      <a:round/>
                      <a:headEnd type="none" w="med" len="med"/>
                      <a:tailEnd type="none" w="med" len="med"/>
                    </a:lnR>
                    <a:lnT w="12700" cap="flat" cmpd="sng" algn="ctr">
                      <a:solidFill>
                        <a:srgbClr val="BFC1BE"/>
                      </a:solidFill>
                      <a:prstDash val="solid"/>
                      <a:round/>
                      <a:headEnd type="none" w="med" len="med"/>
                      <a:tailEnd type="none" w="med" len="med"/>
                    </a:lnT>
                    <a:lnB w="12700" cap="flat" cmpd="sng" algn="ctr">
                      <a:solidFill>
                        <a:srgbClr val="C5C6C4"/>
                      </a:solidFill>
                      <a:prstDash val="solid"/>
                      <a:round/>
                      <a:headEnd type="none" w="med" len="med"/>
                      <a:tailEnd type="none" w="med" len="med"/>
                    </a:lnB>
                  </a:tcPr>
                </a:tc>
                <a:tc>
                  <a:txBody>
                    <a:bodyPr/>
                    <a:lstStyle/>
                    <a:p>
                      <a:pPr indent="0" marL="0">
                        <a:lnSpc>
                          <a:spcPts val="2100"/>
                        </a:lnSpc>
                        <a:buNone/>
                      </a:pPr>
                      <a:r>
                        <a:rPr lang="en-US" sz="1500" dirty="0">
                          <a:solidFill>
                            <a:srgbClr val="10212B"/>
                          </a:solidFill>
                          <a:latin typeface="IBM Plex Sans" pitchFamily="34" charset="0"/>
                          <a:ea typeface="IBM Plex Sans" pitchFamily="34" charset="-122"/>
                          <a:cs typeface="IBM Plex Sans" pitchFamily="34" charset="-120"/>
                        </a:rPr>
                        <a:t>Exit 6, if we gate it</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5C6C4"/>
                      </a:solidFill>
                      <a:prstDash val="solid"/>
                      <a:round/>
                      <a:headEnd type="none" w="med" len="med"/>
                      <a:tailEnd type="none" w="med" len="med"/>
                    </a:lnL>
                    <a:lnR w="12700" cap="flat" cmpd="sng" algn="ctr">
                      <a:solidFill>
                        <a:srgbClr val="C5C6C4"/>
                      </a:solidFill>
                      <a:prstDash val="solid"/>
                      <a:round/>
                      <a:headEnd type="none" w="med" len="med"/>
                      <a:tailEnd type="none" w="med" len="med"/>
                    </a:lnR>
                    <a:lnT w="12700" cap="flat" cmpd="sng" algn="ctr">
                      <a:solidFill>
                        <a:srgbClr val="BFC1BE"/>
                      </a:solidFill>
                      <a:prstDash val="solid"/>
                      <a:round/>
                      <a:headEnd type="none" w="med" len="med"/>
                      <a:tailEnd type="none" w="med" len="med"/>
                    </a:lnT>
                    <a:lnB w="12700" cap="flat" cmpd="sng" algn="ctr">
                      <a:solidFill>
                        <a:srgbClr val="C5C6C4"/>
                      </a:solidFill>
                      <a:prstDash val="solid"/>
                      <a:round/>
                      <a:headEnd type="none" w="med" len="med"/>
                      <a:tailEnd type="none" w="med" len="med"/>
                    </a:lnB>
                  </a:tcPr>
                </a:tc>
              </a:tr>
            </a:tbl>
          </a:graphicData>
        </a:graphic>
      </p:graphicFrame>
      <p:sp>
        <p:nvSpPr>
          <p:cNvPr id="6" name="Text 3"/>
          <p:cNvSpPr/>
          <p:nvPr/>
        </p:nvSpPr>
        <p:spPr>
          <a:xfrm>
            <a:off x="812800" y="5074890"/>
            <a:ext cx="10595610" cy="2921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4A5568"/>
                </a:solidFill>
                <a:latin typeface="IBM Plex Sans" pitchFamily="34" charset="0"/>
                <a:ea typeface="IBM Plex Sans" pitchFamily="34" charset="-122"/>
                <a:cs typeface="IBM Plex Sans" pitchFamily="34" charset="-120"/>
              </a:rPr>
              <a:t>Every gate is off by default. Leave them off and it writes the document and exits clean.</a:t>
            </a:r>
            <a:endParaRPr lang="en-US" sz="15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8F6"/>
        </a:solidFill>
      </p:bgPr>
    </p:bg>
    <p:spTree>
      <p:nvGrpSpPr>
        <p:cNvPr id="1" name=""/>
        <p:cNvGrpSpPr/>
        <p:nvPr/>
      </p:nvGrpSpPr>
      <p:grpSpPr>
        <a:xfrm>
          <a:off x="0" y="0"/>
          <a:ext cx="0" cy="0"/>
          <a:chOff x="0" y="0"/>
          <a:chExt cx="0" cy="0"/>
        </a:xfrm>
      </p:grpSpPr>
      <p:sp>
        <p:nvSpPr>
          <p:cNvPr id="2" name="Text 0"/>
          <p:cNvSpPr/>
          <p:nvPr/>
        </p:nvSpPr>
        <p:spPr>
          <a:xfrm>
            <a:off x="812800" y="812800"/>
            <a:ext cx="10883392" cy="528290"/>
          </a:xfrm>
          <a:prstGeom prst="rect">
            <a:avLst/>
          </a:prstGeom>
          <a:noFill/>
          <a:ln/>
        </p:spPr>
        <p:txBody>
          <a:bodyPr wrap="square" lIns="0" tIns="0" rIns="0" bIns="0" rtlCol="0" anchor="t">
            <a:normAutofit/>
          </a:bodyPr>
          <a:lstStyle/>
          <a:p>
            <a:pPr algn="l" indent="0" marL="0">
              <a:lnSpc>
                <a:spcPts val="3960"/>
              </a:lnSpc>
              <a:buNone/>
            </a:pPr>
            <a:r>
              <a:rPr lang="en-US" sz="3600" b="1" dirty="0">
                <a:solidFill>
                  <a:srgbClr val="10212B"/>
                </a:solidFill>
                <a:latin typeface="IBM Plex Sans" pitchFamily="34" charset="0"/>
                <a:ea typeface="IBM Plex Sans" pitchFamily="34" charset="-122"/>
                <a:cs typeface="IBM Plex Sans" pitchFamily="34" charset="-120"/>
              </a:rPr>
              <a:t>What it costs us</a:t>
            </a:r>
            <a:endParaRPr lang="en-US" sz="3600" dirty="0"/>
          </a:p>
        </p:txBody>
      </p:sp>
      <p:sp>
        <p:nvSpPr>
          <p:cNvPr id="3" name="Shape 1"/>
          <p:cNvSpPr/>
          <p:nvPr/>
        </p:nvSpPr>
        <p:spPr>
          <a:xfrm>
            <a:off x="815975" y="1623665"/>
            <a:ext cx="3397250" cy="1701800"/>
          </a:xfrm>
          <a:prstGeom prst="roundRect">
            <a:avLst>
              <a:gd name="adj" fmla="val 5784"/>
            </a:avLst>
          </a:prstGeom>
          <a:solidFill>
            <a:srgbClr val="FFFFFF"/>
          </a:solidFill>
          <a:ln w="6350">
            <a:solidFill>
              <a:srgbClr val="DFE3DE"/>
            </a:solidFill>
            <a:prstDash val="solid"/>
          </a:ln>
        </p:spPr>
      </p:sp>
      <p:sp>
        <p:nvSpPr>
          <p:cNvPr id="4" name="Text 2"/>
          <p:cNvSpPr/>
          <p:nvPr/>
        </p:nvSpPr>
        <p:spPr>
          <a:xfrm>
            <a:off x="1073150" y="1880840"/>
            <a:ext cx="2969387" cy="635000"/>
          </a:xfrm>
          <a:prstGeom prst="rect">
            <a:avLst/>
          </a:prstGeom>
          <a:noFill/>
          <a:ln/>
        </p:spPr>
        <p:txBody>
          <a:bodyPr wrap="square" lIns="0" tIns="0" rIns="0" bIns="0" rtlCol="0" anchor="t">
            <a:normAutofit/>
          </a:bodyPr>
          <a:lstStyle/>
          <a:p>
            <a:pPr algn="l" indent="0" marL="0">
              <a:lnSpc>
                <a:spcPts val="4800"/>
              </a:lnSpc>
              <a:buNone/>
            </a:pPr>
            <a:r>
              <a:rPr lang="en-US" sz="4800" b="1" dirty="0">
                <a:solidFill>
                  <a:srgbClr val="1F7A6C"/>
                </a:solidFill>
                <a:latin typeface="IBM Plex Sans" pitchFamily="34" charset="0"/>
                <a:ea typeface="IBM Plex Sans" pitchFamily="34" charset="-122"/>
                <a:cs typeface="IBM Plex Sans" pitchFamily="34" charset="-120"/>
              </a:rPr>
              <a:t>1 file</a:t>
            </a:r>
            <a:endParaRPr lang="en-US" sz="4800" dirty="0"/>
          </a:p>
        </p:txBody>
      </p:sp>
      <p:sp>
        <p:nvSpPr>
          <p:cNvPr id="5" name="Text 3"/>
          <p:cNvSpPr/>
          <p:nvPr/>
        </p:nvSpPr>
        <p:spPr>
          <a:xfrm>
            <a:off x="1073150" y="2553940"/>
            <a:ext cx="2969387" cy="539750"/>
          </a:xfrm>
          <a:prstGeom prst="rect">
            <a:avLst/>
          </a:prstGeom>
          <a:noFill/>
          <a:ln/>
        </p:spPr>
        <p:txBody>
          <a:bodyPr wrap="square" lIns="0" tIns="0" rIns="0" bIns="0" rtlCol="0" anchor="t">
            <a:normAutofit/>
          </a:bodyPr>
          <a:lstStyle/>
          <a:p>
            <a:pPr algn="l" indent="0" marL="0">
              <a:lnSpc>
                <a:spcPts val="2025"/>
              </a:lnSpc>
              <a:buNone/>
            </a:pPr>
            <a:r>
              <a:rPr lang="en-US" sz="1500" dirty="0">
                <a:solidFill>
                  <a:srgbClr val="4A5568"/>
                </a:solidFill>
                <a:latin typeface="IBM Plex Sans" pitchFamily="34" charset="0"/>
                <a:ea typeface="IBM Plex Sans" pitchFamily="34" charset="-122"/>
                <a:cs typeface="IBM Plex Sans" pitchFamily="34" charset="-120"/>
              </a:rPr>
              <a:t>A step in a workflow. Nothing to host or keep running.</a:t>
            </a:r>
            <a:endParaRPr lang="en-US" sz="1500" dirty="0"/>
          </a:p>
        </p:txBody>
      </p:sp>
      <p:sp>
        <p:nvSpPr>
          <p:cNvPr id="6" name="Shape 4"/>
          <p:cNvSpPr/>
          <p:nvPr/>
        </p:nvSpPr>
        <p:spPr>
          <a:xfrm>
            <a:off x="4397375" y="1623665"/>
            <a:ext cx="3397250" cy="1701800"/>
          </a:xfrm>
          <a:prstGeom prst="roundRect">
            <a:avLst>
              <a:gd name="adj" fmla="val 5784"/>
            </a:avLst>
          </a:prstGeom>
          <a:solidFill>
            <a:srgbClr val="FFFFFF"/>
          </a:solidFill>
          <a:ln w="6350">
            <a:solidFill>
              <a:srgbClr val="DFE3DE"/>
            </a:solidFill>
            <a:prstDash val="solid"/>
          </a:ln>
        </p:spPr>
      </p:sp>
      <p:sp>
        <p:nvSpPr>
          <p:cNvPr id="7" name="Text 5"/>
          <p:cNvSpPr/>
          <p:nvPr/>
        </p:nvSpPr>
        <p:spPr>
          <a:xfrm>
            <a:off x="4654550" y="1880840"/>
            <a:ext cx="2969387" cy="635000"/>
          </a:xfrm>
          <a:prstGeom prst="rect">
            <a:avLst/>
          </a:prstGeom>
          <a:noFill/>
          <a:ln/>
        </p:spPr>
        <p:txBody>
          <a:bodyPr wrap="square" lIns="0" tIns="0" rIns="0" bIns="0" rtlCol="0" anchor="t">
            <a:normAutofit/>
          </a:bodyPr>
          <a:lstStyle/>
          <a:p>
            <a:pPr algn="l" indent="0" marL="0">
              <a:lnSpc>
                <a:spcPts val="4800"/>
              </a:lnSpc>
              <a:buNone/>
            </a:pPr>
            <a:r>
              <a:rPr lang="en-US" sz="4800" b="1" dirty="0">
                <a:solidFill>
                  <a:srgbClr val="1F7A6C"/>
                </a:solidFill>
                <a:latin typeface="IBM Plex Sans" pitchFamily="34" charset="0"/>
                <a:ea typeface="IBM Plex Sans" pitchFamily="34" charset="-122"/>
                <a:cs typeface="IBM Plex Sans" pitchFamily="34" charset="-120"/>
              </a:rPr>
              <a:t>&lt; 1 s</a:t>
            </a:r>
            <a:endParaRPr lang="en-US" sz="4800" dirty="0"/>
          </a:p>
        </p:txBody>
      </p:sp>
      <p:sp>
        <p:nvSpPr>
          <p:cNvPr id="8" name="Text 6"/>
          <p:cNvSpPr/>
          <p:nvPr/>
        </p:nvSpPr>
        <p:spPr>
          <a:xfrm>
            <a:off x="4654550" y="2553940"/>
            <a:ext cx="2969387" cy="539750"/>
          </a:xfrm>
          <a:prstGeom prst="rect">
            <a:avLst/>
          </a:prstGeom>
          <a:noFill/>
          <a:ln/>
        </p:spPr>
        <p:txBody>
          <a:bodyPr wrap="square" lIns="0" tIns="0" rIns="0" bIns="0" rtlCol="0" anchor="t">
            <a:normAutofit/>
          </a:bodyPr>
          <a:lstStyle/>
          <a:p>
            <a:pPr algn="l" indent="0" marL="0">
              <a:lnSpc>
                <a:spcPts val="2025"/>
              </a:lnSpc>
              <a:buNone/>
            </a:pPr>
            <a:r>
              <a:rPr lang="en-US" sz="1500" dirty="0">
                <a:solidFill>
                  <a:srgbClr val="4A5568"/>
                </a:solidFill>
                <a:latin typeface="IBM Plex Sans" pitchFamily="34" charset="0"/>
                <a:ea typeface="IBM Plex Sans" pitchFamily="34" charset="-122"/>
                <a:cs typeface="IBM Plex Sans" pitchFamily="34" charset="-120"/>
              </a:rPr>
              <a:t>Added to a build, on a 72-package environment, offline.</a:t>
            </a:r>
            <a:endParaRPr lang="en-US" sz="1500" dirty="0"/>
          </a:p>
        </p:txBody>
      </p:sp>
      <p:sp>
        <p:nvSpPr>
          <p:cNvPr id="9" name="Shape 7"/>
          <p:cNvSpPr/>
          <p:nvPr/>
        </p:nvSpPr>
        <p:spPr>
          <a:xfrm>
            <a:off x="7978775" y="1623665"/>
            <a:ext cx="3397250" cy="1701800"/>
          </a:xfrm>
          <a:prstGeom prst="roundRect">
            <a:avLst>
              <a:gd name="adj" fmla="val 5784"/>
            </a:avLst>
          </a:prstGeom>
          <a:solidFill>
            <a:srgbClr val="FFFFFF"/>
          </a:solidFill>
          <a:ln w="6350">
            <a:solidFill>
              <a:srgbClr val="DFE3DE"/>
            </a:solidFill>
            <a:prstDash val="solid"/>
          </a:ln>
        </p:spPr>
      </p:sp>
      <p:sp>
        <p:nvSpPr>
          <p:cNvPr id="10" name="Text 8"/>
          <p:cNvSpPr/>
          <p:nvPr/>
        </p:nvSpPr>
        <p:spPr>
          <a:xfrm>
            <a:off x="8235950" y="1880840"/>
            <a:ext cx="2969387" cy="635000"/>
          </a:xfrm>
          <a:prstGeom prst="rect">
            <a:avLst/>
          </a:prstGeom>
          <a:noFill/>
          <a:ln/>
        </p:spPr>
        <p:txBody>
          <a:bodyPr wrap="square" lIns="0" tIns="0" rIns="0" bIns="0" rtlCol="0" anchor="t">
            <a:normAutofit/>
          </a:bodyPr>
          <a:lstStyle/>
          <a:p>
            <a:pPr algn="l" indent="0" marL="0">
              <a:lnSpc>
                <a:spcPts val="4800"/>
              </a:lnSpc>
              <a:buNone/>
            </a:pPr>
            <a:r>
              <a:rPr lang="en-US" sz="4800" b="1" dirty="0">
                <a:solidFill>
                  <a:srgbClr val="1F7A6C"/>
                </a:solidFill>
                <a:latin typeface="IBM Plex Sans" pitchFamily="34" charset="0"/>
                <a:ea typeface="IBM Plex Sans" pitchFamily="34" charset="-122"/>
                <a:cs typeface="IBM Plex Sans" pitchFamily="34" charset="-120"/>
              </a:rPr>
              <a:t>$0</a:t>
            </a:r>
            <a:endParaRPr lang="en-US" sz="4800" dirty="0"/>
          </a:p>
        </p:txBody>
      </p:sp>
      <p:sp>
        <p:nvSpPr>
          <p:cNvPr id="11" name="Text 9"/>
          <p:cNvSpPr/>
          <p:nvPr/>
        </p:nvSpPr>
        <p:spPr>
          <a:xfrm>
            <a:off x="8235950" y="2553940"/>
            <a:ext cx="2969387" cy="539750"/>
          </a:xfrm>
          <a:prstGeom prst="rect">
            <a:avLst/>
          </a:prstGeom>
          <a:noFill/>
          <a:ln/>
        </p:spPr>
        <p:txBody>
          <a:bodyPr wrap="square" lIns="0" tIns="0" rIns="0" bIns="0" rtlCol="0" anchor="t">
            <a:normAutofit/>
          </a:bodyPr>
          <a:lstStyle/>
          <a:p>
            <a:pPr algn="l" indent="0" marL="0">
              <a:lnSpc>
                <a:spcPts val="2025"/>
              </a:lnSpc>
              <a:buNone/>
            </a:pPr>
            <a:r>
              <a:rPr lang="en-US" sz="1500" dirty="0">
                <a:solidFill>
                  <a:srgbClr val="4A5568"/>
                </a:solidFill>
                <a:latin typeface="IBM Plex Sans" pitchFamily="34" charset="0"/>
                <a:ea typeface="IBM Plex Sans" pitchFamily="34" charset="-122"/>
                <a:cs typeface="IBM Plex Sans" pitchFamily="34" charset="-120"/>
              </a:rPr>
              <a:t>Apache-2.0. No seats, no tiers, nothing to renew.</a:t>
            </a:r>
            <a:endParaRPr lang="en-US" sz="1500" dirty="0"/>
          </a:p>
        </p:txBody>
      </p:sp>
      <p:sp>
        <p:nvSpPr>
          <p:cNvPr id="12" name="Text 10"/>
          <p:cNvSpPr/>
          <p:nvPr/>
        </p:nvSpPr>
        <p:spPr>
          <a:xfrm>
            <a:off x="812800" y="3633440"/>
            <a:ext cx="10595610" cy="309860"/>
          </a:xfrm>
          <a:prstGeom prst="rect">
            <a:avLst/>
          </a:prstGeom>
          <a:noFill/>
          <a:ln/>
        </p:spPr>
        <p:txBody>
          <a:bodyPr wrap="square" lIns="0" tIns="0" rIns="0" bIns="0" rtlCol="0" anchor="t">
            <a:normAutofit/>
          </a:bodyPr>
          <a:lstStyle/>
          <a:p>
            <a:pPr algn="l" indent="0" marL="0">
              <a:lnSpc>
                <a:spcPts val="2240"/>
              </a:lnSpc>
              <a:buNone/>
            </a:pPr>
            <a:r>
              <a:rPr lang="en-US" sz="1600" dirty="0">
                <a:solidFill>
                  <a:srgbClr val="10212B"/>
                </a:solidFill>
                <a:latin typeface="IBM Plex Sans" pitchFamily="34" charset="0"/>
                <a:ea typeface="IBM Plex Sans" pitchFamily="34" charset="-122"/>
                <a:cs typeface="IBM Plex Sans" pitchFamily="34" charset="-120"/>
              </a:rPr>
              <a:t>The real cost is somebody reading the output now and then, and that's work we're already being asked to do.</a:t>
            </a:r>
            <a:endParaRPr lang="en-US" sz="1600" dirty="0"/>
          </a:p>
        </p:txBody>
      </p:sp>
      <p:sp>
        <p:nvSpPr>
          <p:cNvPr id="13" name="Text 11"/>
          <p:cNvSpPr/>
          <p:nvPr/>
        </p:nvSpPr>
        <p:spPr>
          <a:xfrm>
            <a:off x="812800" y="6238280"/>
            <a:ext cx="6881679"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A7179"/>
                </a:solidFill>
                <a:latin typeface="IBM Plex Sans" pitchFamily="34" charset="0"/>
                <a:ea typeface="IBM Plex Sans" pitchFamily="34" charset="-122"/>
                <a:cs typeface="IBM Plex Sans" pitchFamily="34" charset="-120"/>
              </a:rPr>
              <a:t>Timings from the project's published benchmarks, measured on all five platforms at every release.</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8F6"/>
        </a:solidFill>
      </p:bgPr>
    </p:bg>
    <p:spTree>
      <p:nvGrpSpPr>
        <p:cNvPr id="1" name=""/>
        <p:cNvGrpSpPr/>
        <p:nvPr/>
      </p:nvGrpSpPr>
      <p:grpSpPr>
        <a:xfrm>
          <a:off x="0" y="0"/>
          <a:ext cx="0" cy="0"/>
          <a:chOff x="0" y="0"/>
          <a:chExt cx="0" cy="0"/>
        </a:xfrm>
      </p:grpSpPr>
      <p:sp>
        <p:nvSpPr>
          <p:cNvPr id="2" name="Text 0"/>
          <p:cNvSpPr/>
          <p:nvPr/>
        </p:nvSpPr>
        <p:spPr>
          <a:xfrm>
            <a:off x="812800" y="812800"/>
            <a:ext cx="10883392" cy="528290"/>
          </a:xfrm>
          <a:prstGeom prst="rect">
            <a:avLst/>
          </a:prstGeom>
          <a:noFill/>
          <a:ln/>
        </p:spPr>
        <p:txBody>
          <a:bodyPr wrap="square" lIns="0" tIns="0" rIns="0" bIns="0" rtlCol="0" anchor="t">
            <a:normAutofit/>
          </a:bodyPr>
          <a:lstStyle/>
          <a:p>
            <a:pPr algn="l" indent="0" marL="0">
              <a:lnSpc>
                <a:spcPts val="3960"/>
              </a:lnSpc>
              <a:buNone/>
            </a:pPr>
            <a:r>
              <a:rPr lang="en-US" sz="3600" b="1" dirty="0">
                <a:solidFill>
                  <a:srgbClr val="10212B"/>
                </a:solidFill>
                <a:latin typeface="IBM Plex Sans" pitchFamily="34" charset="0"/>
                <a:ea typeface="IBM Plex Sans" pitchFamily="34" charset="-122"/>
                <a:cs typeface="IBM Plex Sans" pitchFamily="34" charset="-120"/>
              </a:rPr>
              <a:t>Where the project is</a:t>
            </a:r>
            <a:endParaRPr lang="en-US" sz="3600" dirty="0"/>
          </a:p>
        </p:txBody>
      </p:sp>
      <p:pic>
        <p:nvPicPr>
          <p:cNvPr id="3" name="Image 0" descr="Verified">    </p:cNvPr>
          <p:cNvPicPr>
            <a:picLocks noChangeAspect="1"/>
          </p:cNvPicPr>
          <p:nvPr/>
        </p:nvPicPr>
        <p:blipFill>
          <a:blip r:embed="rId1"/>
          <a:srcRect l="-25" r="-25" t="0" b="0"/>
          <a:stretch/>
        </p:blipFill>
        <p:spPr>
          <a:xfrm>
            <a:off x="812800" y="1595090"/>
            <a:ext cx="196949" cy="254000"/>
          </a:xfrm>
          <a:prstGeom prst="rect">
            <a:avLst/>
          </a:prstGeom>
        </p:spPr>
      </p:pic>
      <p:sp>
        <p:nvSpPr>
          <p:cNvPr id="4" name="Text 1"/>
          <p:cNvSpPr/>
          <p:nvPr/>
        </p:nvSpPr>
        <p:spPr>
          <a:xfrm>
            <a:off x="1124049" y="1595090"/>
            <a:ext cx="5016461" cy="573980"/>
          </a:xfrm>
          <a:prstGeom prst="rect">
            <a:avLst/>
          </a:prstGeom>
          <a:noFill/>
          <a:ln/>
        </p:spPr>
        <p:txBody>
          <a:bodyPr wrap="square" lIns="0" tIns="0" rIns="0" bIns="0" rtlCol="0" anchor="t">
            <a:normAutofit/>
          </a:bodyPr>
          <a:lstStyle/>
          <a:p>
            <a:pPr algn="l" indent="0" marL="0">
              <a:lnSpc>
                <a:spcPts val="2160"/>
              </a:lnSpc>
              <a:buNone/>
            </a:pPr>
            <a:r>
              <a:rPr lang="en-US" sz="1600" dirty="0">
                <a:solidFill>
                  <a:srgbClr val="10212B"/>
                </a:solidFill>
                <a:latin typeface="IBM Plex Sans" pitchFamily="34" charset="0"/>
                <a:ea typeface="IBM Plex Sans" pitchFamily="34" charset="-122"/>
                <a:cs typeface="IBM Plex Sans" pitchFamily="34" charset="-120"/>
              </a:rPr>
              <a:t>Version 0.10.1, with a changelog and release builds for five platforms</a:t>
            </a:r>
            <a:endParaRPr lang="en-US" sz="1600" dirty="0"/>
          </a:p>
        </p:txBody>
      </p:sp>
      <p:pic>
        <p:nvPicPr>
          <p:cNvPr id="5" name="Image 1" descr="Database">    </p:cNvPr>
          <p:cNvPicPr>
            <a:picLocks noChangeAspect="1"/>
          </p:cNvPicPr>
          <p:nvPr/>
        </p:nvPicPr>
        <p:blipFill>
          <a:blip r:embed="rId2"/>
          <a:srcRect l="-46" r="-46" t="0" b="0"/>
          <a:stretch/>
        </p:blipFill>
        <p:spPr>
          <a:xfrm>
            <a:off x="812800" y="2283371"/>
            <a:ext cx="216098" cy="254000"/>
          </a:xfrm>
          <a:prstGeom prst="rect">
            <a:avLst/>
          </a:prstGeom>
        </p:spPr>
      </p:pic>
      <p:sp>
        <p:nvSpPr>
          <p:cNvPr id="6" name="Text 2"/>
          <p:cNvSpPr/>
          <p:nvPr/>
        </p:nvSpPr>
        <p:spPr>
          <a:xfrm>
            <a:off x="1143198" y="2283371"/>
            <a:ext cx="4996738" cy="573980"/>
          </a:xfrm>
          <a:prstGeom prst="rect">
            <a:avLst/>
          </a:prstGeom>
          <a:noFill/>
          <a:ln/>
        </p:spPr>
        <p:txBody>
          <a:bodyPr wrap="square" lIns="0" tIns="0" rIns="0" bIns="0" rtlCol="0" anchor="t">
            <a:normAutofit/>
          </a:bodyPr>
          <a:lstStyle/>
          <a:p>
            <a:pPr algn="l" indent="0" marL="0">
              <a:lnSpc>
                <a:spcPts val="2160"/>
              </a:lnSpc>
              <a:buNone/>
            </a:pPr>
            <a:r>
              <a:rPr lang="en-US" sz="1600" dirty="0">
                <a:solidFill>
                  <a:srgbClr val="10212B"/>
                </a:solidFill>
                <a:latin typeface="IBM Plex Sans" pitchFamily="34" charset="0"/>
                <a:ea typeface="IBM Plex Sans" pitchFamily="34" charset="-122"/>
                <a:cs typeface="IBM Plex Sans" pitchFamily="34" charset="-120"/>
              </a:rPr>
              <a:t>Installs the way our other tools do: </a:t>
            </a:r>
            <a:r>
              <a:rPr lang="en-US" sz="1600" dirty="0">
                <a:solidFill>
                  <a:srgbClr val="1F7A6C"/>
                </a:solidFill>
                <a:latin typeface="IBM Plex Sans" pitchFamily="34" charset="0"/>
                <a:ea typeface="IBM Plex Sans" pitchFamily="34" charset="-122"/>
                <a:cs typeface="IBM Plex Sans" pitchFamily="34" charset="-120"/>
              </a:rPr>
              <a:t>pixi global install pixi-sbom</a:t>
            </a:r>
            <a:endParaRPr lang="en-US" sz="1600" dirty="0"/>
          </a:p>
        </p:txBody>
      </p:sp>
      <p:pic>
        <p:nvPicPr>
          <p:cNvPr id="7" name="Image 2" descr="Book">    </p:cNvPr>
          <p:cNvPicPr>
            <a:picLocks noChangeAspect="1"/>
          </p:cNvPicPr>
          <p:nvPr/>
        </p:nvPicPr>
        <p:blipFill>
          <a:blip r:embed="rId3"/>
          <a:srcRect l="-188" r="-188" t="0" b="0"/>
          <a:stretch/>
        </p:blipFill>
        <p:spPr>
          <a:xfrm>
            <a:off x="812800" y="2971651"/>
            <a:ext cx="159345" cy="254000"/>
          </a:xfrm>
          <a:prstGeom prst="rect">
            <a:avLst/>
          </a:prstGeom>
        </p:spPr>
      </p:pic>
      <p:sp>
        <p:nvSpPr>
          <p:cNvPr id="8" name="Text 3"/>
          <p:cNvSpPr/>
          <p:nvPr/>
        </p:nvSpPr>
        <p:spPr>
          <a:xfrm>
            <a:off x="1086445" y="2971651"/>
            <a:ext cx="5055193" cy="573980"/>
          </a:xfrm>
          <a:prstGeom prst="rect">
            <a:avLst/>
          </a:prstGeom>
          <a:noFill/>
          <a:ln/>
        </p:spPr>
        <p:txBody>
          <a:bodyPr wrap="square" lIns="0" tIns="0" rIns="0" bIns="0" rtlCol="0" anchor="t">
            <a:normAutofit/>
          </a:bodyPr>
          <a:lstStyle/>
          <a:p>
            <a:pPr algn="l" indent="0" marL="0">
              <a:lnSpc>
                <a:spcPts val="2160"/>
              </a:lnSpc>
              <a:buNone/>
            </a:pPr>
            <a:r>
              <a:rPr lang="en-US" sz="1600" dirty="0">
                <a:solidFill>
                  <a:srgbClr val="10212B"/>
                </a:solidFill>
                <a:latin typeface="IBM Plex Sans" pitchFamily="34" charset="0"/>
                <a:ea typeface="IBM Plex Sans" pitchFamily="34" charset="-122"/>
                <a:cs typeface="IBM Plex Sans" pitchFamily="34" charset="-120"/>
              </a:rPr>
              <a:t>A docs site, a troubleshooting guide, and a diagnostic mode for locked-down networks</a:t>
            </a:r>
            <a:endParaRPr lang="en-US" sz="1600" dirty="0"/>
          </a:p>
        </p:txBody>
      </p:sp>
      <p:pic>
        <p:nvPicPr>
          <p:cNvPr id="9" name="Image 3" descr="Chart">    </p:cNvPr>
          <p:cNvPicPr>
            <a:picLocks noChangeAspect="1"/>
          </p:cNvPicPr>
          <p:nvPr/>
        </p:nvPicPr>
        <p:blipFill>
          <a:blip r:embed="rId4"/>
          <a:srcRect l="0" r="0" t="-489" b="-489"/>
          <a:stretch/>
        </p:blipFill>
        <p:spPr>
          <a:xfrm>
            <a:off x="6197600" y="1595090"/>
            <a:ext cx="157212" cy="254000"/>
          </a:xfrm>
          <a:prstGeom prst="rect">
            <a:avLst/>
          </a:prstGeom>
        </p:spPr>
      </p:pic>
      <p:sp>
        <p:nvSpPr>
          <p:cNvPr id="10" name="Text 4"/>
          <p:cNvSpPr/>
          <p:nvPr/>
        </p:nvSpPr>
        <p:spPr>
          <a:xfrm>
            <a:off x="6469112" y="1595090"/>
            <a:ext cx="5057391" cy="573980"/>
          </a:xfrm>
          <a:prstGeom prst="rect">
            <a:avLst/>
          </a:prstGeom>
          <a:noFill/>
          <a:ln/>
        </p:spPr>
        <p:txBody>
          <a:bodyPr wrap="square" lIns="0" tIns="0" rIns="0" bIns="0" rtlCol="0" anchor="t">
            <a:normAutofit/>
          </a:bodyPr>
          <a:lstStyle/>
          <a:p>
            <a:pPr algn="l" indent="0" marL="0">
              <a:lnSpc>
                <a:spcPts val="2160"/>
              </a:lnSpc>
              <a:buNone/>
            </a:pPr>
            <a:r>
              <a:rPr lang="en-US" sz="1600" dirty="0">
                <a:solidFill>
                  <a:srgbClr val="10212B"/>
                </a:solidFill>
                <a:latin typeface="IBM Plex Sans" pitchFamily="34" charset="0"/>
                <a:ea typeface="IBM Plex Sans" pitchFamily="34" charset="-122"/>
                <a:cs typeface="IBM Plex Sans" pitchFamily="34" charset="-120"/>
              </a:rPr>
              <a:t>Speed and memory measured on all five platforms at every release, numbers published</a:t>
            </a:r>
            <a:endParaRPr lang="en-US" sz="1600" dirty="0"/>
          </a:p>
        </p:txBody>
      </p:sp>
      <p:pic>
        <p:nvPicPr>
          <p:cNvPr id="11" name="Image 4" descr="Lock">    </p:cNvPr>
          <p:cNvPicPr>
            <a:picLocks noChangeAspect="1"/>
          </p:cNvPicPr>
          <p:nvPr/>
        </p:nvPicPr>
        <p:blipFill>
          <a:blip r:embed="rId5"/>
          <a:srcRect l="0" r="0" t="-30" b="-30"/>
          <a:stretch/>
        </p:blipFill>
        <p:spPr>
          <a:xfrm>
            <a:off x="6197600" y="2283371"/>
            <a:ext cx="165001" cy="254000"/>
          </a:xfrm>
          <a:prstGeom prst="rect">
            <a:avLst/>
          </a:prstGeom>
        </p:spPr>
      </p:pic>
      <p:sp>
        <p:nvSpPr>
          <p:cNvPr id="12" name="Text 5"/>
          <p:cNvSpPr/>
          <p:nvPr/>
        </p:nvSpPr>
        <p:spPr>
          <a:xfrm>
            <a:off x="6476901" y="2283371"/>
            <a:ext cx="5049368" cy="573980"/>
          </a:xfrm>
          <a:prstGeom prst="rect">
            <a:avLst/>
          </a:prstGeom>
          <a:noFill/>
          <a:ln/>
        </p:spPr>
        <p:txBody>
          <a:bodyPr wrap="square" lIns="0" tIns="0" rIns="0" bIns="0" rtlCol="0" anchor="t">
            <a:normAutofit/>
          </a:bodyPr>
          <a:lstStyle/>
          <a:p>
            <a:pPr algn="l" indent="0" marL="0">
              <a:lnSpc>
                <a:spcPts val="2160"/>
              </a:lnSpc>
              <a:buNone/>
            </a:pPr>
            <a:r>
              <a:rPr lang="en-US" sz="1600" dirty="0">
                <a:solidFill>
                  <a:srgbClr val="10212B"/>
                </a:solidFill>
                <a:latin typeface="IBM Plex Sans" pitchFamily="34" charset="0"/>
                <a:ea typeface="IBM Plex Sans" pitchFamily="34" charset="-122"/>
                <a:cs typeface="IBM Plex Sans" pitchFamily="34" charset="-120"/>
              </a:rPr>
              <a:t>At 1.0 the flags, exit codes and output fields come under a written stability promise</a:t>
            </a:r>
            <a:endParaRPr lang="en-US" sz="1600" dirty="0"/>
          </a:p>
        </p:txBody>
      </p:sp>
      <p:pic>
        <p:nvPicPr>
          <p:cNvPr id="13" name="Image 5" descr="Users">    </p:cNvPr>
          <p:cNvPicPr>
            <a:picLocks noChangeAspect="1"/>
          </p:cNvPicPr>
          <p:nvPr/>
        </p:nvPicPr>
        <p:blipFill>
          <a:blip r:embed="rId6"/>
          <a:srcRect l="0" r="0" t="-434" b="-434"/>
          <a:stretch/>
        </p:blipFill>
        <p:spPr>
          <a:xfrm>
            <a:off x="6197600" y="2971651"/>
            <a:ext cx="245517" cy="254000"/>
          </a:xfrm>
          <a:prstGeom prst="rect">
            <a:avLst/>
          </a:prstGeom>
        </p:spPr>
      </p:pic>
      <p:sp>
        <p:nvSpPr>
          <p:cNvPr id="14" name="Text 6"/>
          <p:cNvSpPr/>
          <p:nvPr/>
        </p:nvSpPr>
        <p:spPr>
          <a:xfrm>
            <a:off x="6557417" y="2971651"/>
            <a:ext cx="4966437" cy="573980"/>
          </a:xfrm>
          <a:prstGeom prst="rect">
            <a:avLst/>
          </a:prstGeom>
          <a:noFill/>
          <a:ln/>
        </p:spPr>
        <p:txBody>
          <a:bodyPr wrap="square" lIns="0" tIns="0" rIns="0" bIns="0" rtlCol="0" anchor="t">
            <a:normAutofit/>
          </a:bodyPr>
          <a:lstStyle/>
          <a:p>
            <a:pPr algn="l" indent="0" marL="0">
              <a:lnSpc>
                <a:spcPts val="2160"/>
              </a:lnSpc>
              <a:buNone/>
            </a:pPr>
            <a:r>
              <a:rPr lang="en-US" sz="1600" dirty="0">
                <a:solidFill>
                  <a:srgbClr val="10212B"/>
                </a:solidFill>
                <a:latin typeface="IBM Plex Sans" pitchFamily="34" charset="0"/>
                <a:ea typeface="IBM Plex Sans" pitchFamily="34" charset="-122"/>
                <a:cs typeface="IBM Plex Sans" pitchFamily="34" charset="-120"/>
              </a:rPr>
              <a:t>Apache-2.0, so we can read it, fork it, or fix it ourselves</a:t>
            </a:r>
            <a:endParaRPr lang="en-US" sz="16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1F7A6C"/>
        </a:solidFill>
      </p:bgPr>
    </p:bg>
    <p:spTree>
      <p:nvGrpSpPr>
        <p:cNvPr id="1" name=""/>
        <p:cNvGrpSpPr/>
        <p:nvPr/>
      </p:nvGrpSpPr>
      <p:grpSpPr>
        <a:xfrm>
          <a:off x="0" y="0"/>
          <a:ext cx="0" cy="0"/>
          <a:chOff x="0" y="0"/>
          <a:chExt cx="0" cy="0"/>
        </a:xfrm>
      </p:grpSpPr>
      <p:sp>
        <p:nvSpPr>
          <p:cNvPr id="2" name="Text 0"/>
          <p:cNvSpPr/>
          <p:nvPr/>
        </p:nvSpPr>
        <p:spPr>
          <a:xfrm>
            <a:off x="812800" y="230381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CDEDE5"/>
                </a:solidFill>
                <a:latin typeface="JetBrains Mono" pitchFamily="34" charset="0"/>
                <a:ea typeface="JetBrains Mono" pitchFamily="34" charset="-122"/>
                <a:cs typeface="JetBrains Mono" pitchFamily="34" charset="-120"/>
              </a:rPr>
              <a:t>WHAT HAPPENS NEXT</a:t>
            </a:r>
            <a:endParaRPr lang="en-US" sz="1200" dirty="0"/>
          </a:p>
        </p:txBody>
      </p:sp>
      <p:sp>
        <p:nvSpPr>
          <p:cNvPr id="3" name="Text 1"/>
          <p:cNvSpPr/>
          <p:nvPr/>
        </p:nvSpPr>
        <p:spPr>
          <a:xfrm>
            <a:off x="812800" y="2771130"/>
            <a:ext cx="10203180" cy="640060"/>
          </a:xfrm>
          <a:prstGeom prst="rect">
            <a:avLst/>
          </a:prstGeom>
          <a:noFill/>
          <a:ln/>
        </p:spPr>
        <p:txBody>
          <a:bodyPr wrap="square" lIns="0" tIns="0" rIns="0" bIns="0" rtlCol="0" anchor="t">
            <a:normAutofit/>
          </a:bodyPr>
          <a:lstStyle/>
          <a:p>
            <a:pPr algn="l" indent="0" marL="0">
              <a:lnSpc>
                <a:spcPts val="4840"/>
              </a:lnSpc>
              <a:buNone/>
            </a:pPr>
            <a:r>
              <a:rPr lang="en-US" sz="4400" b="1" dirty="0">
                <a:solidFill>
                  <a:srgbClr val="F7F8F6"/>
                </a:solidFill>
                <a:latin typeface="IBM Plex Sans" pitchFamily="34" charset="0"/>
                <a:ea typeface="IBM Plex Sans" pitchFamily="34" charset="-122"/>
                <a:cs typeface="IBM Plex Sans" pitchFamily="34" charset="-120"/>
              </a:rPr>
              <a:t>One repo. One job. Two weeks.</a:t>
            </a:r>
            <a:endParaRPr lang="en-US" sz="4400" dirty="0"/>
          </a:p>
        </p:txBody>
      </p:sp>
      <p:sp>
        <p:nvSpPr>
          <p:cNvPr id="4" name="Text 2"/>
          <p:cNvSpPr/>
          <p:nvPr/>
        </p:nvSpPr>
        <p:spPr>
          <a:xfrm>
            <a:off x="812800" y="3639790"/>
            <a:ext cx="9941560" cy="736600"/>
          </a:xfrm>
          <a:prstGeom prst="rect">
            <a:avLst/>
          </a:prstGeom>
          <a:noFill/>
          <a:ln/>
        </p:spPr>
        <p:txBody>
          <a:bodyPr wrap="square" lIns="0" tIns="0" rIns="0" bIns="0" rtlCol="0" anchor="t">
            <a:normAutofit/>
          </a:bodyPr>
          <a:lstStyle/>
          <a:p>
            <a:pPr algn="l" indent="0" marL="0">
              <a:lnSpc>
                <a:spcPts val="2800"/>
              </a:lnSpc>
              <a:buNone/>
            </a:pPr>
            <a:r>
              <a:rPr lang="en-US" sz="2000" dirty="0">
                <a:solidFill>
                  <a:srgbClr val="E4F4F0"/>
                </a:solidFill>
                <a:latin typeface="IBM Plex Sans" pitchFamily="34" charset="0"/>
                <a:ea typeface="IBM Plex Sans" pitchFamily="34" charset="-122"/>
                <a:cs typeface="IBM Plex Sans" pitchFamily="34" charset="-120"/>
              </a:rPr>
              <a:t>I'll come back with the documents it produced, what the gates would have caught if they'd been switched on, and whether I think it's worth doing anywhere else.</a:t>
            </a:r>
            <a:endParaRPr lang="en-US" sz="2000" dirty="0"/>
          </a:p>
        </p:txBody>
      </p:sp>
      <p:sp>
        <p:nvSpPr>
          <p:cNvPr id="5" name="Text 3"/>
          <p:cNvSpPr/>
          <p:nvPr/>
        </p:nvSpPr>
        <p:spPr>
          <a:xfrm>
            <a:off x="812800" y="6238280"/>
            <a:ext cx="1913658"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CDEDE5"/>
                </a:solidFill>
                <a:latin typeface="IBM Plex Sans" pitchFamily="34" charset="0"/>
                <a:ea typeface="IBM Plex Sans" pitchFamily="34" charset="-122"/>
                <a:cs typeface="IBM Plex Sans" pitchFamily="34" charset="-120"/>
              </a:rPr>
              <a:t>millsks.github.io/pixi-sbom</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The pixi-sbom Case</dc:title>
  <dc:subject>PptxGenJS Presentation</dc:subject>
  <dc:creator>PptxGenJS</dc:creator>
  <cp:lastModifiedBy>PptxGenJS</cp:lastModifiedBy>
  <cp:revision>1</cp:revision>
  <dcterms:created xsi:type="dcterms:W3CDTF">2026-09-27T01:20:54Z</dcterms:created>
  <dcterms:modified xsi:type="dcterms:W3CDTF">2026-09-27T01:20:54Z</dcterms:modified>
</cp:coreProperties>
</file>