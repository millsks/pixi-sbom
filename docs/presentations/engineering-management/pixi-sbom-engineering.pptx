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not the tool. We build on hundreds of third-party packages and right now we can't produce a reliable list of them when someone asks. Say the ask is small and it's on the next slide, so nobody spends this one wondering what you want from them. Mixed room: the engineering side wants to know what it costs to run, the security side wants to know whether it's credible. Both get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 with the ask means everything after this is evidence instead of suspense. Engineering management usually cares most about the risk card: this is a read-only step that produces a file. It doesn't touch the build, it isn't in the request path, and it can't fail a release unless we turn on a gate, which comes later. Two weeks is enough for a couple of releases to go through, so there's something real to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 here if the room already knows this. For the security and compliance side, the phrase that matters is "standard formats" — CycloneDX and SPDX are the two that show up in the regulations and in customer questionnaires, and we write both, so nobody has to take a format on our say-so. For the engineers: the input is the lockfile, which the resolver already produced, whether pixi, uv, Poetry, PDM, conda-lock or a pinned pip file wrote it. We're not re-solving anything or guessing at versions. We're writing down a decision that's already been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compliance people in this room know these rules better than you do, so state them plainly and don't stretch them. PCI DSS 4.0 Requirement 6.3.2: maintain an inventory of bespoke and custom software, and of the third-party software components built into it, to support vulnerability and patch management. It was a best practice until 31 March 2025 and is assessed from then on. It covers any organization that stores, processes or transmits cardholder data. DORA: Commission Delegated Regulation (EU) 2024/1774, Article 10(2)(d), requires financial entities to track the usage of third-party libraries, including open-source libraries, used by ICT services that support critical or important functions, and to monitor their versions and updates. It also covers software the entity develops itself. DORA has applied since 17 January 2025. Cyber Resilience Act, Regulation (EU) 2024/2847: vulnerability reporting applies from 11 September 2026; the SBOM and the other main obligations from 11 December 2027. Neither financial rule names SBOMs. Say that if asked: an SBOM is the auditable, machine-readable form of the inventory both require, not a separate obligation. Not on the slide on purpose: NYDFS Part 500.13 (asset inventory of information systems, from 1 November 2025) and the 2023 US interagency guidance on third-party risk. Both are relevant to a bank, but neither asks for a component-level inventory. If someone asks whether we're in scope today: for card data and EU financial entities, yes, already. Customers are asking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"why not just use what we already have". An incomplete SBOM is worse than no SBOM, because people trust it. If a scanner never sees the conda half of an environment, it comes back clean and the gap is invisible to everyone. Worth a sentence on the identity point: the conda build of numpy and the PyPI numpy are the same project, and matching them up is what lets a vulnerability database answer at all. Don't name competing products unless someone else does; this is about package ecosystems, not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tiles answer the questions an operations-minded manager asks before anything else: how big is it, where does it run, what does it talk to, and what happens on a locked-down network. Nothing gets sent anywhere. The vulnerability lookups are flags you turn on, and with them off it never opens a socket. Behind a proxy or on an air-gapped box it runs from a warm cache and records in the document what it couldn't reach, which is exactly what an auditor wants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tiles out. Pick the two that matter to this room and let the rest sit there showing there's depth behind the pitch. For security and compliance, spend your time on provenance: the document records which sources were consulted and which returned nothing, so an auditor can tell "we checked and found nothing" from "we never checked". For engineering, "any Python project" is usually the one that gets a reaction: it does not care which tool locked the environment. If the room buys software from suppliers, supplier SBOMs is the tile for them: a vendor's document is graded and checked before anyone relies on it, instead of accepted on faith.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on this slide. It's what makes the rest of the deck believable, and anyone in the room who has bought tooling before is waiting to see whether you'll admit to limits. Put the third one in your own words: the document separates "we asked and there was nothing" from "we couldn't ask", and that's what makes it usable as evidence rather than a claim. If someone pushes on overlap with a scanner we already have, agree with them — this feeds that scanner a complete inventory it doesn't have today for our conda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exit codes are the part engineering management cares about: these are ordinary CI failures, and they're distinguishable, so a pipeline can treat a license violation differently from a compile error. Say clearly that the gates ship off. For the trial, leave all of them off, collect documents for two weeks, then look at what they would have caught. Nobody's build breaks while we're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oversell the speed. Under a second is the offline case on a real 72-package environment. The first run that fetches license details over the network takes a bit over a second, and a cold run across many environments takes a few seconds. Either way it disappears next to a build. The line that lands with management is the last one: the tool is cheap, what it costs is attention, and we already owe that attention to whoever's asking us the compliance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here to answer the question nobody says out loud: is this somebody's weekend project that we'll regret depending on. The stability promise is the strongest item for management: it has held through eight minor releases since 1.0, and it's an explicit commitment about what won't change without a major version — more than most of our internal tooling offers. If we'd be the ones maintaining it, say so directly. Being the maintainer is a strength here as long as you're honest about the bus factor when somebody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decision you want out of this meeting: permission to put it on one repo, not a commitment to adopt it everywhere. Name the repo if you've got one in mind, and the date you'll be back. The three things you're promising to bring are deliberately concrete, and the middle one usually decides the wider rollout, because it's evidence from our own code instead of someone's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212B"/>
                </a:solidFill>
                <a:latin typeface="Verdana" pitchFamily="34" charset="0"/>
                <a:ea typeface="Verdana" pitchFamily="34" charset="-122"/>
                <a:cs typeface="Verdan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0212B"/>
                </a:solidFill>
                <a:latin typeface="Verdana" pitchFamily="34" charset="0"/>
                <a:ea typeface="Verdana" pitchFamily="34" charset="-122"/>
                <a:cs typeface="Verdana"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212B"/>
                </a:solidFill>
                <a:latin typeface="Verdana" pitchFamily="34" charset="0"/>
                <a:ea typeface="Verdana" pitchFamily="34" charset="-122"/>
                <a:cs typeface="Verdan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0212B"/>
                </a:solidFill>
                <a:latin typeface="Verdana" pitchFamily="34" charset="0"/>
                <a:ea typeface="Verdana" pitchFamily="34" charset="-122"/>
                <a:cs typeface="Verdana"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12B"/>
        </a:solidFill>
      </p:bgPr>
    </p:bg>
    <p:spTree>
      <p:nvGrpSpPr>
        <p:cNvPr id="1" name=""/>
        <p:cNvGrpSpPr/>
        <p:nvPr/>
      </p:nvGrpSpPr>
      <p:grpSpPr>
        <a:xfrm>
          <a:off x="0" y="0"/>
          <a:ext cx="0" cy="0"/>
          <a:chOff x="0" y="0"/>
          <a:chExt cx="0" cy="0"/>
        </a:xfrm>
      </p:grpSpPr>
      <p:sp>
        <p:nvSpPr>
          <p:cNvPr id="2" name="Text 0"/>
          <p:cNvSpPr/>
          <p:nvPr/>
        </p:nvSpPr>
        <p:spPr>
          <a:xfrm>
            <a:off x="812800" y="160084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BFAE"/>
                </a:solidFill>
                <a:latin typeface="Courier New" pitchFamily="49" charset="0"/>
                <a:ea typeface="Courier New" pitchFamily="49" charset="-122"/>
                <a:cs typeface="Courier New" pitchFamily="49" charset="-120"/>
              </a:rPr>
              <a:t>A PROPOSAL</a:t>
            </a:r>
            <a:endParaRPr lang="en-US" sz="1200" dirty="0"/>
          </a:p>
        </p:txBody>
      </p:sp>
      <p:sp>
        <p:nvSpPr>
          <p:cNvPr id="3" name="Text 1"/>
          <p:cNvSpPr/>
          <p:nvPr>
            <p:ph type="title"/>
          </p:nvPr>
        </p:nvSpPr>
        <p:spPr>
          <a:xfrm>
            <a:off x="812800" y="2068165"/>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8F6"/>
                </a:solidFill>
                <a:latin typeface="Verdana" pitchFamily="34" charset="0"/>
                <a:ea typeface="Verdana" pitchFamily="34" charset="-122"/>
                <a:cs typeface="Verdana" pitchFamily="34" charset="-120"/>
              </a:rPr>
              <a:t>Know what's in what we ship</a:t>
            </a:r>
            <a:endParaRPr lang="en-US" sz="6000" dirty="0"/>
          </a:p>
        </p:txBody>
      </p:sp>
      <p:sp>
        <p:nvSpPr>
          <p:cNvPr id="4" name="Text 2"/>
          <p:cNvSpPr/>
          <p:nvPr/>
        </p:nvSpPr>
        <p:spPr>
          <a:xfrm>
            <a:off x="812800" y="3922365"/>
            <a:ext cx="9156700" cy="115694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B5C4CA"/>
                </a:solidFill>
                <a:latin typeface="Verdana" pitchFamily="34" charset="0"/>
                <a:ea typeface="Verdana" pitchFamily="34" charset="-122"/>
                <a:cs typeface="Verdana" pitchFamily="34" charset="-120"/>
              </a:rPr>
              <a:t>pixi-sbom writes a software bill of materials for every environment we build. One job in CI, and we can answer the question.</a:t>
            </a:r>
            <a:endParaRPr lang="en-US" sz="2200" dirty="0"/>
          </a:p>
        </p:txBody>
      </p:sp>
      <p:sp>
        <p:nvSpPr>
          <p:cNvPr id="5" name="Text 3"/>
          <p:cNvSpPr/>
          <p:nvPr/>
        </p:nvSpPr>
        <p:spPr>
          <a:xfrm>
            <a:off x="812800" y="6238280"/>
            <a:ext cx="3480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C93"/>
                </a:solidFill>
                <a:latin typeface="Verdana" pitchFamily="34" charset="0"/>
                <a:ea typeface="Verdana" pitchFamily="34" charset="-122"/>
                <a:cs typeface="Verdana" pitchFamily="34" charset="-120"/>
              </a:rPr>
              <a:t>[Presenter] · [Date] · pixi-sbom 1.8.1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What I'm asking for</a:t>
            </a:r>
            <a:endParaRPr lang="en-US" sz="3600" dirty="0"/>
          </a:p>
        </p:txBody>
      </p:sp>
      <p:sp>
        <p:nvSpPr>
          <p:cNvPr id="3" name="Text 1"/>
          <p:cNvSpPr/>
          <p:nvPr/>
        </p:nvSpPr>
        <p:spPr>
          <a:xfrm>
            <a:off x="812800" y="1671290"/>
            <a:ext cx="10464800" cy="807641"/>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0212B"/>
                </a:solidFill>
                <a:latin typeface="Verdana" pitchFamily="34" charset="0"/>
                <a:ea typeface="Verdana" pitchFamily="34" charset="-122"/>
                <a:cs typeface="Verdana" pitchFamily="34" charset="-120"/>
              </a:rPr>
              <a:t>Let me add one job to one repo's CI. Two weeks later I'll show you what came out of it, and we decide from there.</a:t>
            </a:r>
            <a:endParaRPr lang="en-US" sz="2200" dirty="0"/>
          </a:p>
        </p:txBody>
      </p:sp>
      <p:sp>
        <p:nvSpPr>
          <p:cNvPr id="4" name="Shape 2"/>
          <p:cNvSpPr/>
          <p:nvPr/>
        </p:nvSpPr>
        <p:spPr>
          <a:xfrm>
            <a:off x="815975" y="2812306"/>
            <a:ext cx="3380284" cy="1657251"/>
          </a:xfrm>
          <a:prstGeom prst="roundRect">
            <a:avLst>
              <a:gd name="adj" fmla="val 5939"/>
            </a:avLst>
          </a:prstGeom>
          <a:solidFill>
            <a:srgbClr val="FFFFFF"/>
          </a:solidFill>
          <a:ln w="6350">
            <a:solidFill>
              <a:srgbClr val="DFE3DE"/>
            </a:solidFill>
            <a:prstDash val="solid"/>
          </a:ln>
        </p:spPr>
      </p:sp>
      <p:sp>
        <p:nvSpPr>
          <p:cNvPr id="5" name="Text 3"/>
          <p:cNvSpPr/>
          <p:nvPr/>
        </p:nvSpPr>
        <p:spPr>
          <a:xfrm>
            <a:off x="1073150" y="3069481"/>
            <a:ext cx="295191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7A6C"/>
                </a:solidFill>
                <a:latin typeface="Verdana" pitchFamily="34" charset="0"/>
                <a:ea typeface="Verdana" pitchFamily="34" charset="-122"/>
                <a:cs typeface="Verdana" pitchFamily="34" charset="-120"/>
              </a:rPr>
              <a:t>Effort</a:t>
            </a:r>
            <a:endParaRPr lang="en-US" sz="1600" dirty="0"/>
          </a:p>
        </p:txBody>
      </p:sp>
      <p:sp>
        <p:nvSpPr>
          <p:cNvPr id="6" name="Text 4"/>
          <p:cNvSpPr/>
          <p:nvPr/>
        </p:nvSpPr>
        <p:spPr>
          <a:xfrm>
            <a:off x="1073150" y="3389511"/>
            <a:ext cx="2951912"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Verdana" pitchFamily="34" charset="0"/>
                <a:ea typeface="Verdana" pitchFamily="34" charset="-122"/>
                <a:cs typeface="Verdana" pitchFamily="34" charset="-120"/>
              </a:rPr>
              <a:t>One workflow file. Nothing to host and nothing to operate.</a:t>
            </a:r>
            <a:endParaRPr lang="en-US" sz="1600" dirty="0"/>
          </a:p>
        </p:txBody>
      </p:sp>
      <p:sp>
        <p:nvSpPr>
          <p:cNvPr id="7" name="Shape 5"/>
          <p:cNvSpPr/>
          <p:nvPr/>
        </p:nvSpPr>
        <p:spPr>
          <a:xfrm>
            <a:off x="4405809" y="2812306"/>
            <a:ext cx="3380333" cy="1657251"/>
          </a:xfrm>
          <a:prstGeom prst="roundRect">
            <a:avLst>
              <a:gd name="adj" fmla="val 5939"/>
            </a:avLst>
          </a:prstGeom>
          <a:solidFill>
            <a:srgbClr val="FFFFFF"/>
          </a:solidFill>
          <a:ln w="6350">
            <a:solidFill>
              <a:srgbClr val="DFE3DE"/>
            </a:solidFill>
            <a:prstDash val="solid"/>
          </a:ln>
        </p:spPr>
      </p:sp>
      <p:sp>
        <p:nvSpPr>
          <p:cNvPr id="8" name="Text 6"/>
          <p:cNvSpPr/>
          <p:nvPr/>
        </p:nvSpPr>
        <p:spPr>
          <a:xfrm>
            <a:off x="4662984" y="3069481"/>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7A6C"/>
                </a:solidFill>
                <a:latin typeface="Verdana" pitchFamily="34" charset="0"/>
                <a:ea typeface="Verdana" pitchFamily="34" charset="-122"/>
                <a:cs typeface="Verdana" pitchFamily="34" charset="-120"/>
              </a:rPr>
              <a:t>Cost</a:t>
            </a:r>
            <a:endParaRPr lang="en-US" sz="1600" dirty="0"/>
          </a:p>
        </p:txBody>
      </p:sp>
      <p:sp>
        <p:nvSpPr>
          <p:cNvPr id="9" name="Text 7"/>
          <p:cNvSpPr/>
          <p:nvPr/>
        </p:nvSpPr>
        <p:spPr>
          <a:xfrm>
            <a:off x="4662984" y="3389511"/>
            <a:ext cx="2951963"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Verdana" pitchFamily="34" charset="0"/>
                <a:ea typeface="Verdana" pitchFamily="34" charset="-122"/>
                <a:cs typeface="Verdana" pitchFamily="34" charset="-120"/>
              </a:rPr>
              <a:t>No license fee, no service, no account. It's Apache-2.0.</a:t>
            </a:r>
            <a:endParaRPr lang="en-US" sz="1600" dirty="0"/>
          </a:p>
        </p:txBody>
      </p:sp>
      <p:sp>
        <p:nvSpPr>
          <p:cNvPr id="10" name="Shape 8"/>
          <p:cNvSpPr/>
          <p:nvPr/>
        </p:nvSpPr>
        <p:spPr>
          <a:xfrm>
            <a:off x="7995692" y="2812306"/>
            <a:ext cx="3380333" cy="1657251"/>
          </a:xfrm>
          <a:prstGeom prst="roundRect">
            <a:avLst>
              <a:gd name="adj" fmla="val 5939"/>
            </a:avLst>
          </a:prstGeom>
          <a:solidFill>
            <a:srgbClr val="FFFFFF"/>
          </a:solidFill>
          <a:ln w="6350">
            <a:solidFill>
              <a:srgbClr val="DFE3DE"/>
            </a:solidFill>
            <a:prstDash val="solid"/>
          </a:ln>
        </p:spPr>
      </p:sp>
      <p:sp>
        <p:nvSpPr>
          <p:cNvPr id="11" name="Text 9"/>
          <p:cNvSpPr/>
          <p:nvPr/>
        </p:nvSpPr>
        <p:spPr>
          <a:xfrm>
            <a:off x="8252867" y="3069481"/>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7A6C"/>
                </a:solidFill>
                <a:latin typeface="Verdana" pitchFamily="34" charset="0"/>
                <a:ea typeface="Verdana" pitchFamily="34" charset="-122"/>
                <a:cs typeface="Verdana" pitchFamily="34" charset="-120"/>
              </a:rPr>
              <a:t>Risk</a:t>
            </a:r>
            <a:endParaRPr lang="en-US" sz="1600" dirty="0"/>
          </a:p>
        </p:txBody>
      </p:sp>
      <p:sp>
        <p:nvSpPr>
          <p:cNvPr id="12" name="Text 10"/>
          <p:cNvSpPr/>
          <p:nvPr/>
        </p:nvSpPr>
        <p:spPr>
          <a:xfrm>
            <a:off x="8252867" y="3389511"/>
            <a:ext cx="2951963"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Verdana" pitchFamily="34" charset="0"/>
                <a:ea typeface="Verdana" pitchFamily="34" charset="-122"/>
                <a:cs typeface="Verdana" pitchFamily="34" charset="-120"/>
              </a:rPr>
              <a:t>It reads the lockfile and writes a file. It can't break a build unless we ask it to.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What a software bill of materials is</a:t>
            </a:r>
            <a:endParaRPr lang="en-US" sz="3600" dirty="0"/>
          </a:p>
        </p:txBody>
      </p:sp>
      <p:sp>
        <p:nvSpPr>
          <p:cNvPr id="3" name="Text 1"/>
          <p:cNvSpPr/>
          <p:nvPr/>
        </p:nvSpPr>
        <p:spPr>
          <a:xfrm>
            <a:off x="812800" y="1620490"/>
            <a:ext cx="104648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Verdana" pitchFamily="34" charset="0"/>
                <a:ea typeface="Verdana" pitchFamily="34" charset="-122"/>
                <a:cs typeface="Verdana" pitchFamily="34" charset="-120"/>
              </a:rPr>
              <a:t>A machine-readable list of everything in a build: names, versions, licenses, who supplied each piece, and what depends on what. The ingredients label for software.</a:t>
            </a:r>
            <a:endParaRPr lang="en-US" sz="1800" dirty="0"/>
          </a:p>
        </p:txBody>
      </p:sp>
      <p:sp>
        <p:nvSpPr>
          <p:cNvPr id="4" name="Shape 2"/>
          <p:cNvSpPr/>
          <p:nvPr/>
        </p:nvSpPr>
        <p:spPr>
          <a:xfrm>
            <a:off x="815975" y="2568525"/>
            <a:ext cx="2851150" cy="1700461"/>
          </a:xfrm>
          <a:prstGeom prst="roundRect">
            <a:avLst>
              <a:gd name="adj" fmla="val 5788"/>
            </a:avLst>
          </a:prstGeom>
          <a:solidFill>
            <a:srgbClr val="FFFFFF"/>
          </a:solidFill>
          <a:ln w="6350">
            <a:solidFill>
              <a:srgbClr val="DFE3DE"/>
            </a:solidFill>
            <a:prstDash val="solid"/>
          </a:ln>
        </p:spPr>
      </p:sp>
      <p:sp>
        <p:nvSpPr>
          <p:cNvPr id="5" name="Text 3"/>
          <p:cNvSpPr/>
          <p:nvPr/>
        </p:nvSpPr>
        <p:spPr>
          <a:xfrm>
            <a:off x="1047750" y="2800300"/>
            <a:ext cx="245922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212B"/>
                </a:solidFill>
                <a:latin typeface="Courier New" pitchFamily="49" charset="0"/>
                <a:ea typeface="Courier New" pitchFamily="49" charset="-122"/>
                <a:cs typeface="Courier New" pitchFamily="49" charset="-120"/>
              </a:rPr>
              <a:t>The lockfile</a:t>
            </a:r>
            <a:endParaRPr lang="en-US" sz="1400" dirty="0"/>
          </a:p>
        </p:txBody>
      </p:sp>
      <p:sp>
        <p:nvSpPr>
          <p:cNvPr id="6" name="Text 4"/>
          <p:cNvSpPr/>
          <p:nvPr/>
        </p:nvSpPr>
        <p:spPr>
          <a:xfrm>
            <a:off x="1047750" y="3112691"/>
            <a:ext cx="2459228" cy="94992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A5568"/>
                </a:solidFill>
                <a:latin typeface="Verdana" pitchFamily="34" charset="0"/>
                <a:ea typeface="Verdana" pitchFamily="34" charset="-122"/>
                <a:cs typeface="Verdana" pitchFamily="34" charset="-120"/>
              </a:rPr>
              <a:t>pixi, uv, Poetry and the rest: the exact versions and hashes the resolver already picked</a:t>
            </a:r>
            <a:endParaRPr lang="en-US" sz="1400" dirty="0"/>
          </a:p>
        </p:txBody>
      </p:sp>
      <p:pic>
        <p:nvPicPr>
          <p:cNvPr id="7" name="Image 0" descr="arrow-right">    </p:cNvPr>
          <p:cNvPicPr>
            <a:picLocks noChangeAspect="1"/>
          </p:cNvPicPr>
          <p:nvPr/>
        </p:nvPicPr>
        <p:blipFill>
          <a:blip r:embed="rId1"/>
          <a:srcRect l="0" r="0" t="0" b="0"/>
          <a:stretch/>
        </p:blipFill>
        <p:spPr>
          <a:xfrm>
            <a:off x="3822700" y="3240931"/>
            <a:ext cx="698500" cy="355600"/>
          </a:xfrm>
          <a:prstGeom prst="rect">
            <a:avLst/>
          </a:prstGeom>
        </p:spPr>
      </p:pic>
      <p:sp>
        <p:nvSpPr>
          <p:cNvPr id="8" name="Shape 5"/>
          <p:cNvSpPr/>
          <p:nvPr/>
        </p:nvSpPr>
        <p:spPr>
          <a:xfrm>
            <a:off x="4673600" y="2687241"/>
            <a:ext cx="2844800" cy="1462980"/>
          </a:xfrm>
          <a:prstGeom prst="roundRect">
            <a:avLst>
              <a:gd name="adj" fmla="val 6945"/>
            </a:avLst>
          </a:prstGeom>
          <a:solidFill>
            <a:srgbClr val="10212B"/>
          </a:solidFill>
          <a:ln/>
        </p:spPr>
      </p:sp>
      <p:sp>
        <p:nvSpPr>
          <p:cNvPr id="9" name="Text 6"/>
          <p:cNvSpPr/>
          <p:nvPr/>
        </p:nvSpPr>
        <p:spPr>
          <a:xfrm>
            <a:off x="4902200" y="2915841"/>
            <a:ext cx="245922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FBFAE"/>
                </a:solidFill>
                <a:latin typeface="Courier New" pitchFamily="49" charset="0"/>
                <a:ea typeface="Courier New" pitchFamily="49" charset="-122"/>
                <a:cs typeface="Courier New" pitchFamily="49" charset="-120"/>
              </a:rPr>
              <a:t>pixi-sbom</a:t>
            </a:r>
            <a:endParaRPr lang="en-US" sz="1400" dirty="0"/>
          </a:p>
        </p:txBody>
      </p:sp>
      <p:sp>
        <p:nvSpPr>
          <p:cNvPr id="10" name="Text 7"/>
          <p:cNvSpPr/>
          <p:nvPr/>
        </p:nvSpPr>
        <p:spPr>
          <a:xfrm>
            <a:off x="4902200" y="3228231"/>
            <a:ext cx="2459228"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C4CA"/>
                </a:solidFill>
                <a:latin typeface="Verdana" pitchFamily="34" charset="0"/>
                <a:ea typeface="Verdana" pitchFamily="34" charset="-122"/>
                <a:cs typeface="Verdana" pitchFamily="34" charset="-120"/>
              </a:rPr>
              <a:t>Reads it, fills in licenses and identity, looks up known vulnerabilities</a:t>
            </a:r>
            <a:endParaRPr lang="en-US" sz="1400" dirty="0"/>
          </a:p>
        </p:txBody>
      </p:sp>
      <p:pic>
        <p:nvPicPr>
          <p:cNvPr id="11" name="Image 1" descr="arrow-right">    </p:cNvPr>
          <p:cNvPicPr>
            <a:picLocks noChangeAspect="1"/>
          </p:cNvPicPr>
          <p:nvPr/>
        </p:nvPicPr>
        <p:blipFill>
          <a:blip r:embed="rId2"/>
          <a:srcRect l="0" r="0" t="0" b="0"/>
          <a:stretch/>
        </p:blipFill>
        <p:spPr>
          <a:xfrm>
            <a:off x="7670800" y="3240931"/>
            <a:ext cx="698500" cy="355600"/>
          </a:xfrm>
          <a:prstGeom prst="rect">
            <a:avLst/>
          </a:prstGeom>
        </p:spPr>
      </p:pic>
      <p:sp>
        <p:nvSpPr>
          <p:cNvPr id="12" name="Shape 8"/>
          <p:cNvSpPr/>
          <p:nvPr/>
        </p:nvSpPr>
        <p:spPr>
          <a:xfrm>
            <a:off x="8524875" y="2684066"/>
            <a:ext cx="2851150" cy="1469330"/>
          </a:xfrm>
          <a:prstGeom prst="roundRect">
            <a:avLst>
              <a:gd name="adj" fmla="val 6699"/>
            </a:avLst>
          </a:prstGeom>
          <a:solidFill>
            <a:srgbClr val="FFFFFF"/>
          </a:solidFill>
          <a:ln w="6350">
            <a:solidFill>
              <a:srgbClr val="DFE3DE"/>
            </a:solidFill>
            <a:prstDash val="solid"/>
          </a:ln>
        </p:spPr>
      </p:sp>
      <p:sp>
        <p:nvSpPr>
          <p:cNvPr id="13" name="Text 9"/>
          <p:cNvSpPr/>
          <p:nvPr/>
        </p:nvSpPr>
        <p:spPr>
          <a:xfrm>
            <a:off x="8756650" y="2915841"/>
            <a:ext cx="245922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212B"/>
                </a:solidFill>
                <a:latin typeface="Courier New" pitchFamily="49" charset="0"/>
                <a:ea typeface="Courier New" pitchFamily="49" charset="-122"/>
                <a:cs typeface="Courier New" pitchFamily="49" charset="-120"/>
              </a:rPr>
              <a:t>CycloneDX / SPDX</a:t>
            </a:r>
            <a:endParaRPr lang="en-US" sz="1400" dirty="0"/>
          </a:p>
        </p:txBody>
      </p:sp>
      <p:sp>
        <p:nvSpPr>
          <p:cNvPr id="14" name="Text 10"/>
          <p:cNvSpPr/>
          <p:nvPr/>
        </p:nvSpPr>
        <p:spPr>
          <a:xfrm>
            <a:off x="8756650" y="3228231"/>
            <a:ext cx="2459228"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A5568"/>
                </a:solidFill>
                <a:latin typeface="Verdana" pitchFamily="34" charset="0"/>
                <a:ea typeface="Verdana" pitchFamily="34" charset="-122"/>
                <a:cs typeface="Verdana" pitchFamily="34" charset="-120"/>
              </a:rPr>
              <a:t>The two standard formats auditors, customers and scanners already read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7603"/>
          </a:xfrm>
          <a:prstGeom prst="rect">
            <a:avLst/>
          </a:prstGeom>
          <a:noFill/>
          <a:ln/>
        </p:spPr>
        <p:txBody>
          <a:bodyPr wrap="square" lIns="0" tIns="0" rIns="0" bIns="0" rtlCol="0" anchor="t">
            <a:normAutofit/>
          </a:bodyPr>
          <a:lstStyle/>
          <a:p>
            <a:pPr algn="l" indent="0" marL="0">
              <a:lnSpc>
                <a:spcPts val="3824"/>
              </a:lnSpc>
              <a:buNone/>
            </a:pPr>
            <a:r>
              <a:rPr lang="en-US" sz="3476" b="1" i="0" dirty="0">
                <a:solidFill>
                  <a:srgbClr val="10212B"/>
                </a:solidFill>
                <a:latin typeface="Verdana" pitchFamily="34" charset="0"/>
                <a:ea typeface="Verdana" pitchFamily="34" charset="-122"/>
                <a:cs typeface="Verdana" pitchFamily="34" charset="-120"/>
              </a:rPr>
              <a:t>Why we're being asked for this now</a:t>
            </a:r>
            <a:endParaRPr lang="en-US" sz="3476"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303"/>
          <a:ext cx="10553700" cy="3565575"/>
        </p:xfrm>
        <a:graphic>
          <a:graphicData uri="http://schemas.openxmlformats.org/drawingml/2006/table">
            <a:tbl>
              <a:tblPr/>
              <a:tblGrid>
                <a:gridCol w="2638425"/>
                <a:gridCol w="2532888"/>
                <a:gridCol w="3693795"/>
                <a:gridCol w="1688592"/>
              </a:tblGrid>
              <a:tr h="392361">
                <a:tc>
                  <a:txBody>
                    <a:bodyPr/>
                    <a:lstStyle/>
                    <a:p>
                      <a:pPr indent="0" marL="0">
                        <a:lnSpc>
                          <a:spcPts val="1712"/>
                        </a:lnSpc>
                        <a:buNone/>
                      </a:pPr>
                      <a:r>
                        <a:rPr lang="en-US" sz="1223" b="1" dirty="0">
                          <a:solidFill>
                            <a:srgbClr val="C2571A"/>
                          </a:solidFill>
                          <a:latin typeface="Verdana" pitchFamily="34" charset="0"/>
                          <a:ea typeface="Verdana" pitchFamily="34" charset="-122"/>
                          <a:cs typeface="Verdana" pitchFamily="34" charset="-120"/>
                        </a:rPr>
                        <a:t>Rule</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B7B8B6"/>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7B8B6"/>
                      </a:solidFill>
                      <a:prstDash val="solid"/>
                      <a:round/>
                      <a:headEnd type="none" w="med" len="med"/>
                      <a:tailEnd type="none" w="med" len="med"/>
                    </a:lnB>
                    <a:solidFill>
                      <a:srgbClr val="E5E6E4"/>
                    </a:solidFill>
                  </a:tcPr>
                </a:tc>
                <a:tc>
                  <a:txBody>
                    <a:bodyPr/>
                    <a:lstStyle/>
                    <a:p>
                      <a:pPr indent="0" marL="0">
                        <a:lnSpc>
                          <a:spcPts val="1712"/>
                        </a:lnSpc>
                        <a:buNone/>
                      </a:pPr>
                      <a:r>
                        <a:rPr lang="en-US" sz="1223" b="1" dirty="0">
                          <a:solidFill>
                            <a:srgbClr val="C2571A"/>
                          </a:solidFill>
                          <a:latin typeface="Verdana" pitchFamily="34" charset="0"/>
                          <a:ea typeface="Verdana" pitchFamily="34" charset="-122"/>
                          <a:cs typeface="Verdana" pitchFamily="34" charset="-120"/>
                        </a:rPr>
                        <a:t>Who it covers</a:t>
                      </a:r>
                      <a:endParaRPr lang="en-US" sz="1223" dirty="0">
                        <a:latin typeface="Verdana" charset="0"/>
                        <a:ea typeface="Verdana" charset="0"/>
                        <a:cs typeface="Verdana" charset="0"/>
                      </a:endParaRPr>
                    </a:p>
                  </a:txBody>
                  <a:tcPr marL="127000" marR="127000" marT="88900" marB="88900" anchor="t">
                    <a:lnL w="12700" cap="flat" cmpd="sng" algn="ctr">
                      <a:solidFill>
                        <a:srgbClr val="B7B8B6"/>
                      </a:solidFill>
                      <a:prstDash val="solid"/>
                      <a:round/>
                      <a:headEnd type="none" w="med" len="med"/>
                      <a:tailEnd type="none" w="med" len="med"/>
                    </a:lnL>
                    <a:lnR w="12700" cap="flat" cmpd="sng" algn="ctr">
                      <a:solidFill>
                        <a:srgbClr val="B7B8B6"/>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7B8B6"/>
                      </a:solidFill>
                      <a:prstDash val="solid"/>
                      <a:round/>
                      <a:headEnd type="none" w="med" len="med"/>
                      <a:tailEnd type="none" w="med" len="med"/>
                    </a:lnB>
                    <a:solidFill>
                      <a:srgbClr val="E5E6E4"/>
                    </a:solidFill>
                  </a:tcPr>
                </a:tc>
                <a:tc>
                  <a:txBody>
                    <a:bodyPr/>
                    <a:lstStyle/>
                    <a:p>
                      <a:pPr indent="0" marL="0">
                        <a:lnSpc>
                          <a:spcPts val="1712"/>
                        </a:lnSpc>
                        <a:buNone/>
                      </a:pPr>
                      <a:r>
                        <a:rPr lang="en-US" sz="1223" b="1" dirty="0">
                          <a:solidFill>
                            <a:srgbClr val="C2571A"/>
                          </a:solidFill>
                          <a:latin typeface="Verdana" pitchFamily="34" charset="0"/>
                          <a:ea typeface="Verdana" pitchFamily="34" charset="-122"/>
                          <a:cs typeface="Verdana" pitchFamily="34" charset="-120"/>
                        </a:rPr>
                        <a:t>What it asks for</a:t>
                      </a:r>
                      <a:endParaRPr lang="en-US" sz="1223" dirty="0">
                        <a:latin typeface="Verdana" charset="0"/>
                        <a:ea typeface="Verdana" charset="0"/>
                        <a:cs typeface="Verdana" charset="0"/>
                      </a:endParaRPr>
                    </a:p>
                  </a:txBody>
                  <a:tcPr marL="127000" marR="127000" marT="88900" marB="88900" anchor="t">
                    <a:lnL w="12700" cap="flat" cmpd="sng" algn="ctr">
                      <a:solidFill>
                        <a:srgbClr val="B7B8B6"/>
                      </a:solidFill>
                      <a:prstDash val="solid"/>
                      <a:round/>
                      <a:headEnd type="none" w="med" len="med"/>
                      <a:tailEnd type="none" w="med" len="med"/>
                    </a:lnL>
                    <a:lnR w="12700" cap="flat" cmpd="sng" algn="ctr">
                      <a:solidFill>
                        <a:srgbClr val="B7B8B6"/>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7B8B6"/>
                      </a:solidFill>
                      <a:prstDash val="solid"/>
                      <a:round/>
                      <a:headEnd type="none" w="med" len="med"/>
                      <a:tailEnd type="none" w="med" len="med"/>
                    </a:lnB>
                    <a:solidFill>
                      <a:srgbClr val="E5E6E4"/>
                    </a:solidFill>
                  </a:tcPr>
                </a:tc>
                <a:tc>
                  <a:txBody>
                    <a:bodyPr/>
                    <a:lstStyle/>
                    <a:p>
                      <a:pPr indent="0" marL="0">
                        <a:lnSpc>
                          <a:spcPts val="1712"/>
                        </a:lnSpc>
                        <a:buNone/>
                      </a:pPr>
                      <a:r>
                        <a:rPr lang="en-US" sz="1223" b="1" dirty="0">
                          <a:solidFill>
                            <a:srgbClr val="C2571A"/>
                          </a:solidFill>
                          <a:latin typeface="Verdana" pitchFamily="34" charset="0"/>
                          <a:ea typeface="Verdana" pitchFamily="34" charset="-122"/>
                          <a:cs typeface="Verdana" pitchFamily="34" charset="-120"/>
                        </a:rPr>
                        <a:t>Since</a:t>
                      </a:r>
                      <a:endParaRPr lang="en-US" sz="1223" dirty="0">
                        <a:latin typeface="Verdana" charset="0"/>
                        <a:ea typeface="Verdana" charset="0"/>
                        <a:cs typeface="Verdana" charset="0"/>
                      </a:endParaRPr>
                    </a:p>
                  </a:txBody>
                  <a:tcPr marL="127000" marR="127000" marT="88900" marB="88900" anchor="t">
                    <a:lnL w="12700" cap="flat" cmpd="sng" algn="ctr">
                      <a:solidFill>
                        <a:srgbClr val="B7B8B6"/>
                      </a:solidFill>
                      <a:prstDash val="solid"/>
                      <a:round/>
                      <a:headEnd type="none" w="med" len="med"/>
                      <a:tailEnd type="none" w="med" len="med"/>
                    </a:lnL>
                    <a:lnR w="12700" cap="flat" cmpd="sng" algn="ctr">
                      <a:solidFill>
                        <a:srgbClr val="B7B8B6"/>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7B8B6"/>
                      </a:solidFill>
                      <a:prstDash val="solid"/>
                      <a:round/>
                      <a:headEnd type="none" w="med" len="med"/>
                      <a:tailEnd type="none" w="med" len="med"/>
                    </a:lnB>
                    <a:solidFill>
                      <a:srgbClr val="E5E6E4"/>
                    </a:solidFill>
                  </a:tcPr>
                </a:tc>
              </a:tr>
              <a:tr h="594271">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PCI DSS 4.0, Req. 6.3.2</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7B8B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Banks and anyone else handling card data</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7B8B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An inventory of our own software and the third-party components in it</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7B8B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31 Mar 2025</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7B8B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796131">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EU DORA, RTS 2024/1774 Art. 10</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EU banks, insurers and investment firms</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Track third-party libraries, open source included, in services behind critical functions</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17 Jan 2025</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594271">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EU Cyber Resilience Act</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Anyone selling software in the EU</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A machine-readable SBOM for each product</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11 Dec 2027</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594271">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US Executive Order 14028</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Software sold to federal agencies</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An SBOM when an agency asks, with NTIA's minimum elements</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2021</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594271">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Customers</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Every deal with a security review</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4A5568"/>
                          </a:solidFill>
                          <a:latin typeface="Verdana" pitchFamily="34" charset="0"/>
                          <a:ea typeface="Verdana" pitchFamily="34" charset="-122"/>
                          <a:cs typeface="Verdana" pitchFamily="34" charset="-120"/>
                        </a:rPr>
                        <a:t>Questionnaires we answer by hand today</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1712"/>
                        </a:lnSpc>
                        <a:buNone/>
                      </a:pPr>
                      <a:r>
                        <a:rPr lang="en-US" sz="1223" dirty="0">
                          <a:solidFill>
                            <a:srgbClr val="10212B"/>
                          </a:solidFill>
                          <a:latin typeface="Verdana" pitchFamily="34" charset="0"/>
                          <a:ea typeface="Verdana" pitchFamily="34" charset="-122"/>
                          <a:cs typeface="Verdana" pitchFamily="34" charset="-120"/>
                        </a:rPr>
                        <a:t>Now</a:t>
                      </a:r>
                      <a:endParaRPr lang="en-US" sz="1223" dirty="0">
                        <a:latin typeface="Verdana" charset="0"/>
                        <a:ea typeface="Verdana" charset="0"/>
                        <a:cs typeface="Verdana" charset="0"/>
                      </a:endParaRPr>
                    </a:p>
                  </a:txBody>
                  <a:tcPr marL="127000" marR="127000" marT="88900" marB="8890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bl>
          </a:graphicData>
        </a:graphic>
      </p:graphicFrame>
      <p:sp>
        <p:nvSpPr>
          <p:cNvPr id="4" name="Text 1"/>
          <p:cNvSpPr/>
          <p:nvPr/>
        </p:nvSpPr>
        <p:spPr>
          <a:xfrm>
            <a:off x="812800" y="5330478"/>
            <a:ext cx="10464800" cy="536922"/>
          </a:xfrm>
          <a:prstGeom prst="rect">
            <a:avLst/>
          </a:prstGeom>
          <a:noFill/>
          <a:ln/>
        </p:spPr>
        <p:txBody>
          <a:bodyPr wrap="square" lIns="0" tIns="0" rIns="0" bIns="0" rtlCol="0" anchor="t">
            <a:normAutofit/>
          </a:bodyPr>
          <a:lstStyle/>
          <a:p>
            <a:pPr algn="l" indent="0" marL="0">
              <a:lnSpc>
                <a:spcPts val="2034"/>
              </a:lnSpc>
              <a:buNone/>
            </a:pPr>
            <a:r>
              <a:rPr lang="en-US" sz="1453" dirty="0">
                <a:solidFill>
                  <a:srgbClr val="10212B"/>
                </a:solidFill>
                <a:latin typeface="Verdana" pitchFamily="34" charset="0"/>
                <a:ea typeface="Verdana" pitchFamily="34" charset="-122"/>
                <a:cs typeface="Verdana" pitchFamily="34" charset="-120"/>
              </a:rPr>
              <a:t>The two financial rules already apply. Neither says "SBOM"; an SBOM is how we show the inventory they require.</a:t>
            </a:r>
            <a:endParaRPr lang="en-US" sz="1453" dirty="0"/>
          </a:p>
        </p:txBody>
      </p:sp>
      <p:sp>
        <p:nvSpPr>
          <p:cNvPr id="5" name="Text 2"/>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Verdana" pitchFamily="34" charset="0"/>
                <a:ea typeface="Verdana" pitchFamily="34" charset="-122"/>
                <a:cs typeface="Verdana" pitchFamily="34" charset="-120"/>
              </a:rPr>
              <a:t>Sources: PCI DSS v4.0 Req. 6.3.2 · Commission Delegated Reg. (EU) 2024/1774 Art. 10(2)(d) · Reg. (EU) 2024/2847 · EO 14028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Why the tools already out there don't fit</a:t>
            </a:r>
            <a:endParaRPr lang="en-US" sz="3600" dirty="0"/>
          </a:p>
        </p:txBody>
      </p:sp>
      <p:sp>
        <p:nvSpPr>
          <p:cNvPr id="3" name="Text 1"/>
          <p:cNvSpPr/>
          <p:nvPr/>
        </p:nvSpPr>
        <p:spPr>
          <a:xfrm>
            <a:off x="812800" y="1595090"/>
            <a:ext cx="1059561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Verdana" pitchFamily="34" charset="0"/>
                <a:ea typeface="Verdana" pitchFamily="34" charset="-122"/>
                <a:cs typeface="Verdana" pitchFamily="34" charset="-120"/>
              </a:rPr>
              <a:t>Most SBOM tooling was built for pip, npm and Maven. A pixi environment is conda packages </a:t>
            </a:r>
            <a:r>
              <a:rPr lang="en-US" sz="1800" b="1" dirty="0">
                <a:solidFill>
                  <a:srgbClr val="4A5568"/>
                </a:solidFill>
                <a:latin typeface="Verdana" pitchFamily="34" charset="0"/>
                <a:ea typeface="Verdana" pitchFamily="34" charset="-122"/>
                <a:cs typeface="Verdana" pitchFamily="34" charset="-120"/>
              </a:rPr>
              <a:t>and</a:t>
            </a:r>
            <a:r>
              <a:rPr lang="en-US" sz="1800" dirty="0">
                <a:solidFill>
                  <a:srgbClr val="4A5568"/>
                </a:solidFill>
                <a:latin typeface="Verdana" pitchFamily="34" charset="0"/>
                <a:ea typeface="Verdana" pitchFamily="34" charset="-122"/>
                <a:cs typeface="Verdana" pitchFamily="34" charset="-120"/>
              </a:rPr>
              <a:t> PyPI wheels, resolved together into one lockfile.</a:t>
            </a:r>
            <a:endParaRPr lang="en-US" sz="1800" dirty="0"/>
          </a:p>
        </p:txBody>
      </p:sp>
      <p:sp>
        <p:nvSpPr>
          <p:cNvPr id="4" name="Shape 2"/>
          <p:cNvSpPr/>
          <p:nvPr/>
        </p:nvSpPr>
        <p:spPr>
          <a:xfrm>
            <a:off x="815975" y="2517725"/>
            <a:ext cx="5181600" cy="2291060"/>
          </a:xfrm>
          <a:prstGeom prst="roundRect">
            <a:avLst>
              <a:gd name="adj" fmla="val 4296"/>
            </a:avLst>
          </a:prstGeom>
          <a:solidFill>
            <a:srgbClr val="FFFFFF"/>
          </a:solidFill>
          <a:ln w="6350">
            <a:solidFill>
              <a:srgbClr val="DFE3DE"/>
            </a:solidFill>
            <a:prstDash val="solid"/>
          </a:ln>
        </p:spPr>
      </p:sp>
      <p:sp>
        <p:nvSpPr>
          <p:cNvPr id="5" name="Text 3"/>
          <p:cNvSpPr/>
          <p:nvPr/>
        </p:nvSpPr>
        <p:spPr>
          <a:xfrm>
            <a:off x="1073150" y="2774900"/>
            <a:ext cx="480726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C2571A"/>
                </a:solidFill>
                <a:latin typeface="Verdana" pitchFamily="34" charset="0"/>
                <a:ea typeface="Verdana" pitchFamily="34" charset="-122"/>
                <a:cs typeface="Verdana" pitchFamily="34" charset="-120"/>
              </a:rPr>
              <a:t>What a generic tool sees</a:t>
            </a:r>
            <a:endParaRPr lang="en-US" sz="1700" dirty="0"/>
          </a:p>
        </p:txBody>
      </p:sp>
      <p:sp>
        <p:nvSpPr>
          <p:cNvPr id="6" name="Text 4"/>
          <p:cNvSpPr/>
          <p:nvPr/>
        </p:nvSpPr>
        <p:spPr>
          <a:xfrm>
            <a:off x="1073150" y="3122861"/>
            <a:ext cx="4807268" cy="145415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4A5568"/>
                </a:solidFill>
                <a:latin typeface="Verdana" pitchFamily="34" charset="0"/>
                <a:ea typeface="Verdana" pitchFamily="34" charset="-122"/>
                <a:cs typeface="Verdana" pitchFamily="34" charset="-120"/>
              </a:rPr>
              <a:t>The wheels it recognizes</a:t>
            </a:r>
            <a:endParaRPr lang="en-US" sz="1500" dirty="0"/>
          </a:p>
          <a:p>
            <a:pPr algn="l" marL="228600" indent="-182880">
              <a:lnSpc>
                <a:spcPts val="2250"/>
              </a:lnSpc>
              <a:buSzPct val="100000"/>
              <a:buChar char="•"/>
            </a:pPr>
            <a:r>
              <a:rPr lang="en-US" sz="1500" dirty="0">
                <a:solidFill>
                  <a:srgbClr val="4A5568"/>
                </a:solidFill>
                <a:latin typeface="Verdana" pitchFamily="34" charset="0"/>
                <a:ea typeface="Verdana" pitchFamily="34" charset="-122"/>
                <a:cs typeface="Verdana" pitchFamily="34" charset="-120"/>
              </a:rPr>
              <a:t>Conda packages as unknown, or missed entirely</a:t>
            </a:r>
            <a:endParaRPr lang="en-US" sz="1500" dirty="0"/>
          </a:p>
          <a:p>
            <a:pPr algn="l" marL="228600" indent="-182880">
              <a:lnSpc>
                <a:spcPts val="2250"/>
              </a:lnSpc>
              <a:buSzPct val="100000"/>
              <a:buChar char="•"/>
            </a:pPr>
            <a:r>
              <a:rPr lang="en-US" sz="1500" dirty="0">
                <a:solidFill>
                  <a:srgbClr val="4A5568"/>
                </a:solidFill>
                <a:latin typeface="Verdana" pitchFamily="34" charset="0"/>
                <a:ea typeface="Verdana" pitchFamily="34" charset="-122"/>
                <a:cs typeface="Verdana" pitchFamily="34" charset="-120"/>
              </a:rPr>
              <a:t>No channel, build string or subdir</a:t>
            </a:r>
            <a:endParaRPr lang="en-US" sz="1500" dirty="0"/>
          </a:p>
          <a:p>
            <a:pPr algn="l" marL="228600" indent="-182880">
              <a:lnSpc>
                <a:spcPts val="2250"/>
              </a:lnSpc>
              <a:buSzPct val="100000"/>
              <a:buChar char="•"/>
            </a:pPr>
            <a:r>
              <a:rPr lang="en-US" sz="1500" dirty="0">
                <a:solidFill>
                  <a:srgbClr val="4A5568"/>
                </a:solidFill>
                <a:latin typeface="Verdana" pitchFamily="34" charset="0"/>
                <a:ea typeface="Verdana" pitchFamily="34" charset="-122"/>
                <a:cs typeface="Verdana" pitchFamily="34" charset="-120"/>
              </a:rPr>
              <a:t>An inventory that looks complete and isn't</a:t>
            </a:r>
            <a:endParaRPr lang="en-US" sz="1500" dirty="0"/>
          </a:p>
        </p:txBody>
      </p:sp>
      <p:sp>
        <p:nvSpPr>
          <p:cNvPr id="7" name="Shape 5"/>
          <p:cNvSpPr/>
          <p:nvPr/>
        </p:nvSpPr>
        <p:spPr>
          <a:xfrm>
            <a:off x="6203950" y="2514550"/>
            <a:ext cx="5175250" cy="2297410"/>
          </a:xfrm>
          <a:prstGeom prst="roundRect">
            <a:avLst>
              <a:gd name="adj" fmla="val 4422"/>
            </a:avLst>
          </a:prstGeom>
          <a:solidFill>
            <a:srgbClr val="10212B"/>
          </a:solidFill>
          <a:ln/>
        </p:spPr>
      </p:sp>
      <p:sp>
        <p:nvSpPr>
          <p:cNvPr id="8" name="Text 6"/>
          <p:cNvSpPr/>
          <p:nvPr/>
        </p:nvSpPr>
        <p:spPr>
          <a:xfrm>
            <a:off x="6457950" y="2768550"/>
            <a:ext cx="480726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6FBFAE"/>
                </a:solidFill>
                <a:latin typeface="Verdana" pitchFamily="34" charset="0"/>
                <a:ea typeface="Verdana" pitchFamily="34" charset="-122"/>
                <a:cs typeface="Verdana" pitchFamily="34" charset="-120"/>
              </a:rPr>
              <a:t>What pixi-sbom sees</a:t>
            </a:r>
            <a:endParaRPr lang="en-US" sz="1700" dirty="0"/>
          </a:p>
        </p:txBody>
      </p:sp>
      <p:sp>
        <p:nvSpPr>
          <p:cNvPr id="9" name="Text 7"/>
          <p:cNvSpPr/>
          <p:nvPr/>
        </p:nvSpPr>
        <p:spPr>
          <a:xfrm>
            <a:off x="6457950" y="3116511"/>
            <a:ext cx="4807268" cy="116840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B5C4CA"/>
                </a:solidFill>
                <a:latin typeface="Verdana" pitchFamily="34" charset="0"/>
                <a:ea typeface="Verdana" pitchFamily="34" charset="-122"/>
                <a:cs typeface="Verdana" pitchFamily="34" charset="-120"/>
              </a:rPr>
              <a:t>Every locked package, both kinds</a:t>
            </a:r>
            <a:endParaRPr lang="en-US" sz="1500" dirty="0"/>
          </a:p>
          <a:p>
            <a:pPr algn="l" marL="228600" indent="-182880">
              <a:lnSpc>
                <a:spcPts val="2250"/>
              </a:lnSpc>
              <a:buSzPct val="100000"/>
              <a:buChar char="•"/>
            </a:pPr>
            <a:r>
              <a:rPr lang="en-US" sz="1500" dirty="0">
                <a:solidFill>
                  <a:srgbClr val="B5C4CA"/>
                </a:solidFill>
                <a:latin typeface="Verdana" pitchFamily="34" charset="0"/>
                <a:ea typeface="Verdana" pitchFamily="34" charset="-122"/>
                <a:cs typeface="Verdana" pitchFamily="34" charset="-120"/>
              </a:rPr>
              <a:t>Channel, build, subdir and hashes</a:t>
            </a:r>
            <a:endParaRPr lang="en-US" sz="1500" dirty="0"/>
          </a:p>
          <a:p>
            <a:pPr algn="l" marL="228600" indent="-182880">
              <a:lnSpc>
                <a:spcPts val="2250"/>
              </a:lnSpc>
              <a:buSzPct val="100000"/>
              <a:buChar char="•"/>
            </a:pPr>
            <a:r>
              <a:rPr lang="en-US" sz="1500" dirty="0">
                <a:solidFill>
                  <a:srgbClr val="B5C4CA"/>
                </a:solidFill>
                <a:latin typeface="Verdana" pitchFamily="34" charset="0"/>
                <a:ea typeface="Verdana" pitchFamily="34" charset="-122"/>
                <a:cs typeface="Verdana" pitchFamily="34" charset="-120"/>
              </a:rPr>
              <a:t>PyPI identity matched onto conda packages</a:t>
            </a:r>
            <a:endParaRPr lang="en-US" sz="1500" dirty="0"/>
          </a:p>
          <a:p>
            <a:pPr algn="l" marL="228600" indent="-182880">
              <a:lnSpc>
                <a:spcPts val="2250"/>
              </a:lnSpc>
              <a:buSzPct val="100000"/>
              <a:buChar char="•"/>
            </a:pPr>
            <a:r>
              <a:rPr lang="en-US" sz="1500" dirty="0">
                <a:solidFill>
                  <a:srgbClr val="B5C4CA"/>
                </a:solidFill>
                <a:latin typeface="Verdana" pitchFamily="34" charset="0"/>
                <a:ea typeface="Verdana" pitchFamily="34" charset="-122"/>
                <a:cs typeface="Verdana" pitchFamily="34" charset="-120"/>
              </a:rPr>
              <a:t>The dependency graph the resolver picked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1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8F6"/>
                </a:solidFill>
                <a:latin typeface="Verdana" pitchFamily="34" charset="0"/>
                <a:ea typeface="Verdana" pitchFamily="34" charset="-122"/>
                <a:cs typeface="Verdana" pitchFamily="34" charset="-120"/>
              </a:rPr>
              <a:t>What it is</a:t>
            </a:r>
            <a:endParaRPr lang="en-US" sz="3600" dirty="0"/>
          </a:p>
        </p:txBody>
      </p:sp>
      <p:sp>
        <p:nvSpPr>
          <p:cNvPr id="3" name="Text 1"/>
          <p:cNvSpPr/>
          <p:nvPr/>
        </p:nvSpPr>
        <p:spPr>
          <a:xfrm>
            <a:off x="812800" y="1645890"/>
            <a:ext cx="10595610" cy="883841"/>
          </a:xfrm>
          <a:prstGeom prst="rect">
            <a:avLst/>
          </a:prstGeom>
          <a:noFill/>
          <a:ln/>
        </p:spPr>
        <p:txBody>
          <a:bodyPr wrap="square" lIns="0" tIns="0" rIns="0" bIns="0" rtlCol="0" anchor="t">
            <a:normAutofit/>
          </a:bodyPr>
          <a:lstStyle/>
          <a:p>
            <a:pPr algn="l" indent="0" marL="0">
              <a:lnSpc>
                <a:spcPts val="3380"/>
              </a:lnSpc>
              <a:buNone/>
            </a:pPr>
            <a:r>
              <a:rPr lang="en-US" sz="2600" dirty="0">
                <a:solidFill>
                  <a:srgbClr val="F7F8F6"/>
                </a:solidFill>
                <a:latin typeface="Verdana" pitchFamily="34" charset="0"/>
                <a:ea typeface="Verdana" pitchFamily="34" charset="-122"/>
                <a:cs typeface="Verdana" pitchFamily="34" charset="-120"/>
              </a:rPr>
              <a:t>One binary. It reads the lockfile </a:t>
            </a:r>
            <a:r>
              <a:rPr lang="en-US" sz="2600" dirty="0">
                <a:solidFill>
                  <a:srgbClr val="6FBFAE"/>
                </a:solidFill>
                <a:latin typeface="Verdana" pitchFamily="34" charset="0"/>
                <a:ea typeface="Verdana" pitchFamily="34" charset="-122"/>
                <a:cs typeface="Verdana" pitchFamily="34" charset="-120"/>
              </a:rPr>
              <a:t>pixi, uv, Poetry, PDM, conda-lock or pip</a:t>
            </a:r>
            <a:r>
              <a:rPr lang="en-US" sz="2600" dirty="0">
                <a:solidFill>
                  <a:srgbClr val="F7F8F6"/>
                </a:solidFill>
                <a:latin typeface="Verdana" pitchFamily="34" charset="0"/>
                <a:ea typeface="Verdana" pitchFamily="34" charset="-122"/>
                <a:cs typeface="Verdana" pitchFamily="34" charset="-120"/>
              </a:rPr>
              <a:t> wrote, and writes CycloneDX or SPDX.</a:t>
            </a:r>
            <a:endParaRPr lang="en-US" sz="2600" dirty="0"/>
          </a:p>
        </p:txBody>
      </p:sp>
      <p:sp>
        <p:nvSpPr>
          <p:cNvPr id="4" name="Shape 2"/>
          <p:cNvSpPr/>
          <p:nvPr/>
        </p:nvSpPr>
        <p:spPr>
          <a:xfrm>
            <a:off x="812800" y="2834531"/>
            <a:ext cx="2508250" cy="1648420"/>
          </a:xfrm>
          <a:prstGeom prst="roundRect">
            <a:avLst>
              <a:gd name="adj" fmla="val 6163"/>
            </a:avLst>
          </a:prstGeom>
          <a:solidFill>
            <a:srgbClr val="18313E"/>
          </a:solidFill>
          <a:ln/>
        </p:spPr>
      </p:sp>
      <p:sp>
        <p:nvSpPr>
          <p:cNvPr id="5" name="Text 3"/>
          <p:cNvSpPr/>
          <p:nvPr/>
        </p:nvSpPr>
        <p:spPr>
          <a:xfrm>
            <a:off x="1041400" y="3063131"/>
            <a:ext cx="211258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6FBFAE"/>
                </a:solidFill>
                <a:latin typeface="Verdana" pitchFamily="34" charset="0"/>
                <a:ea typeface="Verdana" pitchFamily="34" charset="-122"/>
                <a:cs typeface="Verdana" pitchFamily="34" charset="-120"/>
              </a:rPr>
              <a:t>12 MB</a:t>
            </a:r>
            <a:endParaRPr lang="en-US" sz="3200" dirty="0"/>
          </a:p>
        </p:txBody>
      </p:sp>
      <p:sp>
        <p:nvSpPr>
          <p:cNvPr id="6" name="Text 4"/>
          <p:cNvSpPr/>
          <p:nvPr/>
        </p:nvSpPr>
        <p:spPr>
          <a:xfrm>
            <a:off x="1041400" y="3560961"/>
            <a:ext cx="211258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C4CA"/>
                </a:solidFill>
                <a:latin typeface="Verdana" pitchFamily="34" charset="0"/>
                <a:ea typeface="Verdana" pitchFamily="34" charset="-122"/>
                <a:cs typeface="Verdana" pitchFamily="34" charset="-120"/>
              </a:rPr>
              <a:t>one executable, no runtime to install</a:t>
            </a:r>
            <a:endParaRPr lang="en-US" sz="1400" dirty="0"/>
          </a:p>
        </p:txBody>
      </p:sp>
      <p:sp>
        <p:nvSpPr>
          <p:cNvPr id="7" name="Shape 5"/>
          <p:cNvSpPr/>
          <p:nvPr/>
        </p:nvSpPr>
        <p:spPr>
          <a:xfrm>
            <a:off x="3498850" y="2834531"/>
            <a:ext cx="2508250" cy="1648420"/>
          </a:xfrm>
          <a:prstGeom prst="roundRect">
            <a:avLst>
              <a:gd name="adj" fmla="val 6163"/>
            </a:avLst>
          </a:prstGeom>
          <a:solidFill>
            <a:srgbClr val="18313E"/>
          </a:solidFill>
          <a:ln/>
        </p:spPr>
      </p:sp>
      <p:sp>
        <p:nvSpPr>
          <p:cNvPr id="8" name="Text 6"/>
          <p:cNvSpPr/>
          <p:nvPr/>
        </p:nvSpPr>
        <p:spPr>
          <a:xfrm>
            <a:off x="3727450" y="3063131"/>
            <a:ext cx="211258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6FBFAE"/>
                </a:solidFill>
                <a:latin typeface="Verdana" pitchFamily="34" charset="0"/>
                <a:ea typeface="Verdana" pitchFamily="34" charset="-122"/>
                <a:cs typeface="Verdana" pitchFamily="34" charset="-120"/>
              </a:rPr>
              <a:t>5</a:t>
            </a:r>
            <a:endParaRPr lang="en-US" sz="3200" dirty="0"/>
          </a:p>
        </p:txBody>
      </p:sp>
      <p:sp>
        <p:nvSpPr>
          <p:cNvPr id="9" name="Text 7"/>
          <p:cNvSpPr/>
          <p:nvPr/>
        </p:nvSpPr>
        <p:spPr>
          <a:xfrm>
            <a:off x="3727450" y="3560961"/>
            <a:ext cx="211258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C4CA"/>
                </a:solidFill>
                <a:latin typeface="Verdana" pitchFamily="34" charset="0"/>
                <a:ea typeface="Verdana" pitchFamily="34" charset="-122"/>
                <a:cs typeface="Verdana" pitchFamily="34" charset="-120"/>
              </a:rPr>
              <a:t>platforms: Linux, macOS, Windows, Intel and ARM</a:t>
            </a:r>
            <a:endParaRPr lang="en-US" sz="1400" dirty="0"/>
          </a:p>
        </p:txBody>
      </p:sp>
      <p:sp>
        <p:nvSpPr>
          <p:cNvPr id="10" name="Shape 8"/>
          <p:cNvSpPr/>
          <p:nvPr/>
        </p:nvSpPr>
        <p:spPr>
          <a:xfrm>
            <a:off x="6184900" y="2834531"/>
            <a:ext cx="2508250" cy="1648420"/>
          </a:xfrm>
          <a:prstGeom prst="roundRect">
            <a:avLst>
              <a:gd name="adj" fmla="val 6163"/>
            </a:avLst>
          </a:prstGeom>
          <a:solidFill>
            <a:srgbClr val="18313E"/>
          </a:solidFill>
          <a:ln/>
        </p:spPr>
      </p:sp>
      <p:sp>
        <p:nvSpPr>
          <p:cNvPr id="11" name="Text 9"/>
          <p:cNvSpPr/>
          <p:nvPr/>
        </p:nvSpPr>
        <p:spPr>
          <a:xfrm>
            <a:off x="6413500" y="3063131"/>
            <a:ext cx="211258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6FBFAE"/>
                </a:solidFill>
                <a:latin typeface="Verdana" pitchFamily="34" charset="0"/>
                <a:ea typeface="Verdana" pitchFamily="34" charset="-122"/>
                <a:cs typeface="Verdana" pitchFamily="34" charset="-120"/>
              </a:rPr>
              <a:t>0</a:t>
            </a:r>
            <a:endParaRPr lang="en-US" sz="3200" dirty="0"/>
          </a:p>
        </p:txBody>
      </p:sp>
      <p:sp>
        <p:nvSpPr>
          <p:cNvPr id="12" name="Text 10"/>
          <p:cNvSpPr/>
          <p:nvPr/>
        </p:nvSpPr>
        <p:spPr>
          <a:xfrm>
            <a:off x="6413500" y="3560961"/>
            <a:ext cx="211258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C4CA"/>
                </a:solidFill>
                <a:latin typeface="Verdana" pitchFamily="34" charset="0"/>
                <a:ea typeface="Verdana" pitchFamily="34" charset="-122"/>
                <a:cs typeface="Verdana" pitchFamily="34" charset="-120"/>
              </a:rPr>
              <a:t>servers, accounts or telemetry</a:t>
            </a:r>
            <a:endParaRPr lang="en-US" sz="1400" dirty="0"/>
          </a:p>
        </p:txBody>
      </p:sp>
      <p:sp>
        <p:nvSpPr>
          <p:cNvPr id="13" name="Shape 11"/>
          <p:cNvSpPr/>
          <p:nvPr/>
        </p:nvSpPr>
        <p:spPr>
          <a:xfrm>
            <a:off x="8870950" y="2834531"/>
            <a:ext cx="2508250" cy="1648420"/>
          </a:xfrm>
          <a:prstGeom prst="roundRect">
            <a:avLst>
              <a:gd name="adj" fmla="val 6163"/>
            </a:avLst>
          </a:prstGeom>
          <a:solidFill>
            <a:srgbClr val="18313E"/>
          </a:solidFill>
          <a:ln/>
        </p:spPr>
      </p:sp>
      <p:sp>
        <p:nvSpPr>
          <p:cNvPr id="14" name="Text 12"/>
          <p:cNvSpPr/>
          <p:nvPr/>
        </p:nvSpPr>
        <p:spPr>
          <a:xfrm>
            <a:off x="9099550" y="3063131"/>
            <a:ext cx="211258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6FBFAE"/>
                </a:solidFill>
                <a:latin typeface="Verdana" pitchFamily="34" charset="0"/>
                <a:ea typeface="Verdana" pitchFamily="34" charset="-122"/>
                <a:cs typeface="Verdana" pitchFamily="34" charset="-120"/>
              </a:rPr>
              <a:t>Offline</a:t>
            </a:r>
            <a:endParaRPr lang="en-US" sz="3200" dirty="0"/>
          </a:p>
        </p:txBody>
      </p:sp>
      <p:sp>
        <p:nvSpPr>
          <p:cNvPr id="15" name="Text 13"/>
          <p:cNvSpPr/>
          <p:nvPr/>
        </p:nvSpPr>
        <p:spPr>
          <a:xfrm>
            <a:off x="9099550" y="3560961"/>
            <a:ext cx="211258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C4CA"/>
                </a:solidFill>
                <a:latin typeface="Verdana" pitchFamily="34" charset="0"/>
                <a:ea typeface="Verdana" pitchFamily="34" charset="-122"/>
                <a:cs typeface="Verdana" pitchFamily="34" charset="-120"/>
              </a:rPr>
              <a:t>works with no network when it has to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1395"/>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10212B"/>
                </a:solidFill>
                <a:latin typeface="Verdana" pitchFamily="34" charset="0"/>
                <a:ea typeface="Verdana" pitchFamily="34" charset="-122"/>
                <a:cs typeface="Verdana" pitchFamily="34" charset="-120"/>
              </a:rPr>
              <a:t>What it does</a:t>
            </a:r>
            <a:endParaRPr lang="en-US" sz="3566" dirty="0"/>
          </a:p>
        </p:txBody>
      </p:sp>
      <p:sp>
        <p:nvSpPr>
          <p:cNvPr id="3" name="Shape 1"/>
          <p:cNvSpPr/>
          <p:nvPr/>
        </p:nvSpPr>
        <p:spPr>
          <a:xfrm>
            <a:off x="815975" y="1565970"/>
            <a:ext cx="3397250" cy="2044353"/>
          </a:xfrm>
          <a:prstGeom prst="roundRect">
            <a:avLst>
              <a:gd name="adj" fmla="val 4814"/>
            </a:avLst>
          </a:prstGeom>
          <a:solidFill>
            <a:srgbClr val="FFFFFF"/>
          </a:solidFill>
          <a:ln w="6350">
            <a:solidFill>
              <a:srgbClr val="DFE3DE"/>
            </a:solidFill>
            <a:prstDash val="solid"/>
          </a:ln>
        </p:spPr>
      </p:sp>
      <p:pic>
        <p:nvPicPr>
          <p:cNvPr id="4" name="Image 0" descr="Book">    </p:cNvPr>
          <p:cNvPicPr>
            <a:picLocks noChangeAspect="1"/>
          </p:cNvPicPr>
          <p:nvPr/>
        </p:nvPicPr>
        <p:blipFill>
          <a:blip r:embed="rId1"/>
          <a:srcRect l="0" r="0" t="-145" b="-145"/>
          <a:stretch/>
        </p:blipFill>
        <p:spPr>
          <a:xfrm>
            <a:off x="1047750" y="1797745"/>
            <a:ext cx="279400" cy="273844"/>
          </a:xfrm>
          <a:prstGeom prst="rect">
            <a:avLst/>
          </a:prstGeom>
        </p:spPr>
      </p:pic>
      <p:sp>
        <p:nvSpPr>
          <p:cNvPr id="5" name="Text 2"/>
          <p:cNvSpPr/>
          <p:nvPr/>
        </p:nvSpPr>
        <p:spPr>
          <a:xfrm>
            <a:off x="1047750" y="2135088"/>
            <a:ext cx="3021711" cy="2643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12B"/>
                </a:solidFill>
                <a:latin typeface="Verdana" pitchFamily="34" charset="0"/>
                <a:ea typeface="Verdana" pitchFamily="34" charset="-122"/>
                <a:cs typeface="Verdana" pitchFamily="34" charset="-120"/>
              </a:rPr>
              <a:t>Both standards</a:t>
            </a:r>
            <a:endParaRPr lang="en-US" sz="1600" dirty="0"/>
          </a:p>
        </p:txBody>
      </p:sp>
      <p:sp>
        <p:nvSpPr>
          <p:cNvPr id="6" name="Text 3"/>
          <p:cNvSpPr/>
          <p:nvPr/>
        </p:nvSpPr>
        <p:spPr>
          <a:xfrm>
            <a:off x="1047750" y="2437557"/>
            <a:ext cx="3021711" cy="966391"/>
          </a:xfrm>
          <a:prstGeom prst="rect">
            <a:avLst/>
          </a:prstGeom>
          <a:noFill/>
          <a:ln/>
        </p:spPr>
        <p:txBody>
          <a:bodyPr wrap="square" lIns="0" tIns="0" rIns="0" bIns="0" rtlCol="0" anchor="t">
            <a:normAutofit/>
          </a:bodyPr>
          <a:lstStyle/>
          <a:p>
            <a:pPr algn="l" indent="0" marL="0">
              <a:lnSpc>
                <a:spcPts val="1855"/>
              </a:lnSpc>
              <a:buNone/>
            </a:pPr>
            <a:r>
              <a:rPr lang="en-US" sz="1374" dirty="0">
                <a:solidFill>
                  <a:srgbClr val="4A5568"/>
                </a:solidFill>
                <a:latin typeface="Verdana" pitchFamily="34" charset="0"/>
                <a:ea typeface="Verdana" pitchFamily="34" charset="-122"/>
                <a:cs typeface="Verdana" pitchFamily="34" charset="-120"/>
              </a:rPr>
              <a:t>CycloneDX 1.6 and 1.7, SPDX 2.3 and 3.0.1. Whoever asks gets the format they already use.</a:t>
            </a:r>
            <a:endParaRPr lang="en-US" sz="1374" dirty="0"/>
          </a:p>
        </p:txBody>
      </p:sp>
      <p:sp>
        <p:nvSpPr>
          <p:cNvPr id="7" name="Shape 4"/>
          <p:cNvSpPr/>
          <p:nvPr/>
        </p:nvSpPr>
        <p:spPr>
          <a:xfrm>
            <a:off x="4397375" y="1565970"/>
            <a:ext cx="3397250" cy="2044353"/>
          </a:xfrm>
          <a:prstGeom prst="roundRect">
            <a:avLst>
              <a:gd name="adj" fmla="val 4814"/>
            </a:avLst>
          </a:prstGeom>
          <a:solidFill>
            <a:srgbClr val="FFFFFF"/>
          </a:solidFill>
          <a:ln w="6350">
            <a:solidFill>
              <a:srgbClr val="DFE3DE"/>
            </a:solidFill>
            <a:prstDash val="solid"/>
          </a:ln>
        </p:spPr>
      </p:sp>
      <p:pic>
        <p:nvPicPr>
          <p:cNvPr id="8" name="Image 1" descr="Warning">    </p:cNvPr>
          <p:cNvPicPr>
            <a:picLocks noChangeAspect="1"/>
          </p:cNvPicPr>
          <p:nvPr/>
        </p:nvPicPr>
        <p:blipFill>
          <a:blip r:embed="rId2"/>
          <a:srcRect l="0" r="0" t="-145" b="-145"/>
          <a:stretch/>
        </p:blipFill>
        <p:spPr>
          <a:xfrm>
            <a:off x="4629150" y="1797745"/>
            <a:ext cx="279400" cy="273844"/>
          </a:xfrm>
          <a:prstGeom prst="rect">
            <a:avLst/>
          </a:prstGeom>
        </p:spPr>
      </p:pic>
      <p:sp>
        <p:nvSpPr>
          <p:cNvPr id="9" name="Text 5"/>
          <p:cNvSpPr/>
          <p:nvPr/>
        </p:nvSpPr>
        <p:spPr>
          <a:xfrm>
            <a:off x="4629150" y="2135088"/>
            <a:ext cx="3021711" cy="2643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12B"/>
                </a:solidFill>
                <a:latin typeface="Verdana" pitchFamily="34" charset="0"/>
                <a:ea typeface="Verdana" pitchFamily="34" charset="-122"/>
                <a:cs typeface="Verdana" pitchFamily="34" charset="-120"/>
              </a:rPr>
              <a:t>Known vulnerabilities</a:t>
            </a:r>
            <a:endParaRPr lang="en-US" sz="1600" dirty="0"/>
          </a:p>
        </p:txBody>
      </p:sp>
      <p:sp>
        <p:nvSpPr>
          <p:cNvPr id="10" name="Text 6"/>
          <p:cNvSpPr/>
          <p:nvPr/>
        </p:nvSpPr>
        <p:spPr>
          <a:xfrm>
            <a:off x="4629150" y="2437557"/>
            <a:ext cx="3021711" cy="966391"/>
          </a:xfrm>
          <a:prstGeom prst="rect">
            <a:avLst/>
          </a:prstGeom>
          <a:noFill/>
          <a:ln/>
        </p:spPr>
        <p:txBody>
          <a:bodyPr wrap="square" lIns="0" tIns="0" rIns="0" bIns="0" rtlCol="0" anchor="t">
            <a:normAutofit/>
          </a:bodyPr>
          <a:lstStyle/>
          <a:p>
            <a:pPr algn="l" indent="0" marL="0">
              <a:lnSpc>
                <a:spcPts val="1855"/>
              </a:lnSpc>
              <a:buNone/>
            </a:pPr>
            <a:r>
              <a:rPr lang="en-US" sz="1374" dirty="0">
                <a:solidFill>
                  <a:srgbClr val="4A5568"/>
                </a:solidFill>
                <a:latin typeface="Verdana" pitchFamily="34" charset="0"/>
                <a:ea typeface="Verdana" pitchFamily="34" charset="-122"/>
                <a:cs typeface="Verdana" pitchFamily="34" charset="-120"/>
              </a:rPr>
              <a:t>Looks them up in OSV, flags CISA's known-exploited list, and ranks the rest by how likely exploitation is (EPSS).</a:t>
            </a:r>
            <a:endParaRPr lang="en-US" sz="1374" dirty="0"/>
          </a:p>
        </p:txBody>
      </p:sp>
      <p:sp>
        <p:nvSpPr>
          <p:cNvPr id="11" name="Shape 7"/>
          <p:cNvSpPr/>
          <p:nvPr/>
        </p:nvSpPr>
        <p:spPr>
          <a:xfrm>
            <a:off x="7978775" y="1565970"/>
            <a:ext cx="3397250" cy="2044353"/>
          </a:xfrm>
          <a:prstGeom prst="roundRect">
            <a:avLst>
              <a:gd name="adj" fmla="val 4814"/>
            </a:avLst>
          </a:prstGeom>
          <a:solidFill>
            <a:srgbClr val="FFFFFF"/>
          </a:solidFill>
          <a:ln w="6350">
            <a:solidFill>
              <a:srgbClr val="DFE3DE"/>
            </a:solidFill>
            <a:prstDash val="solid"/>
          </a:ln>
        </p:spPr>
      </p:sp>
      <p:pic>
        <p:nvPicPr>
          <p:cNvPr id="12" name="Image 2" descr="Check">    </p:cNvPr>
          <p:cNvPicPr>
            <a:picLocks noChangeAspect="1"/>
          </p:cNvPicPr>
          <p:nvPr/>
        </p:nvPicPr>
        <p:blipFill>
          <a:blip r:embed="rId3"/>
          <a:srcRect l="0" r="0" t="0" b="0"/>
          <a:stretch/>
        </p:blipFill>
        <p:spPr>
          <a:xfrm>
            <a:off x="8210550" y="1797745"/>
            <a:ext cx="279400" cy="279400"/>
          </a:xfrm>
          <a:prstGeom prst="rect">
            <a:avLst/>
          </a:prstGeom>
        </p:spPr>
      </p:pic>
      <p:sp>
        <p:nvSpPr>
          <p:cNvPr id="13" name="Text 8"/>
          <p:cNvSpPr/>
          <p:nvPr/>
        </p:nvSpPr>
        <p:spPr>
          <a:xfrm>
            <a:off x="8210550" y="2140645"/>
            <a:ext cx="30217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12B"/>
                </a:solidFill>
                <a:latin typeface="Verdana" pitchFamily="34" charset="0"/>
                <a:ea typeface="Verdana" pitchFamily="34" charset="-122"/>
                <a:cs typeface="Verdana" pitchFamily="34" charset="-120"/>
              </a:rPr>
              <a:t>License rules</a:t>
            </a:r>
            <a:endParaRPr lang="en-US" sz="1600" dirty="0"/>
          </a:p>
        </p:txBody>
      </p:sp>
      <p:sp>
        <p:nvSpPr>
          <p:cNvPr id="14" name="Text 9"/>
          <p:cNvSpPr/>
          <p:nvPr/>
        </p:nvSpPr>
        <p:spPr>
          <a:xfrm>
            <a:off x="8210550" y="2447975"/>
            <a:ext cx="3021711"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Verdana" pitchFamily="34" charset="0"/>
                <a:ea typeface="Verdana" pitchFamily="34" charset="-122"/>
                <a:cs typeface="Verdana" pitchFamily="34" charset="-120"/>
              </a:rPr>
              <a:t>Allow and deny lists, with exemptions that have to carry a reason.</a:t>
            </a:r>
            <a:endParaRPr lang="en-US" sz="1400" dirty="0"/>
          </a:p>
        </p:txBody>
      </p:sp>
      <p:sp>
        <p:nvSpPr>
          <p:cNvPr id="15" name="Shape 10"/>
          <p:cNvSpPr/>
          <p:nvPr/>
        </p:nvSpPr>
        <p:spPr>
          <a:xfrm>
            <a:off x="815975" y="3794472"/>
            <a:ext cx="3397250" cy="2044353"/>
          </a:xfrm>
          <a:prstGeom prst="roundRect">
            <a:avLst>
              <a:gd name="adj" fmla="val 4814"/>
            </a:avLst>
          </a:prstGeom>
          <a:solidFill>
            <a:srgbClr val="FFFFFF"/>
          </a:solidFill>
          <a:ln w="6350">
            <a:solidFill>
              <a:srgbClr val="DFE3DE"/>
            </a:solidFill>
            <a:prstDash val="solid"/>
          </a:ln>
        </p:spPr>
      </p:sp>
      <p:pic>
        <p:nvPicPr>
          <p:cNvPr id="16" name="Image 3" descr="Search">    </p:cNvPr>
          <p:cNvPicPr>
            <a:picLocks noChangeAspect="1"/>
          </p:cNvPicPr>
          <p:nvPr/>
        </p:nvPicPr>
        <p:blipFill>
          <a:blip r:embed="rId4"/>
          <a:srcRect l="0" r="0" t="0" b="0"/>
          <a:stretch/>
        </p:blipFill>
        <p:spPr>
          <a:xfrm>
            <a:off x="1047750" y="4026247"/>
            <a:ext cx="279400" cy="279400"/>
          </a:xfrm>
          <a:prstGeom prst="rect">
            <a:avLst/>
          </a:prstGeom>
        </p:spPr>
      </p:pic>
      <p:sp>
        <p:nvSpPr>
          <p:cNvPr id="17" name="Text 11"/>
          <p:cNvSpPr/>
          <p:nvPr/>
        </p:nvSpPr>
        <p:spPr>
          <a:xfrm>
            <a:off x="1047750" y="4369147"/>
            <a:ext cx="30217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12B"/>
                </a:solidFill>
                <a:latin typeface="Verdana" pitchFamily="34" charset="0"/>
                <a:ea typeface="Verdana" pitchFamily="34" charset="-122"/>
                <a:cs typeface="Verdana" pitchFamily="34" charset="-120"/>
              </a:rPr>
              <a:t>Provenance</a:t>
            </a:r>
            <a:endParaRPr lang="en-US" sz="1600" dirty="0"/>
          </a:p>
        </p:txBody>
      </p:sp>
      <p:sp>
        <p:nvSpPr>
          <p:cNvPr id="18" name="Text 12"/>
          <p:cNvSpPr/>
          <p:nvPr/>
        </p:nvSpPr>
        <p:spPr>
          <a:xfrm>
            <a:off x="1047750" y="4676477"/>
            <a:ext cx="3021711"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Verdana" pitchFamily="34" charset="0"/>
                <a:ea typeface="Verdana" pitchFamily="34" charset="-122"/>
                <a:cs typeface="Verdana" pitchFamily="34" charset="-120"/>
              </a:rPr>
              <a:t>Every fact records where it came from, including the sources that came back empty.</a:t>
            </a:r>
            <a:endParaRPr lang="en-US" sz="1400" dirty="0"/>
          </a:p>
        </p:txBody>
      </p:sp>
      <p:sp>
        <p:nvSpPr>
          <p:cNvPr id="19" name="Shape 13"/>
          <p:cNvSpPr/>
          <p:nvPr/>
        </p:nvSpPr>
        <p:spPr>
          <a:xfrm>
            <a:off x="4397375" y="3794472"/>
            <a:ext cx="3397250" cy="2044353"/>
          </a:xfrm>
          <a:prstGeom prst="roundRect">
            <a:avLst>
              <a:gd name="adj" fmla="val 4814"/>
            </a:avLst>
          </a:prstGeom>
          <a:solidFill>
            <a:srgbClr val="FFFFFF"/>
          </a:solidFill>
          <a:ln w="6350">
            <a:solidFill>
              <a:srgbClr val="DFE3DE"/>
            </a:solidFill>
            <a:prstDash val="solid"/>
          </a:ln>
        </p:spPr>
      </p:sp>
      <p:pic>
        <p:nvPicPr>
          <p:cNvPr id="20" name="Image 4" descr="Verified">    </p:cNvPr>
          <p:cNvPicPr>
            <a:picLocks noChangeAspect="1"/>
          </p:cNvPicPr>
          <p:nvPr/>
        </p:nvPicPr>
        <p:blipFill>
          <a:blip r:embed="rId5"/>
          <a:srcRect l="0" r="0" t="-145" b="-145"/>
          <a:stretch/>
        </p:blipFill>
        <p:spPr>
          <a:xfrm>
            <a:off x="4629150" y="4026247"/>
            <a:ext cx="279400" cy="273844"/>
          </a:xfrm>
          <a:prstGeom prst="rect">
            <a:avLst/>
          </a:prstGeom>
        </p:spPr>
      </p:pic>
      <p:sp>
        <p:nvSpPr>
          <p:cNvPr id="21" name="Text 14"/>
          <p:cNvSpPr/>
          <p:nvPr/>
        </p:nvSpPr>
        <p:spPr>
          <a:xfrm>
            <a:off x="4629150" y="4363591"/>
            <a:ext cx="3021711" cy="2643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12B"/>
                </a:solidFill>
                <a:latin typeface="Verdana" pitchFamily="34" charset="0"/>
                <a:ea typeface="Verdana" pitchFamily="34" charset="-122"/>
                <a:cs typeface="Verdana" pitchFamily="34" charset="-120"/>
              </a:rPr>
              <a:t>Supplier SBOMs</a:t>
            </a:r>
            <a:endParaRPr lang="en-US" sz="1600" dirty="0"/>
          </a:p>
        </p:txBody>
      </p:sp>
      <p:sp>
        <p:nvSpPr>
          <p:cNvPr id="22" name="Text 15"/>
          <p:cNvSpPr/>
          <p:nvPr/>
        </p:nvSpPr>
        <p:spPr>
          <a:xfrm>
            <a:off x="4629150" y="4666059"/>
            <a:ext cx="3021711" cy="966391"/>
          </a:xfrm>
          <a:prstGeom prst="rect">
            <a:avLst/>
          </a:prstGeom>
          <a:noFill/>
          <a:ln/>
        </p:spPr>
        <p:txBody>
          <a:bodyPr wrap="square" lIns="0" tIns="0" rIns="0" bIns="0" rtlCol="0" anchor="t">
            <a:normAutofit/>
          </a:bodyPr>
          <a:lstStyle/>
          <a:p>
            <a:pPr algn="l" indent="0" marL="0">
              <a:lnSpc>
                <a:spcPts val="1855"/>
              </a:lnSpc>
              <a:buNone/>
            </a:pPr>
            <a:r>
              <a:rPr lang="en-US" sz="1374" dirty="0">
                <a:solidFill>
                  <a:srgbClr val="4A5568"/>
                </a:solidFill>
                <a:latin typeface="Verdana" pitchFamily="34" charset="0"/>
                <a:ea typeface="Verdana" pitchFamily="34" charset="-122"/>
                <a:cs typeface="Verdana" pitchFamily="34" charset="-120"/>
              </a:rPr>
              <a:t>Grades a vendor's document before we trust it, applies their VEX, and merges it with ours into one.</a:t>
            </a:r>
            <a:endParaRPr lang="en-US" sz="1374" dirty="0"/>
          </a:p>
        </p:txBody>
      </p:sp>
      <p:sp>
        <p:nvSpPr>
          <p:cNvPr id="23" name="Shape 16"/>
          <p:cNvSpPr/>
          <p:nvPr/>
        </p:nvSpPr>
        <p:spPr>
          <a:xfrm>
            <a:off x="7978775" y="3794472"/>
            <a:ext cx="3397250" cy="2044353"/>
          </a:xfrm>
          <a:prstGeom prst="roundRect">
            <a:avLst>
              <a:gd name="adj" fmla="val 4814"/>
            </a:avLst>
          </a:prstGeom>
          <a:solidFill>
            <a:srgbClr val="FFFFFF"/>
          </a:solidFill>
          <a:ln w="6350">
            <a:solidFill>
              <a:srgbClr val="DFE3DE"/>
            </a:solidFill>
            <a:prstDash val="solid"/>
          </a:ln>
        </p:spPr>
      </p:sp>
      <p:pic>
        <p:nvPicPr>
          <p:cNvPr id="24" name="Image 5" descr="Settings">    </p:cNvPr>
          <p:cNvPicPr>
            <a:picLocks noChangeAspect="1"/>
          </p:cNvPicPr>
          <p:nvPr/>
        </p:nvPicPr>
        <p:blipFill>
          <a:blip r:embed="rId6"/>
          <a:srcRect l="0" r="0" t="-145" b="-145"/>
          <a:stretch/>
        </p:blipFill>
        <p:spPr>
          <a:xfrm>
            <a:off x="8210550" y="4026247"/>
            <a:ext cx="279400" cy="273844"/>
          </a:xfrm>
          <a:prstGeom prst="rect">
            <a:avLst/>
          </a:prstGeom>
        </p:spPr>
      </p:pic>
      <p:sp>
        <p:nvSpPr>
          <p:cNvPr id="25" name="Text 17"/>
          <p:cNvSpPr/>
          <p:nvPr/>
        </p:nvSpPr>
        <p:spPr>
          <a:xfrm>
            <a:off x="8210550" y="4363591"/>
            <a:ext cx="3021711" cy="26436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12B"/>
                </a:solidFill>
                <a:latin typeface="Verdana" pitchFamily="34" charset="0"/>
                <a:ea typeface="Verdana" pitchFamily="34" charset="-122"/>
                <a:cs typeface="Verdana" pitchFamily="34" charset="-120"/>
              </a:rPr>
              <a:t>Any Python project</a:t>
            </a:r>
            <a:endParaRPr lang="en-US" sz="1600" dirty="0"/>
          </a:p>
        </p:txBody>
      </p:sp>
      <p:sp>
        <p:nvSpPr>
          <p:cNvPr id="26" name="Text 18"/>
          <p:cNvSpPr/>
          <p:nvPr/>
        </p:nvSpPr>
        <p:spPr>
          <a:xfrm>
            <a:off x="8210550" y="4666059"/>
            <a:ext cx="3021711" cy="966391"/>
          </a:xfrm>
          <a:prstGeom prst="rect">
            <a:avLst/>
          </a:prstGeom>
          <a:noFill/>
          <a:ln/>
        </p:spPr>
        <p:txBody>
          <a:bodyPr wrap="square" lIns="0" tIns="0" rIns="0" bIns="0" rtlCol="0" anchor="t">
            <a:normAutofit/>
          </a:bodyPr>
          <a:lstStyle/>
          <a:p>
            <a:pPr algn="l" indent="0" marL="0">
              <a:lnSpc>
                <a:spcPts val="1855"/>
              </a:lnSpc>
              <a:buNone/>
            </a:pPr>
            <a:r>
              <a:rPr lang="en-US" sz="1374" dirty="0">
                <a:solidFill>
                  <a:srgbClr val="4A5568"/>
                </a:solidFill>
                <a:latin typeface="Verdana" pitchFamily="34" charset="0"/>
                <a:ea typeface="Verdana" pitchFamily="34" charset="-122"/>
                <a:cs typeface="Verdana" pitchFamily="34" charset="-120"/>
              </a:rPr>
              <a:t>pixi, uv, Poetry, PDM, conda-lock or pinned pip. From PyPI, a GitHub Action or a pre-commit hook.</a:t>
            </a:r>
            <a:endParaRPr lang="en-US" sz="137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What it isn't</a:t>
            </a:r>
            <a:endParaRPr lang="en-US" sz="3600" dirty="0"/>
          </a:p>
        </p:txBody>
      </p:sp>
      <p:sp>
        <p:nvSpPr>
          <p:cNvPr id="3" name="Shape 1"/>
          <p:cNvSpPr/>
          <p:nvPr/>
        </p:nvSpPr>
        <p:spPr>
          <a:xfrm>
            <a:off x="815975" y="1598265"/>
            <a:ext cx="10560050" cy="1302990"/>
          </a:xfrm>
          <a:prstGeom prst="roundRect">
            <a:avLst>
              <a:gd name="adj" fmla="val 7554"/>
            </a:avLst>
          </a:prstGeom>
          <a:solidFill>
            <a:srgbClr val="FFFFFF"/>
          </a:solidFill>
          <a:ln w="6350">
            <a:solidFill>
              <a:srgbClr val="DFE3DE"/>
            </a:solidFill>
            <a:prstDash val="solid"/>
          </a:ln>
        </p:spPr>
      </p:sp>
      <p:sp>
        <p:nvSpPr>
          <p:cNvPr id="4" name="Text 2"/>
          <p:cNvSpPr/>
          <p:nvPr/>
        </p:nvSpPr>
        <p:spPr>
          <a:xfrm>
            <a:off x="1073150" y="1830040"/>
            <a:ext cx="1034707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12B"/>
                </a:solidFill>
                <a:latin typeface="Verdana" pitchFamily="34" charset="0"/>
                <a:ea typeface="Verdana" pitchFamily="34" charset="-122"/>
                <a:cs typeface="Verdana" pitchFamily="34" charset="-120"/>
              </a:rPr>
              <a:t>Not a vulnerability scanner</a:t>
            </a:r>
            <a:endParaRPr lang="en-US" sz="1800" dirty="0"/>
          </a:p>
        </p:txBody>
      </p:sp>
      <p:sp>
        <p:nvSpPr>
          <p:cNvPr id="5" name="Text 3"/>
          <p:cNvSpPr/>
          <p:nvPr/>
        </p:nvSpPr>
        <p:spPr>
          <a:xfrm>
            <a:off x="1073150" y="2155130"/>
            <a:ext cx="1034707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Verdana" pitchFamily="34" charset="0"/>
                <a:ea typeface="Verdana" pitchFamily="34" charset="-122"/>
                <a:cs typeface="Verdana" pitchFamily="34" charset="-120"/>
              </a:rPr>
              <a:t>It tells you what you're shipping and hands that to whatever scans it. It doesn't replace the security tooling we already pay for.</a:t>
            </a:r>
            <a:endParaRPr lang="en-US" sz="1500" dirty="0"/>
          </a:p>
        </p:txBody>
      </p:sp>
      <p:sp>
        <p:nvSpPr>
          <p:cNvPr id="6" name="Shape 4"/>
          <p:cNvSpPr/>
          <p:nvPr/>
        </p:nvSpPr>
        <p:spPr>
          <a:xfrm>
            <a:off x="815975" y="3060005"/>
            <a:ext cx="10560050" cy="1302990"/>
          </a:xfrm>
          <a:prstGeom prst="roundRect">
            <a:avLst>
              <a:gd name="adj" fmla="val 7554"/>
            </a:avLst>
          </a:prstGeom>
          <a:solidFill>
            <a:srgbClr val="FFFFFF"/>
          </a:solidFill>
          <a:ln w="6350">
            <a:solidFill>
              <a:srgbClr val="DFE3DE"/>
            </a:solidFill>
            <a:prstDash val="solid"/>
          </a:ln>
        </p:spPr>
      </p:sp>
      <p:sp>
        <p:nvSpPr>
          <p:cNvPr id="7" name="Text 5"/>
          <p:cNvSpPr/>
          <p:nvPr/>
        </p:nvSpPr>
        <p:spPr>
          <a:xfrm>
            <a:off x="1073150" y="3291780"/>
            <a:ext cx="1034707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12B"/>
                </a:solidFill>
                <a:latin typeface="Verdana" pitchFamily="34" charset="0"/>
                <a:ea typeface="Verdana" pitchFamily="34" charset="-122"/>
                <a:cs typeface="Verdana" pitchFamily="34" charset="-120"/>
              </a:rPr>
              <a:t>Not a policy engine for the whole company</a:t>
            </a:r>
            <a:endParaRPr lang="en-US" sz="1800" dirty="0"/>
          </a:p>
        </p:txBody>
      </p:sp>
      <p:sp>
        <p:nvSpPr>
          <p:cNvPr id="8" name="Text 6"/>
          <p:cNvSpPr/>
          <p:nvPr/>
        </p:nvSpPr>
        <p:spPr>
          <a:xfrm>
            <a:off x="1073150" y="3616871"/>
            <a:ext cx="1034707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Verdana" pitchFamily="34" charset="0"/>
                <a:ea typeface="Verdana" pitchFamily="34" charset="-122"/>
                <a:cs typeface="Verdana" pitchFamily="34" charset="-120"/>
              </a:rPr>
              <a:t>It enforces license and vulnerability rules for one build. Governance across every team is a different problem with different owners.</a:t>
            </a:r>
            <a:endParaRPr lang="en-US" sz="1500" dirty="0"/>
          </a:p>
        </p:txBody>
      </p:sp>
      <p:sp>
        <p:nvSpPr>
          <p:cNvPr id="9" name="Shape 7"/>
          <p:cNvSpPr/>
          <p:nvPr/>
        </p:nvSpPr>
        <p:spPr>
          <a:xfrm>
            <a:off x="815975" y="4521746"/>
            <a:ext cx="10560050" cy="1302990"/>
          </a:xfrm>
          <a:prstGeom prst="roundRect">
            <a:avLst>
              <a:gd name="adj" fmla="val 7554"/>
            </a:avLst>
          </a:prstGeom>
          <a:solidFill>
            <a:srgbClr val="FFFFFF"/>
          </a:solidFill>
          <a:ln w="6350">
            <a:solidFill>
              <a:srgbClr val="DFE3DE"/>
            </a:solidFill>
            <a:prstDash val="solid"/>
          </a:ln>
        </p:spPr>
      </p:sp>
      <p:sp>
        <p:nvSpPr>
          <p:cNvPr id="10" name="Text 8"/>
          <p:cNvSpPr/>
          <p:nvPr/>
        </p:nvSpPr>
        <p:spPr>
          <a:xfrm>
            <a:off x="1073150" y="4753521"/>
            <a:ext cx="1034707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12B"/>
                </a:solidFill>
                <a:latin typeface="Verdana" pitchFamily="34" charset="0"/>
                <a:ea typeface="Verdana" pitchFamily="34" charset="-122"/>
                <a:cs typeface="Verdana" pitchFamily="34" charset="-120"/>
              </a:rPr>
              <a:t>Not a promise that nothing is missing</a:t>
            </a:r>
            <a:endParaRPr lang="en-US" sz="1800" dirty="0"/>
          </a:p>
        </p:txBody>
      </p:sp>
      <p:sp>
        <p:nvSpPr>
          <p:cNvPr id="11" name="Text 9"/>
          <p:cNvSpPr/>
          <p:nvPr/>
        </p:nvSpPr>
        <p:spPr>
          <a:xfrm>
            <a:off x="1073150" y="5078611"/>
            <a:ext cx="1034707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Verdana" pitchFamily="34" charset="0"/>
                <a:ea typeface="Verdana" pitchFamily="34" charset="-122"/>
                <a:cs typeface="Verdana" pitchFamily="34" charset="-120"/>
              </a:rPr>
              <a:t>When an upstream publishes no license or no advisory, the document says so instead of filling in a guess. You can tell an unanswered question from an empty answer.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80814"/>
          </a:xfrm>
          <a:prstGeom prst="rect">
            <a:avLst/>
          </a:prstGeom>
          <a:noFill/>
          <a:ln/>
        </p:spPr>
        <p:txBody>
          <a:bodyPr wrap="square" lIns="0" tIns="0" rIns="0" bIns="0" rtlCol="0" anchor="t">
            <a:normAutofit/>
          </a:bodyPr>
          <a:lstStyle/>
          <a:p>
            <a:pPr algn="l" indent="0" marL="0">
              <a:lnSpc>
                <a:spcPts val="3614"/>
              </a:lnSpc>
              <a:buNone/>
            </a:pPr>
            <a:r>
              <a:rPr lang="en-US" sz="3285" b="1" i="0" dirty="0">
                <a:solidFill>
                  <a:srgbClr val="10212B"/>
                </a:solidFill>
                <a:latin typeface="Verdana" pitchFamily="34" charset="0"/>
                <a:ea typeface="Verdana" pitchFamily="34" charset="-122"/>
                <a:cs typeface="Verdana" pitchFamily="34" charset="-120"/>
              </a:rPr>
              <a:t>What a team gets out of it</a:t>
            </a:r>
            <a:endParaRPr lang="en-US" sz="3285" dirty="0"/>
          </a:p>
        </p:txBody>
      </p:sp>
      <p:sp>
        <p:nvSpPr>
          <p:cNvPr id="3" name="Shape 1"/>
          <p:cNvSpPr/>
          <p:nvPr/>
        </p:nvSpPr>
        <p:spPr>
          <a:xfrm>
            <a:off x="812800" y="1528564"/>
            <a:ext cx="10566400" cy="0"/>
          </a:xfrm>
          <a:prstGeom prst="line">
            <a:avLst/>
          </a:prstGeom>
          <a:noFill/>
          <a:ln w="12700">
            <a:solidFill>
              <a:srgbClr val="141413">
                <a:alpha val="22000"/>
              </a:srgbClr>
            </a:solidFill>
            <a:prstDash val="solid"/>
          </a:ln>
        </p:spPr>
      </p:sp>
      <p:sp>
        <p:nvSpPr>
          <p:cNvPr id="4" name="Shape 2"/>
          <p:cNvSpPr/>
          <p:nvPr/>
        </p:nvSpPr>
        <p:spPr>
          <a:xfrm>
            <a:off x="819150" y="1522214"/>
            <a:ext cx="0" cy="3824238"/>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65200" y="1649214"/>
          <a:ext cx="10274300" cy="3582938"/>
        </p:xfrm>
        <a:graphic>
          <a:graphicData uri="http://schemas.openxmlformats.org/drawingml/2006/table">
            <a:tbl>
              <a:tblPr/>
              <a:tblGrid>
                <a:gridCol w="4726178"/>
                <a:gridCol w="3493262"/>
                <a:gridCol w="2054860"/>
              </a:tblGrid>
              <a:tr h="401092">
                <a:tc>
                  <a:txBody>
                    <a:bodyPr/>
                    <a:lstStyle/>
                    <a:p>
                      <a:pPr indent="0" marL="0">
                        <a:lnSpc>
                          <a:spcPts val="2034"/>
                        </a:lnSpc>
                        <a:buNone/>
                      </a:pPr>
                      <a:r>
                        <a:rPr lang="en-US" sz="1453" b="1" dirty="0">
                          <a:solidFill>
                            <a:srgbClr val="F7F8F6"/>
                          </a:solidFill>
                          <a:latin typeface="Verdana" pitchFamily="34" charset="0"/>
                          <a:ea typeface="Verdana" pitchFamily="34" charset="-122"/>
                          <a:cs typeface="Verdana" pitchFamily="34" charset="-120"/>
                        </a:rPr>
                        <a:t>How it goes today</a:t>
                      </a:r>
                      <a:endParaRPr lang="en-US" sz="1453" dirty="0">
                        <a:latin typeface="Verdana" charset="0"/>
                        <a:ea typeface="Verdana" charset="0"/>
                        <a:cs typeface="Verdana" charset="0"/>
                      </a:endParaRPr>
                    </a:p>
                  </a:txBody>
                  <a:tcPr marL="64591" marR="64591" marT="64591" marB="64591" anchor="t">
                    <a:lnL w="0" cap="flat" cmpd="sng" algn="ctr">
                      <a:noFill/>
                    </a:lnL>
                    <a:lnR w="12700" cap="flat" cmpd="sng" algn="ctr">
                      <a:solidFill>
                        <a:srgbClr val="111E26"/>
                      </a:solidFill>
                      <a:prstDash val="solid"/>
                      <a:round/>
                      <a:headEnd type="none" w="med" len="med"/>
                      <a:tailEnd type="none" w="med" len="med"/>
                    </a:lnR>
                    <a:lnT w="0" cap="flat" cmpd="sng" algn="ctr">
                      <a:noFill/>
                    </a:lnT>
                    <a:lnB w="12700" cap="flat" cmpd="sng" algn="ctr">
                      <a:solidFill>
                        <a:srgbClr val="111E26"/>
                      </a:solidFill>
                      <a:prstDash val="solid"/>
                      <a:round/>
                      <a:headEnd type="none" w="med" len="med"/>
                      <a:tailEnd type="none" w="med" len="med"/>
                    </a:lnB>
                    <a:solidFill>
                      <a:srgbClr val="10212B"/>
                    </a:solidFill>
                  </a:tcPr>
                </a:tc>
                <a:tc>
                  <a:txBody>
                    <a:bodyPr/>
                    <a:lstStyle/>
                    <a:p>
                      <a:pPr indent="0" marL="0">
                        <a:lnSpc>
                          <a:spcPts val="2034"/>
                        </a:lnSpc>
                        <a:buNone/>
                      </a:pPr>
                      <a:r>
                        <a:rPr lang="en-US" sz="1453" b="1" dirty="0">
                          <a:solidFill>
                            <a:srgbClr val="F7F8F6"/>
                          </a:solidFill>
                          <a:latin typeface="Verdana" pitchFamily="34" charset="0"/>
                          <a:ea typeface="Verdana" pitchFamily="34" charset="-122"/>
                          <a:cs typeface="Verdana" pitchFamily="34" charset="-120"/>
                        </a:rPr>
                        <a:t>With this in CI</a:t>
                      </a:r>
                      <a:endParaRPr lang="en-US" sz="1453" dirty="0">
                        <a:latin typeface="Verdana" charset="0"/>
                        <a:ea typeface="Verdana" charset="0"/>
                        <a:cs typeface="Verdana" charset="0"/>
                      </a:endParaRPr>
                    </a:p>
                  </a:txBody>
                  <a:tcPr marL="64591" marR="64591" marT="64591" marB="64591" anchor="t">
                    <a:lnL w="12700" cap="flat" cmpd="sng" algn="ctr">
                      <a:solidFill>
                        <a:srgbClr val="111E26"/>
                      </a:solidFill>
                      <a:prstDash val="solid"/>
                      <a:round/>
                      <a:headEnd type="none" w="med" len="med"/>
                      <a:tailEnd type="none" w="med" len="med"/>
                    </a:lnL>
                    <a:lnR w="12700" cap="flat" cmpd="sng" algn="ctr">
                      <a:solidFill>
                        <a:srgbClr val="111E26"/>
                      </a:solidFill>
                      <a:prstDash val="solid"/>
                      <a:round/>
                      <a:headEnd type="none" w="med" len="med"/>
                      <a:tailEnd type="none" w="med" len="med"/>
                    </a:lnR>
                    <a:lnT w="0" cap="flat" cmpd="sng" algn="ctr">
                      <a:noFill/>
                    </a:lnT>
                    <a:lnB w="12700" cap="flat" cmpd="sng" algn="ctr">
                      <a:solidFill>
                        <a:srgbClr val="111E26"/>
                      </a:solidFill>
                      <a:prstDash val="solid"/>
                      <a:round/>
                      <a:headEnd type="none" w="med" len="med"/>
                      <a:tailEnd type="none" w="med" len="med"/>
                    </a:lnB>
                    <a:solidFill>
                      <a:srgbClr val="10212B"/>
                    </a:solidFill>
                  </a:tcPr>
                </a:tc>
                <a:tc>
                  <a:txBody>
                    <a:bodyPr/>
                    <a:lstStyle/>
                    <a:p>
                      <a:pPr indent="0" marL="0">
                        <a:lnSpc>
                          <a:spcPts val="2034"/>
                        </a:lnSpc>
                        <a:buNone/>
                      </a:pPr>
                      <a:r>
                        <a:rPr lang="en-US" sz="1453" b="1" dirty="0">
                          <a:solidFill>
                            <a:srgbClr val="F7F8F6"/>
                          </a:solidFill>
                          <a:latin typeface="Verdana" pitchFamily="34" charset="0"/>
                          <a:ea typeface="Verdana" pitchFamily="34" charset="-122"/>
                          <a:cs typeface="Verdana" pitchFamily="34" charset="-120"/>
                        </a:rPr>
                        <a:t>Signal</a:t>
                      </a:r>
                      <a:endParaRPr lang="en-US" sz="1453" dirty="0">
                        <a:latin typeface="Verdana" charset="0"/>
                        <a:ea typeface="Verdana" charset="0"/>
                        <a:cs typeface="Verdana" charset="0"/>
                      </a:endParaRPr>
                    </a:p>
                  </a:txBody>
                  <a:tcPr marL="64591" marR="64591" marT="64591" marB="64591" anchor="t">
                    <a:lnL w="12700" cap="flat" cmpd="sng" algn="ctr">
                      <a:solidFill>
                        <a:srgbClr val="111E26"/>
                      </a:solidFill>
                      <a:prstDash val="solid"/>
                      <a:round/>
                      <a:headEnd type="none" w="med" len="med"/>
                      <a:tailEnd type="none" w="med" len="med"/>
                    </a:lnL>
                    <a:lnR w="12700" cap="flat" cmpd="sng" algn="ctr">
                      <a:solidFill>
                        <a:srgbClr val="111E26"/>
                      </a:solidFill>
                      <a:prstDash val="solid"/>
                      <a:round/>
                      <a:headEnd type="none" w="med" len="med"/>
                      <a:tailEnd type="none" w="med" len="med"/>
                    </a:lnR>
                    <a:lnT w="0" cap="flat" cmpd="sng" algn="ctr">
                      <a:noFill/>
                    </a:lnT>
                    <a:lnB w="12700" cap="flat" cmpd="sng" algn="ctr">
                      <a:solidFill>
                        <a:srgbClr val="111E26"/>
                      </a:solidFill>
                      <a:prstDash val="solid"/>
                      <a:round/>
                      <a:headEnd type="none" w="med" len="med"/>
                      <a:tailEnd type="none" w="med" len="med"/>
                    </a:lnB>
                    <a:solidFill>
                      <a:srgbClr val="10212B"/>
                    </a:solidFill>
                  </a:tcPr>
                </a:tc>
              </a:tr>
              <a:tr h="659457">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Someone asks if we're exposed to a CVE</a:t>
                      </a:r>
                      <a:endParaRPr lang="en-US" sz="1453" dirty="0">
                        <a:latin typeface="Verdana" charset="0"/>
                        <a:ea typeface="Verdana" charset="0"/>
                        <a:cs typeface="Verdana" charset="0"/>
                      </a:endParaRPr>
                    </a:p>
                  </a:txBody>
                  <a:tcPr marL="64591" marR="64591" marT="64591" marB="64591"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111E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Search the document for that release</a:t>
                      </a:r>
                      <a:endParaRPr lang="en-US" sz="1453" dirty="0">
                        <a:latin typeface="Verdana" charset="0"/>
                        <a:ea typeface="Verdana" charset="0"/>
                        <a:cs typeface="Verdana" charset="0"/>
                      </a:endParaRPr>
                    </a:p>
                  </a:txBody>
                  <a:tcPr marL="64591" marR="64591" marT="64591" marB="64591"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E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Minutes, not a day</a:t>
                      </a:r>
                      <a:endParaRPr lang="en-US" sz="1453" dirty="0">
                        <a:latin typeface="Verdana" charset="0"/>
                        <a:ea typeface="Verdana" charset="0"/>
                        <a:cs typeface="Verdana" charset="0"/>
                      </a:endParaRPr>
                    </a:p>
                  </a:txBody>
                  <a:tcPr marL="64591" marR="64591" marT="64591" marB="64591"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E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659457">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A copyleft license rides in on a transitive dependency</a:t>
                      </a:r>
                      <a:endParaRPr lang="en-US" sz="1453" dirty="0">
                        <a:latin typeface="Verdana" charset="0"/>
                        <a:ea typeface="Verdana" charset="0"/>
                        <a:cs typeface="Verdana" charset="0"/>
                      </a:endParaRPr>
                    </a:p>
                  </a:txBody>
                  <a:tcPr marL="64591" marR="64591" marT="64591" marB="64591" anchor="t">
                    <a:lnL w="0" cap="flat" cmpd="sng" algn="ctr">
                      <a:noFill/>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The build stops before it ships</a:t>
                      </a:r>
                      <a:endParaRPr lang="en-US" sz="1453" dirty="0">
                        <a:latin typeface="Verdana" charset="0"/>
                        <a:ea typeface="Verdana" charset="0"/>
                        <a:cs typeface="Verdana" charset="0"/>
                      </a:endParaRPr>
                    </a:p>
                  </a:txBody>
                  <a:tcPr marL="64591" marR="64591" marT="64591" marB="64591"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Exit 3</a:t>
                      </a:r>
                      <a:endParaRPr lang="en-US" sz="1453" dirty="0">
                        <a:latin typeface="Verdana" charset="0"/>
                        <a:ea typeface="Verdana" charset="0"/>
                        <a:cs typeface="Verdana" charset="0"/>
                      </a:endParaRPr>
                    </a:p>
                  </a:txBody>
                  <a:tcPr marL="64591" marR="64591" marT="64591" marB="64591"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r>
              <a:tr h="659507">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A dependency is known exploited, or likely to be</a:t>
                      </a:r>
                      <a:endParaRPr lang="en-US" sz="1453" dirty="0">
                        <a:latin typeface="Verdana" charset="0"/>
                        <a:ea typeface="Verdana" charset="0"/>
                        <a:cs typeface="Verdana" charset="0"/>
                      </a:endParaRPr>
                    </a:p>
                  </a:txBody>
                  <a:tcPr marL="64591" marR="64591" marT="64591" marB="64591"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The build stops and names the finding</a:t>
                      </a:r>
                      <a:endParaRPr lang="en-US" sz="1453" dirty="0">
                        <a:latin typeface="Verdana" charset="0"/>
                        <a:ea typeface="Verdana" charset="0"/>
                        <a:cs typeface="Verdana" charset="0"/>
                      </a:endParaRPr>
                    </a:p>
                  </a:txBody>
                  <a:tcPr marL="64591" marR="64591" marT="64591" marB="64591"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Exit 4</a:t>
                      </a:r>
                      <a:endParaRPr lang="en-US" sz="1453" dirty="0">
                        <a:latin typeface="Verdana" charset="0"/>
                        <a:ea typeface="Verdana" charset="0"/>
                        <a:cs typeface="Verdana" charset="0"/>
                      </a:endParaRPr>
                    </a:p>
                  </a:txBody>
                  <a:tcPr marL="64591" marR="64591" marT="64591" marB="64591"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401141">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Code imports a package nobody declared</a:t>
                      </a:r>
                      <a:endParaRPr lang="en-US" sz="1453" dirty="0">
                        <a:latin typeface="Verdana" charset="0"/>
                        <a:ea typeface="Verdana" charset="0"/>
                        <a:cs typeface="Verdana" charset="0"/>
                      </a:endParaRPr>
                    </a:p>
                  </a:txBody>
                  <a:tcPr marL="64591" marR="64591" marT="64591" marB="64591" anchor="t">
                    <a:lnL w="0" cap="flat" cmpd="sng" algn="ctr">
                      <a:noFill/>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Reported against the manifest</a:t>
                      </a:r>
                      <a:endParaRPr lang="en-US" sz="1453" dirty="0">
                        <a:latin typeface="Verdana" charset="0"/>
                        <a:ea typeface="Verdana" charset="0"/>
                        <a:cs typeface="Verdana" charset="0"/>
                      </a:endParaRPr>
                    </a:p>
                  </a:txBody>
                  <a:tcPr marL="64591" marR="64591" marT="64591" marB="64591"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Exit 8</a:t>
                      </a:r>
                      <a:endParaRPr lang="en-US" sz="1453" dirty="0">
                        <a:latin typeface="Verdana" charset="0"/>
                        <a:ea typeface="Verdana" charset="0"/>
                        <a:cs typeface="Verdana" charset="0"/>
                      </a:endParaRPr>
                    </a:p>
                  </a:txBody>
                  <a:tcPr marL="64591" marR="64591" marT="64591" marB="64591"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r>
              <a:tr h="401141">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"What changed since the last release?"</a:t>
                      </a:r>
                      <a:endParaRPr lang="en-US" sz="1453" dirty="0">
                        <a:latin typeface="Verdana" charset="0"/>
                        <a:ea typeface="Verdana" charset="0"/>
                        <a:cs typeface="Verdana" charset="0"/>
                      </a:endParaRPr>
                    </a:p>
                  </a:txBody>
                  <a:tcPr marL="64591" marR="64591" marT="64591" marB="64591"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A diff of the two documents</a:t>
                      </a:r>
                      <a:endParaRPr lang="en-US" sz="1453" dirty="0">
                        <a:latin typeface="Verdana" charset="0"/>
                        <a:ea typeface="Verdana" charset="0"/>
                        <a:cs typeface="Verdana" charset="0"/>
                      </a:endParaRPr>
                    </a:p>
                  </a:txBody>
                  <a:tcPr marL="64591" marR="64591" marT="64591" marB="64591"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Exit 6, if we gate it</a:t>
                      </a:r>
                      <a:endParaRPr lang="en-US" sz="1453" dirty="0">
                        <a:latin typeface="Verdana" charset="0"/>
                        <a:ea typeface="Verdana" charset="0"/>
                        <a:cs typeface="Verdana" charset="0"/>
                      </a:endParaRPr>
                    </a:p>
                  </a:txBody>
                  <a:tcPr marL="64591" marR="64591" marT="64591" marB="64591"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401141">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A supplier sends an SBOM too thin to check</a:t>
                      </a:r>
                      <a:endParaRPr lang="en-US" sz="1453" dirty="0">
                        <a:latin typeface="Verdana" charset="0"/>
                        <a:ea typeface="Verdana" charset="0"/>
                        <a:cs typeface="Verdana" charset="0"/>
                      </a:endParaRPr>
                    </a:p>
                  </a:txBody>
                  <a:tcPr marL="64591" marR="64591" marT="64591" marB="64591" anchor="t">
                    <a:lnL w="0" cap="flat" cmpd="sng" algn="ctr">
                      <a:noFill/>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Graded before anyone trusts it</a:t>
                      </a:r>
                      <a:endParaRPr lang="en-US" sz="1453" dirty="0">
                        <a:latin typeface="Verdana" charset="0"/>
                        <a:ea typeface="Verdana" charset="0"/>
                        <a:cs typeface="Verdana" charset="0"/>
                      </a:endParaRPr>
                    </a:p>
                  </a:txBody>
                  <a:tcPr marL="64591" marR="64591" marT="64591" marB="64591"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034"/>
                        </a:lnSpc>
                        <a:buNone/>
                      </a:pPr>
                      <a:r>
                        <a:rPr lang="en-US" sz="1453" dirty="0">
                          <a:solidFill>
                            <a:srgbClr val="10212B"/>
                          </a:solidFill>
                          <a:latin typeface="Verdana" pitchFamily="34" charset="0"/>
                          <a:ea typeface="Verdana" pitchFamily="34" charset="-122"/>
                          <a:cs typeface="Verdana" pitchFamily="34" charset="-120"/>
                        </a:rPr>
                        <a:t>Exit 10</a:t>
                      </a:r>
                      <a:endParaRPr lang="en-US" sz="1453" dirty="0">
                        <a:latin typeface="Verdana" charset="0"/>
                        <a:ea typeface="Verdana" charset="0"/>
                        <a:cs typeface="Verdana" charset="0"/>
                      </a:endParaRPr>
                    </a:p>
                  </a:txBody>
                  <a:tcPr marL="64591" marR="64591" marT="64591" marB="64591"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r>
            </a:tbl>
          </a:graphicData>
        </a:graphic>
      </p:graphicFrame>
      <p:sp>
        <p:nvSpPr>
          <p:cNvPr id="6" name="Text 3"/>
          <p:cNvSpPr/>
          <p:nvPr/>
        </p:nvSpPr>
        <p:spPr>
          <a:xfrm>
            <a:off x="812800" y="5600452"/>
            <a:ext cx="10595610" cy="266948"/>
          </a:xfrm>
          <a:prstGeom prst="rect">
            <a:avLst/>
          </a:prstGeom>
          <a:noFill/>
          <a:ln/>
        </p:spPr>
        <p:txBody>
          <a:bodyPr wrap="square" lIns="0" tIns="0" rIns="0" bIns="0" rtlCol="0" anchor="t">
            <a:normAutofit/>
          </a:bodyPr>
          <a:lstStyle/>
          <a:p>
            <a:pPr algn="l" indent="0" marL="0">
              <a:lnSpc>
                <a:spcPts val="1923"/>
              </a:lnSpc>
              <a:buNone/>
            </a:pPr>
            <a:r>
              <a:rPr lang="en-US" sz="1373" dirty="0">
                <a:solidFill>
                  <a:srgbClr val="4A5568"/>
                </a:solidFill>
                <a:latin typeface="Verdana" pitchFamily="34" charset="0"/>
                <a:ea typeface="Verdana" pitchFamily="34" charset="-122"/>
                <a:cs typeface="Verdana" pitchFamily="34" charset="-120"/>
              </a:rPr>
              <a:t>Every gate is off by default. Leave them off and it writes the document and exits clean.</a:t>
            </a:r>
            <a:endParaRPr lang="en-US" sz="137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What it costs us</a:t>
            </a:r>
            <a:endParaRPr lang="en-US" sz="3600" dirty="0"/>
          </a:p>
        </p:txBody>
      </p:sp>
      <p:sp>
        <p:nvSpPr>
          <p:cNvPr id="3" name="Shape 1"/>
          <p:cNvSpPr/>
          <p:nvPr/>
        </p:nvSpPr>
        <p:spPr>
          <a:xfrm>
            <a:off x="815975" y="1623665"/>
            <a:ext cx="3397250" cy="1701800"/>
          </a:xfrm>
          <a:prstGeom prst="roundRect">
            <a:avLst>
              <a:gd name="adj" fmla="val 5784"/>
            </a:avLst>
          </a:prstGeom>
          <a:solidFill>
            <a:srgbClr val="FFFFFF"/>
          </a:solidFill>
          <a:ln w="6350">
            <a:solidFill>
              <a:srgbClr val="DFE3DE"/>
            </a:solidFill>
            <a:prstDash val="solid"/>
          </a:ln>
        </p:spPr>
      </p:sp>
      <p:sp>
        <p:nvSpPr>
          <p:cNvPr id="4" name="Text 2"/>
          <p:cNvSpPr/>
          <p:nvPr/>
        </p:nvSpPr>
        <p:spPr>
          <a:xfrm>
            <a:off x="1073150" y="1880840"/>
            <a:ext cx="296938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7A6C"/>
                </a:solidFill>
                <a:latin typeface="Verdana" pitchFamily="34" charset="0"/>
                <a:ea typeface="Verdana" pitchFamily="34" charset="-122"/>
                <a:cs typeface="Verdana" pitchFamily="34" charset="-120"/>
              </a:rPr>
              <a:t>1 file</a:t>
            </a:r>
            <a:endParaRPr lang="en-US" sz="4800" dirty="0"/>
          </a:p>
        </p:txBody>
      </p:sp>
      <p:sp>
        <p:nvSpPr>
          <p:cNvPr id="5" name="Text 3"/>
          <p:cNvSpPr/>
          <p:nvPr/>
        </p:nvSpPr>
        <p:spPr>
          <a:xfrm>
            <a:off x="1073150" y="2553940"/>
            <a:ext cx="296938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Verdana" pitchFamily="34" charset="0"/>
                <a:ea typeface="Verdana" pitchFamily="34" charset="-122"/>
                <a:cs typeface="Verdana" pitchFamily="34" charset="-120"/>
              </a:rPr>
              <a:t>A step in a workflow. Nothing to host or keep running.</a:t>
            </a:r>
            <a:endParaRPr lang="en-US" sz="1500" dirty="0"/>
          </a:p>
        </p:txBody>
      </p:sp>
      <p:sp>
        <p:nvSpPr>
          <p:cNvPr id="6" name="Shape 4"/>
          <p:cNvSpPr/>
          <p:nvPr/>
        </p:nvSpPr>
        <p:spPr>
          <a:xfrm>
            <a:off x="4397375" y="1623665"/>
            <a:ext cx="3397250" cy="1701800"/>
          </a:xfrm>
          <a:prstGeom prst="roundRect">
            <a:avLst>
              <a:gd name="adj" fmla="val 5784"/>
            </a:avLst>
          </a:prstGeom>
          <a:solidFill>
            <a:srgbClr val="FFFFFF"/>
          </a:solidFill>
          <a:ln w="6350">
            <a:solidFill>
              <a:srgbClr val="DFE3DE"/>
            </a:solidFill>
            <a:prstDash val="solid"/>
          </a:ln>
        </p:spPr>
      </p:sp>
      <p:sp>
        <p:nvSpPr>
          <p:cNvPr id="7" name="Text 5"/>
          <p:cNvSpPr/>
          <p:nvPr/>
        </p:nvSpPr>
        <p:spPr>
          <a:xfrm>
            <a:off x="4654550" y="1880840"/>
            <a:ext cx="296938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7A6C"/>
                </a:solidFill>
                <a:latin typeface="Verdana" pitchFamily="34" charset="0"/>
                <a:ea typeface="Verdana" pitchFamily="34" charset="-122"/>
                <a:cs typeface="Verdana" pitchFamily="34" charset="-120"/>
              </a:rPr>
              <a:t>&lt; 1 s</a:t>
            </a:r>
            <a:endParaRPr lang="en-US" sz="4800" dirty="0"/>
          </a:p>
        </p:txBody>
      </p:sp>
      <p:sp>
        <p:nvSpPr>
          <p:cNvPr id="8" name="Text 6"/>
          <p:cNvSpPr/>
          <p:nvPr/>
        </p:nvSpPr>
        <p:spPr>
          <a:xfrm>
            <a:off x="4654550" y="2553940"/>
            <a:ext cx="296938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Verdana" pitchFamily="34" charset="0"/>
                <a:ea typeface="Verdana" pitchFamily="34" charset="-122"/>
                <a:cs typeface="Verdana" pitchFamily="34" charset="-120"/>
              </a:rPr>
              <a:t>Added to a build, on a 72-package environment, offline.</a:t>
            </a:r>
            <a:endParaRPr lang="en-US" sz="1500" dirty="0"/>
          </a:p>
        </p:txBody>
      </p:sp>
      <p:sp>
        <p:nvSpPr>
          <p:cNvPr id="9" name="Shape 7"/>
          <p:cNvSpPr/>
          <p:nvPr/>
        </p:nvSpPr>
        <p:spPr>
          <a:xfrm>
            <a:off x="7978775" y="1623665"/>
            <a:ext cx="3397250" cy="1701800"/>
          </a:xfrm>
          <a:prstGeom prst="roundRect">
            <a:avLst>
              <a:gd name="adj" fmla="val 5784"/>
            </a:avLst>
          </a:prstGeom>
          <a:solidFill>
            <a:srgbClr val="FFFFFF"/>
          </a:solidFill>
          <a:ln w="6350">
            <a:solidFill>
              <a:srgbClr val="DFE3DE"/>
            </a:solidFill>
            <a:prstDash val="solid"/>
          </a:ln>
        </p:spPr>
      </p:sp>
      <p:sp>
        <p:nvSpPr>
          <p:cNvPr id="10" name="Text 8"/>
          <p:cNvSpPr/>
          <p:nvPr/>
        </p:nvSpPr>
        <p:spPr>
          <a:xfrm>
            <a:off x="8235950" y="1880840"/>
            <a:ext cx="296938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7A6C"/>
                </a:solidFill>
                <a:latin typeface="Verdana" pitchFamily="34" charset="0"/>
                <a:ea typeface="Verdana" pitchFamily="34" charset="-122"/>
                <a:cs typeface="Verdana" pitchFamily="34" charset="-120"/>
              </a:rPr>
              <a:t>$0</a:t>
            </a:r>
            <a:endParaRPr lang="en-US" sz="4800" dirty="0"/>
          </a:p>
        </p:txBody>
      </p:sp>
      <p:sp>
        <p:nvSpPr>
          <p:cNvPr id="11" name="Text 9"/>
          <p:cNvSpPr/>
          <p:nvPr/>
        </p:nvSpPr>
        <p:spPr>
          <a:xfrm>
            <a:off x="8235950" y="2553940"/>
            <a:ext cx="296938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Verdana" pitchFamily="34" charset="0"/>
                <a:ea typeface="Verdana" pitchFamily="34" charset="-122"/>
                <a:cs typeface="Verdana" pitchFamily="34" charset="-120"/>
              </a:rPr>
              <a:t>Apache-2.0. No seats, no tiers, nothing to renew.</a:t>
            </a:r>
            <a:endParaRPr lang="en-US" sz="1500" dirty="0"/>
          </a:p>
        </p:txBody>
      </p:sp>
      <p:sp>
        <p:nvSpPr>
          <p:cNvPr id="12" name="Text 10"/>
          <p:cNvSpPr/>
          <p:nvPr/>
        </p:nvSpPr>
        <p:spPr>
          <a:xfrm>
            <a:off x="812800" y="3633440"/>
            <a:ext cx="105956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212B"/>
                </a:solidFill>
                <a:latin typeface="Verdana" pitchFamily="34" charset="0"/>
                <a:ea typeface="Verdana" pitchFamily="34" charset="-122"/>
                <a:cs typeface="Verdana" pitchFamily="34" charset="-120"/>
              </a:rPr>
              <a:t>The real cost is somebody reading the output now and then, and that's work we're already being asked to do.</a:t>
            </a:r>
            <a:endParaRPr lang="en-US" sz="1600" dirty="0"/>
          </a:p>
        </p:txBody>
      </p:sp>
      <p:sp>
        <p:nvSpPr>
          <p:cNvPr id="13" name="Text 11"/>
          <p:cNvSpPr/>
          <p:nvPr/>
        </p:nvSpPr>
        <p:spPr>
          <a:xfrm>
            <a:off x="812800" y="6238280"/>
            <a:ext cx="9097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Verdana" pitchFamily="34" charset="0"/>
                <a:ea typeface="Verdana" pitchFamily="34" charset="-122"/>
                <a:cs typeface="Verdana" pitchFamily="34" charset="-120"/>
              </a:rPr>
              <a:t>Timings from the project's published benchmarks, measured on all five platforms at every release.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Where the project is</a:t>
            </a:r>
            <a:endParaRPr lang="en-US" sz="3600" dirty="0"/>
          </a:p>
        </p:txBody>
      </p:sp>
      <p:pic>
        <p:nvPicPr>
          <p:cNvPr id="3" name="Image 0" descr="Verified">    </p:cNvPr>
          <p:cNvPicPr>
            <a:picLocks noChangeAspect="1"/>
          </p:cNvPicPr>
          <p:nvPr/>
        </p:nvPicPr>
        <p:blipFill>
          <a:blip r:embed="rId1"/>
          <a:srcRect l="-781" r="-781" t="0" b="0"/>
          <a:stretch/>
        </p:blipFill>
        <p:spPr>
          <a:xfrm>
            <a:off x="812800" y="1595090"/>
            <a:ext cx="161230" cy="254000"/>
          </a:xfrm>
          <a:prstGeom prst="rect">
            <a:avLst/>
          </a:prstGeom>
        </p:spPr>
      </p:pic>
      <p:sp>
        <p:nvSpPr>
          <p:cNvPr id="4" name="Text 1"/>
          <p:cNvSpPr/>
          <p:nvPr/>
        </p:nvSpPr>
        <p:spPr>
          <a:xfrm>
            <a:off x="1088330" y="1595090"/>
            <a:ext cx="5053252"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212B"/>
                </a:solidFill>
                <a:latin typeface="Verdana" pitchFamily="34" charset="0"/>
                <a:ea typeface="Verdana" pitchFamily="34" charset="-122"/>
                <a:cs typeface="Verdana" pitchFamily="34" charset="-120"/>
              </a:rPr>
              <a:t>Version 1.8.1, with a changelog and signed release builds for five platforms</a:t>
            </a:r>
            <a:endParaRPr lang="en-US" sz="1600" dirty="0"/>
          </a:p>
        </p:txBody>
      </p:sp>
      <p:pic>
        <p:nvPicPr>
          <p:cNvPr id="5" name="Image 1" descr="Database">    </p:cNvPr>
          <p:cNvPicPr>
            <a:picLocks noChangeAspect="1"/>
          </p:cNvPicPr>
          <p:nvPr/>
        </p:nvPicPr>
        <p:blipFill>
          <a:blip r:embed="rId2"/>
          <a:srcRect l="0" r="0" t="-95" b="-95"/>
          <a:stretch/>
        </p:blipFill>
        <p:spPr>
          <a:xfrm>
            <a:off x="812800" y="2283371"/>
            <a:ext cx="209153" cy="254000"/>
          </a:xfrm>
          <a:prstGeom prst="rect">
            <a:avLst/>
          </a:prstGeom>
        </p:spPr>
      </p:pic>
      <p:sp>
        <p:nvSpPr>
          <p:cNvPr id="6" name="Text 2"/>
          <p:cNvSpPr/>
          <p:nvPr/>
        </p:nvSpPr>
        <p:spPr>
          <a:xfrm>
            <a:off x="1136253" y="2283371"/>
            <a:ext cx="5003891"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212B"/>
                </a:solidFill>
                <a:latin typeface="Verdana" pitchFamily="34" charset="0"/>
                <a:ea typeface="Verdana" pitchFamily="34" charset="-122"/>
                <a:cs typeface="Verdana" pitchFamily="34" charset="-120"/>
              </a:rPr>
              <a:t>Installs the way our other tools do: </a:t>
            </a:r>
            <a:r>
              <a:rPr lang="en-US" sz="1600" dirty="0">
                <a:solidFill>
                  <a:srgbClr val="1F7A6C"/>
                </a:solidFill>
                <a:latin typeface="Verdana" pitchFamily="34" charset="0"/>
                <a:ea typeface="Verdana" pitchFamily="34" charset="-122"/>
                <a:cs typeface="Verdana" pitchFamily="34" charset="-120"/>
              </a:rPr>
              <a:t>pixi global</a:t>
            </a:r>
            <a:r>
              <a:rPr lang="en-US" sz="1600" dirty="0">
                <a:solidFill>
                  <a:srgbClr val="10212B"/>
                </a:solidFill>
                <a:latin typeface="Verdana" pitchFamily="34" charset="0"/>
                <a:ea typeface="Verdana" pitchFamily="34" charset="-122"/>
                <a:cs typeface="Verdana" pitchFamily="34" charset="-120"/>
              </a:rPr>
              <a:t>, </a:t>
            </a:r>
            <a:r>
              <a:rPr lang="en-US" sz="1600" dirty="0">
                <a:solidFill>
                  <a:srgbClr val="1F7A6C"/>
                </a:solidFill>
                <a:latin typeface="Verdana" pitchFamily="34" charset="0"/>
                <a:ea typeface="Verdana" pitchFamily="34" charset="-122"/>
                <a:cs typeface="Verdana" pitchFamily="34" charset="-120"/>
              </a:rPr>
              <a:t>pip</a:t>
            </a:r>
            <a:r>
              <a:rPr lang="en-US" sz="1600" dirty="0">
                <a:solidFill>
                  <a:srgbClr val="10212B"/>
                </a:solidFill>
                <a:latin typeface="Verdana" pitchFamily="34" charset="0"/>
                <a:ea typeface="Verdana" pitchFamily="34" charset="-122"/>
                <a:cs typeface="Verdana" pitchFamily="34" charset="-120"/>
              </a:rPr>
              <a:t> or </a:t>
            </a:r>
            <a:r>
              <a:rPr lang="en-US" sz="1600" dirty="0">
                <a:solidFill>
                  <a:srgbClr val="1F7A6C"/>
                </a:solidFill>
                <a:latin typeface="Verdana" pitchFamily="34" charset="0"/>
                <a:ea typeface="Verdana" pitchFamily="34" charset="-122"/>
                <a:cs typeface="Verdana" pitchFamily="34" charset="-120"/>
              </a:rPr>
              <a:t>uvx</a:t>
            </a:r>
            <a:endParaRPr lang="en-US" sz="1600" dirty="0"/>
          </a:p>
        </p:txBody>
      </p:sp>
      <p:pic>
        <p:nvPicPr>
          <p:cNvPr id="7" name="Image 2" descr="Book">    </p:cNvPr>
          <p:cNvPicPr>
            <a:picLocks noChangeAspect="1"/>
          </p:cNvPicPr>
          <p:nvPr/>
        </p:nvPicPr>
        <p:blipFill>
          <a:blip r:embed="rId3"/>
          <a:srcRect l="-1172" r="-1172" t="0" b="0"/>
          <a:stretch/>
        </p:blipFill>
        <p:spPr>
          <a:xfrm>
            <a:off x="812800" y="2971651"/>
            <a:ext cx="123478" cy="254000"/>
          </a:xfrm>
          <a:prstGeom prst="rect">
            <a:avLst/>
          </a:prstGeom>
        </p:spPr>
      </p:pic>
      <p:sp>
        <p:nvSpPr>
          <p:cNvPr id="8" name="Text 3"/>
          <p:cNvSpPr/>
          <p:nvPr/>
        </p:nvSpPr>
        <p:spPr>
          <a:xfrm>
            <a:off x="1050578" y="2971651"/>
            <a:ext cx="5092137"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212B"/>
                </a:solidFill>
                <a:latin typeface="Verdana" pitchFamily="34" charset="0"/>
                <a:ea typeface="Verdana" pitchFamily="34" charset="-122"/>
                <a:cs typeface="Verdana" pitchFamily="34" charset="-120"/>
              </a:rPr>
              <a:t>A docs site with a field manual and a training lab, and a diagnostic mode for locked-down networks</a:t>
            </a:r>
            <a:endParaRPr lang="en-US" sz="1600" dirty="0"/>
          </a:p>
        </p:txBody>
      </p:sp>
      <p:pic>
        <p:nvPicPr>
          <p:cNvPr id="9" name="Image 3" descr="Chart">    </p:cNvPr>
          <p:cNvPicPr>
            <a:picLocks noChangeAspect="1"/>
          </p:cNvPicPr>
          <p:nvPr/>
        </p:nvPicPr>
        <p:blipFill>
          <a:blip r:embed="rId4"/>
          <a:srcRect l="0" r="0" t="-196" b="-196"/>
          <a:stretch/>
        </p:blipFill>
        <p:spPr>
          <a:xfrm>
            <a:off x="6197600" y="1595090"/>
            <a:ext cx="139154" cy="254000"/>
          </a:xfrm>
          <a:prstGeom prst="rect">
            <a:avLst/>
          </a:prstGeom>
        </p:spPr>
      </p:pic>
      <p:sp>
        <p:nvSpPr>
          <p:cNvPr id="10" name="Text 4"/>
          <p:cNvSpPr/>
          <p:nvPr/>
        </p:nvSpPr>
        <p:spPr>
          <a:xfrm>
            <a:off x="6451054" y="1595090"/>
            <a:ext cx="507599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212B"/>
                </a:solidFill>
                <a:latin typeface="Verdana" pitchFamily="34" charset="0"/>
                <a:ea typeface="Verdana" pitchFamily="34" charset="-122"/>
                <a:cs typeface="Verdana" pitchFamily="34" charset="-120"/>
              </a:rPr>
              <a:t>Speed and memory measured on all five platforms at every release, numbers published</a:t>
            </a:r>
            <a:endParaRPr lang="en-US" sz="1600" dirty="0"/>
          </a:p>
        </p:txBody>
      </p:sp>
      <p:pic>
        <p:nvPicPr>
          <p:cNvPr id="11" name="Image 4" descr="Lock">    </p:cNvPr>
          <p:cNvPicPr>
            <a:picLocks noChangeAspect="1"/>
          </p:cNvPicPr>
          <p:nvPr/>
        </p:nvPicPr>
        <p:blipFill>
          <a:blip r:embed="rId5"/>
          <a:srcRect l="0" r="0" t="-741" b="-741"/>
          <a:stretch/>
        </p:blipFill>
        <p:spPr>
          <a:xfrm>
            <a:off x="6197600" y="2283371"/>
            <a:ext cx="143917" cy="254000"/>
          </a:xfrm>
          <a:prstGeom prst="rect">
            <a:avLst/>
          </a:prstGeom>
        </p:spPr>
      </p:pic>
      <p:sp>
        <p:nvSpPr>
          <p:cNvPr id="12" name="Text 5"/>
          <p:cNvSpPr/>
          <p:nvPr/>
        </p:nvSpPr>
        <p:spPr>
          <a:xfrm>
            <a:off x="6455817" y="2283371"/>
            <a:ext cx="5071085"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212B"/>
                </a:solidFill>
                <a:latin typeface="Verdana" pitchFamily="34" charset="0"/>
                <a:ea typeface="Verdana" pitchFamily="34" charset="-122"/>
                <a:cs typeface="Verdana" pitchFamily="34" charset="-120"/>
              </a:rPr>
              <a:t>Since 1.0 the flags, exit codes and output fields are under a written stability promise</a:t>
            </a:r>
            <a:endParaRPr lang="en-US" sz="1600" dirty="0"/>
          </a:p>
        </p:txBody>
      </p:sp>
      <p:pic>
        <p:nvPicPr>
          <p:cNvPr id="13" name="Image 5" descr="Users">    </p:cNvPr>
          <p:cNvPicPr>
            <a:picLocks noChangeAspect="1"/>
          </p:cNvPicPr>
          <p:nvPr/>
        </p:nvPicPr>
        <p:blipFill>
          <a:blip r:embed="rId6"/>
          <a:srcRect l="0" r="0" t="-254" b="-254"/>
          <a:stretch/>
        </p:blipFill>
        <p:spPr>
          <a:xfrm>
            <a:off x="6197600" y="2971651"/>
            <a:ext cx="214809" cy="254000"/>
          </a:xfrm>
          <a:prstGeom prst="rect">
            <a:avLst/>
          </a:prstGeom>
        </p:spPr>
      </p:pic>
      <p:sp>
        <p:nvSpPr>
          <p:cNvPr id="14" name="Text 6"/>
          <p:cNvSpPr/>
          <p:nvPr/>
        </p:nvSpPr>
        <p:spPr>
          <a:xfrm>
            <a:off x="6526709" y="2971651"/>
            <a:ext cx="499806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212B"/>
                </a:solidFill>
                <a:latin typeface="Verdana" pitchFamily="34" charset="0"/>
                <a:ea typeface="Verdana" pitchFamily="34" charset="-122"/>
                <a:cs typeface="Verdana" pitchFamily="34" charset="-120"/>
              </a:rPr>
              <a:t>Apache-2.0, so we can read it, fork it, or fix it ourselves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7A6C"/>
        </a:solidFill>
      </p:bgPr>
    </p:bg>
    <p:spTree>
      <p:nvGrpSpPr>
        <p:cNvPr id="1" name=""/>
        <p:cNvGrpSpPr/>
        <p:nvPr/>
      </p:nvGrpSpPr>
      <p:grpSpPr>
        <a:xfrm>
          <a:off x="0" y="0"/>
          <a:ext cx="0" cy="0"/>
          <a:chOff x="0" y="0"/>
          <a:chExt cx="0" cy="0"/>
        </a:xfrm>
      </p:grpSpPr>
      <p:sp>
        <p:nvSpPr>
          <p:cNvPr id="2" name="Text 0"/>
          <p:cNvSpPr/>
          <p:nvPr/>
        </p:nvSpPr>
        <p:spPr>
          <a:xfrm>
            <a:off x="812800" y="212601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DEDE5"/>
                </a:solidFill>
                <a:latin typeface="Courier New" pitchFamily="49" charset="0"/>
                <a:ea typeface="Courier New" pitchFamily="49" charset="-122"/>
                <a:cs typeface="Courier New" pitchFamily="49" charset="-120"/>
              </a:rPr>
              <a:t>WHAT HAPPENS NEXT</a:t>
            </a:r>
            <a:endParaRPr lang="en-US" sz="1200" dirty="0"/>
          </a:p>
        </p:txBody>
      </p:sp>
      <p:sp>
        <p:nvSpPr>
          <p:cNvPr id="3" name="Text 1"/>
          <p:cNvSpPr/>
          <p:nvPr>
            <p:ph type="title"/>
          </p:nvPr>
        </p:nvSpPr>
        <p:spPr>
          <a:xfrm>
            <a:off x="812800" y="2593330"/>
            <a:ext cx="11379200"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7F8F6"/>
                </a:solidFill>
                <a:latin typeface="Verdana" pitchFamily="34" charset="0"/>
                <a:ea typeface="Verdana" pitchFamily="34" charset="-122"/>
                <a:cs typeface="Verdana" pitchFamily="34" charset="-120"/>
              </a:rPr>
              <a:t>One repo. One job. Two weeks.</a:t>
            </a:r>
            <a:endParaRPr lang="en-US" sz="4400" dirty="0"/>
          </a:p>
        </p:txBody>
      </p:sp>
      <p:sp>
        <p:nvSpPr>
          <p:cNvPr id="4" name="Text 2"/>
          <p:cNvSpPr/>
          <p:nvPr/>
        </p:nvSpPr>
        <p:spPr>
          <a:xfrm>
            <a:off x="812800" y="3461990"/>
            <a:ext cx="9941560"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4F4F0"/>
                </a:solidFill>
                <a:latin typeface="Verdana" pitchFamily="34" charset="0"/>
                <a:ea typeface="Verdana" pitchFamily="34" charset="-122"/>
                <a:cs typeface="Verdana" pitchFamily="34" charset="-120"/>
              </a:rPr>
              <a:t>I'll come back with the documents it produced, what the gates would have caught if they'd been switched on, and whether I think it's worth doing anywhere else.</a:t>
            </a:r>
            <a:endParaRPr lang="en-US" sz="2000" dirty="0"/>
          </a:p>
        </p:txBody>
      </p:sp>
      <p:sp>
        <p:nvSpPr>
          <p:cNvPr id="5" name="Text 3"/>
          <p:cNvSpPr/>
          <p:nvPr/>
        </p:nvSpPr>
        <p:spPr>
          <a:xfrm>
            <a:off x="812800" y="6238280"/>
            <a:ext cx="2487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DEDE5"/>
                </a:solidFill>
                <a:latin typeface="Verdana" pitchFamily="34" charset="0"/>
                <a:ea typeface="Verdana" pitchFamily="34" charset="-122"/>
                <a:cs typeface="Verdana" pitchFamily="34" charset="-120"/>
              </a:rPr>
              <a:t>millsks.github.io/pixi-sbom</a:t>
            </a:r>
            <a:endParaRPr lang="en-US" sz="1200" dirty="0"/>
          </a:p>
        </p:txBody>
      </p:sp>
    </p:spTree>
  </p:cSld>
  <p:clrMapOvr>
    <a:masterClrMapping/>
  </p:clrMapOvr>
</p:sld>
</file>

<file path=ppt/theme/theme1.xml><?xml version="1.0" encoding="utf-8"?>
<a:theme xmlns:a="http://schemas.openxmlformats.org/drawingml/2006/main" name="The pixi-sbom Case">
  <a:themeElements>
    <a:clrScheme name="The pixi-sbom Case">
      <a:dk1>
        <a:srgbClr val="10212B"/>
      </a:dk1>
      <a:lt1>
        <a:srgbClr val="F7F8F6"/>
      </a:lt1>
      <a:dk2>
        <a:srgbClr val="4A575E"/>
      </a:dk2>
      <a:lt2>
        <a:srgbClr val="E0E3E2"/>
      </a:lt2>
      <a:accent1>
        <a:srgbClr val="6FBFAE"/>
      </a:accent1>
      <a:accent2>
        <a:srgbClr val="1F7A6C"/>
      </a:accent2>
      <a:accent3>
        <a:srgbClr val="C2571A"/>
      </a:accent3>
      <a:accent4>
        <a:srgbClr val="4A5568"/>
      </a:accent4>
      <a:accent5>
        <a:srgbClr val="B5C4CA"/>
      </a:accent5>
      <a:accent6>
        <a:srgbClr val="6A7179"/>
      </a:accent6>
      <a:hlink>
        <a:srgbClr val="0563C1"/>
      </a:hlink>
      <a:folHlink>
        <a:srgbClr val="954F72"/>
      </a:folHlink>
    </a:clrScheme>
    <a:fontScheme name="The pixi-sbom Case">
      <a:majorFont>
        <a:latin typeface="Verdan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erdan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pixi-sbom Case</dc:title>
  <dc:subject/>
  <dc:creator/>
  <cp:lastModifiedBy/>
  <cp:revision>1</cp:revision>
  <dcterms:created xsi:type="dcterms:W3CDTF">2026-10-09T23:09:39Z</dcterms:created>
  <dcterms:modified xsi:type="dcterms:W3CDTF">2026-10-09T23:09:39Z</dcterms:modified>
</cp:coreProperties>
</file>