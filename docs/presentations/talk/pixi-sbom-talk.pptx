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yes. Full talk: 0:00–0:45. 5-minute: 0:00–0:20.] Open with the claim, not the tool: an SBOM can pass every schema check and still answer nothing. The talk is about why that happens for conda and pixi environments in particular, and then a short demo of a tool that fixes it. Introduce yourself in one line; the tool's name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skip. Full talk: 0:45–1:45.] Keep this short; most rooms know what an SBOM is. The one idea to land is the middle box: the purl is the join key. An inventory is only as useful as the identifiers in it, because every downstream tool matches on them. If the identifier is one no database files advisories against, the query returns nothing, and nothing looks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yes. Full talk: 1:45–3:15. 5-minute: 0:20–1:35.] This is the whole problem in one slide. Nobody is lying here: the conda purl is correct. It is also the wrong key for the question we are asking, because Python advisories are filed against PyPI. A missing document gets noticed; a valid, hollow one gets filed and believed. If the room uses a Python-only scanner instead, the other half goes missing: it reads a requirements file and never sees what conda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yes. Full talk: 3:15–4:30. 5-minute: 1:35–2:25.] The number to say out loud is 45 of 96: almost half of the workspaces that do carry known advisories reported none at all with conventional identification. Among the 1,274 extra advisories were 32 critical and 600 high. The change only adds an identity, so nothing that matched before stops matching. Advisory databases change daily, so a re-run gives different counts; the shape holds because it follows from which purl namespaces the databases index. The corpus and scripts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skip. Full talk: 4:30–5:30.] This is the mechanism in one picture. Nothing is guessed from the package name: the conda-forge mapping identifies the PyPI project by the archive's hash, and the document records which source the identity came from. The conda purl stays, so anything that matched before still does. With --primary-purl pypi the PyPI one becomes the primary identity, for scanners that only read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fold into demo 2 (show the first command only). Full talk: 5:30–7:00.] Run from a clone of the repository, offline: export PIXI_SBOM_OFFLINE=1 and PIXI_SBOM_CACHE_DIR=$PWD/examples/lab-cache first, so the answers match the slides and nothing depends on the venue's network. Show the table scroll past, then point at the Python and system libraries: a conda environment ships them, and a PyPI-only tool never sees them. If the live run fails, play the packages recording from the docs (Looking instead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yes. Full talk: 7:00–8:30. 5-minute: 2:25–4:25.] A 2021-era Flask stack, locked by uv. Answers are from the lab cache recorded 9 October 2026, so they match the slide; say that live counts drift as advisories are published. Point at the EPSS column: none of these findings is in the KEV catalog, and EPSS is what orders the rest. Then the gate: exit 4 is a vulnerability, 3 a license, 10 a document too thin to trust. If the live run fails, play the EPSS recording from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skip. Full talk: 8:30–10:00.] The first two commands read a CycloneDX file someone else produced (here built from examples/projects/requirements/12-aws-cloud/requirements.txt; any CycloneDX or SPDX file works). The score says which elements are missing: no author, no licenses. The third switches to the Flask example from demo 2, because the OpenVEX statement in examples/lab is about its packages: one finding is marked not affected, and the reason the vendor gave stays in the report. Exit 10 is a document too thin to trust; it fails the gate the same way a vulnerability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one sentence only. Full talk: 10:00–10:45.] The conda half of the problem is where it started, but the same document, checks and gates work from these lockfiles. The examples folder in the repository has one project of each kind, and the docs page "Try it on the examples" walks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skip. Full talk: 10:45–11:30.] The action wraps the same binary. Mention that there are also codes for yanked packages (7), imports the manifest never declared (8), and OpenSSF Scorecard (9); the docs list them all. A restricted network works too: PIXI_SBOM_OFFLINE=1 with a prepared cache, which is what this demo ran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one line ("it finds what is published, in what is locked"). Full talk: 11:30–12:30.] Say this plainly; a security audience trusts a tool more when it states its edges. The mapping point: packages from other channels or private builds may have no PyPI identity, and the document then carries only the conda one, with no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cut: yes. Full talk: 12:30–13:30, then questions. 5-minute: 4:25–5:00.] End on the question, not the tool: open whatever SBOM your build produces today and look for pkg:conda purls with no PyPI identity beside them. If they are there, the vulnerability report for those packages is empty for the wrong reason. Then the four ways in: pixi global, PyPI (uvx or pip, no pixi needed), the GitHub Action, and the pre-commit hook (id pixi-sbom). Then the links. The lab runs offline from a clone in about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951309"/>
          </a:xfrm>
          <a:prstGeom prst="rect">
            <a:avLst/>
          </a:prstGeom>
          <a:noFill/>
          <a:ln/>
        </p:spPr>
        <p:txBody>
          <a:bodyPr wrap="square" lIns="0" tIns="0" rIns="0" bIns="0" rtlCol="0" anchor="t"/>
          <a:lstStyle>
            <a:lvl1pPr algn="l" indent="0" marL="0">
              <a:lnSpc>
                <a:spcPct val="115000"/>
              </a:lnSpc>
              <a:buNone/>
              <a:defRPr lang="en-US" sz="3600" dirty="0">
                <a:solidFill>
                  <a:srgbClr val="10212B"/>
                </a:solidFill>
                <a:latin typeface="Verdana" pitchFamily="34" charset="0"/>
                <a:ea typeface="Verdana" pitchFamily="34" charset="-122"/>
                <a:cs typeface="Verdan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68909"/>
            <a:ext cx="10566400" cy="3976291"/>
          </a:xfrm>
          <a:prstGeom prst="rect">
            <a:avLst/>
          </a:prstGeom>
          <a:noFill/>
          <a:ln/>
        </p:spPr>
        <p:txBody>
          <a:bodyPr wrap="square" lIns="0" tIns="0" rIns="0" bIns="0" rtlCol="0" anchor="t"/>
          <a:lstStyle>
            <a:lvl1pPr algn="l" indent="0" marL="0">
              <a:lnSpc>
                <a:spcPct val="140000"/>
              </a:lnSpc>
              <a:buNone/>
              <a:defRPr lang="en-US" sz="1600" dirty="0">
                <a:solidFill>
                  <a:srgbClr val="10212B"/>
                </a:solidFill>
                <a:latin typeface="Courier New" pitchFamily="34" charset="0"/>
                <a:ea typeface="Courier New" pitchFamily="34" charset="-122"/>
                <a:cs typeface="Courier New"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951309"/>
          </a:xfrm>
          <a:prstGeom prst="rect">
            <a:avLst/>
          </a:prstGeom>
          <a:noFill/>
          <a:ln/>
        </p:spPr>
        <p:txBody>
          <a:bodyPr wrap="square" lIns="0" tIns="0" rIns="0" bIns="0" rtlCol="0" anchor="t"/>
          <a:lstStyle>
            <a:lvl1pPr algn="l" indent="0" marL="0">
              <a:lnSpc>
                <a:spcPct val="115000"/>
              </a:lnSpc>
              <a:buNone/>
              <a:defRPr lang="en-US" sz="3600" dirty="0">
                <a:solidFill>
                  <a:srgbClr val="10212B"/>
                </a:solidFill>
                <a:latin typeface="Verdana" pitchFamily="34" charset="0"/>
                <a:ea typeface="Verdana" pitchFamily="34" charset="-122"/>
                <a:cs typeface="Verdan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68909"/>
            <a:ext cx="10566400" cy="3976291"/>
          </a:xfrm>
          <a:prstGeom prst="rect">
            <a:avLst/>
          </a:prstGeom>
          <a:noFill/>
          <a:ln/>
        </p:spPr>
        <p:txBody>
          <a:bodyPr wrap="square" lIns="0" tIns="0" rIns="0" bIns="0" rtlCol="0" anchor="t"/>
          <a:lstStyle>
            <a:lvl1pPr algn="l" indent="0" marL="0">
              <a:lnSpc>
                <a:spcPct val="140000"/>
              </a:lnSpc>
              <a:buNone/>
              <a:defRPr lang="en-US" sz="1600" dirty="0">
                <a:solidFill>
                  <a:srgbClr val="10212B"/>
                </a:solidFill>
                <a:latin typeface="Courier New" pitchFamily="34" charset="0"/>
                <a:ea typeface="Courier New" pitchFamily="34" charset="-122"/>
                <a:cs typeface="Courier New"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12B"/>
        </a:solidFill>
      </p:bgPr>
    </p:bg>
    <p:spTree>
      <p:nvGrpSpPr>
        <p:cNvPr id="1" name=""/>
        <p:cNvGrpSpPr/>
        <p:nvPr/>
      </p:nvGrpSpPr>
      <p:grpSpPr>
        <a:xfrm>
          <a:off x="0" y="0"/>
          <a:ext cx="0" cy="0"/>
          <a:chOff x="0" y="0"/>
          <a:chExt cx="0" cy="0"/>
        </a:xfrm>
      </p:grpSpPr>
      <p:sp>
        <p:nvSpPr>
          <p:cNvPr id="2" name="Text 0"/>
          <p:cNvSpPr/>
          <p:nvPr/>
        </p:nvSpPr>
        <p:spPr>
          <a:xfrm>
            <a:off x="812800" y="160084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FBFAE"/>
                </a:solidFill>
                <a:latin typeface="Courier New" pitchFamily="49" charset="0"/>
                <a:ea typeface="Courier New" pitchFamily="49" charset="-122"/>
                <a:cs typeface="Courier New" pitchFamily="49" charset="-120"/>
              </a:rPr>
              <a:t>CONDA · PYPI · SBOMS</a:t>
            </a:r>
            <a:endParaRPr lang="en-US" sz="1200" dirty="0"/>
          </a:p>
        </p:txBody>
      </p:sp>
      <p:sp>
        <p:nvSpPr>
          <p:cNvPr id="3" name="Text 1"/>
          <p:cNvSpPr/>
          <p:nvPr>
            <p:ph type="title"/>
          </p:nvPr>
        </p:nvSpPr>
        <p:spPr>
          <a:xfrm>
            <a:off x="812800" y="2068165"/>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8F6"/>
                </a:solidFill>
                <a:latin typeface="Verdana" pitchFamily="34" charset="0"/>
                <a:ea typeface="Verdana" pitchFamily="34" charset="-122"/>
                <a:cs typeface="Verdana" pitchFamily="34" charset="-120"/>
              </a:rPr>
              <a:t>The hole in your SBOM</a:t>
            </a:r>
            <a:endParaRPr lang="en-US" sz="6000" dirty="0"/>
          </a:p>
        </p:txBody>
      </p:sp>
      <p:sp>
        <p:nvSpPr>
          <p:cNvPr id="4" name="Text 2"/>
          <p:cNvSpPr/>
          <p:nvPr/>
        </p:nvSpPr>
        <p:spPr>
          <a:xfrm>
            <a:off x="812800" y="3922365"/>
            <a:ext cx="9483725" cy="115694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B5C4CA"/>
                </a:solidFill>
                <a:latin typeface="Verdana" pitchFamily="34" charset="0"/>
                <a:ea typeface="Verdana" pitchFamily="34" charset="-122"/>
                <a:cs typeface="Verdana" pitchFamily="34" charset="-120"/>
              </a:rPr>
              <a:t>Why a bill of materials for a conda or pixi environment can be valid, complete-looking and nearly unsearchable, and what it takes to fix.</a:t>
            </a:r>
            <a:endParaRPr lang="en-US" sz="2200" dirty="0"/>
          </a:p>
        </p:txBody>
      </p:sp>
      <p:sp>
        <p:nvSpPr>
          <p:cNvPr id="5" name="Text 3"/>
          <p:cNvSpPr/>
          <p:nvPr/>
        </p:nvSpPr>
        <p:spPr>
          <a:xfrm>
            <a:off x="812800" y="6238280"/>
            <a:ext cx="4749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C93"/>
                </a:solidFill>
                <a:latin typeface="Verdana" pitchFamily="34" charset="0"/>
                <a:ea typeface="Verdana" pitchFamily="34" charset="-122"/>
                <a:cs typeface="Verdana" pitchFamily="34" charset="-120"/>
              </a:rPr>
              <a:t>Kevin Mills · pixi-sbom · millsks.github.io/pixi-sbom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An SBOM is an inventory, joined to everything else by one key</a:t>
            </a:r>
            <a:endParaRPr lang="en-US" sz="3600" dirty="0"/>
          </a:p>
        </p:txBody>
      </p:sp>
      <p:sp>
        <p:nvSpPr>
          <p:cNvPr id="3" name="Text 1"/>
          <p:cNvSpPr/>
          <p:nvPr/>
        </p:nvSpPr>
        <p:spPr>
          <a:xfrm>
            <a:off x="812800" y="2123380"/>
            <a:ext cx="104648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Verdana" pitchFamily="34" charset="0"/>
                <a:ea typeface="Verdana" pitchFamily="34" charset="-122"/>
                <a:cs typeface="Verdana" pitchFamily="34" charset="-120"/>
              </a:rPr>
              <a:t>Every package in a build: its name, version, supplier, hashes, license, and what depends on it. What it is for is a query: when an advisory lands, are we exposed?</a:t>
            </a:r>
            <a:endParaRPr lang="en-US" sz="1800" dirty="0"/>
          </a:p>
        </p:txBody>
      </p:sp>
      <p:sp>
        <p:nvSpPr>
          <p:cNvPr id="4" name="Shape 2"/>
          <p:cNvSpPr/>
          <p:nvPr/>
        </p:nvSpPr>
        <p:spPr>
          <a:xfrm>
            <a:off x="815975" y="3305076"/>
            <a:ext cx="2851150" cy="1469330"/>
          </a:xfrm>
          <a:prstGeom prst="roundRect">
            <a:avLst>
              <a:gd name="adj" fmla="val 6699"/>
            </a:avLst>
          </a:prstGeom>
          <a:solidFill>
            <a:srgbClr val="FFFFFF"/>
          </a:solidFill>
          <a:ln w="6350">
            <a:solidFill>
              <a:srgbClr val="DFE3DE"/>
            </a:solidFill>
            <a:prstDash val="solid"/>
          </a:ln>
        </p:spPr>
      </p:sp>
      <p:sp>
        <p:nvSpPr>
          <p:cNvPr id="5" name="Text 3"/>
          <p:cNvSpPr/>
          <p:nvPr/>
        </p:nvSpPr>
        <p:spPr>
          <a:xfrm>
            <a:off x="1047750" y="3536851"/>
            <a:ext cx="245922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12B"/>
                </a:solidFill>
                <a:latin typeface="Courier New" pitchFamily="49" charset="0"/>
                <a:ea typeface="Courier New" pitchFamily="49" charset="-122"/>
                <a:cs typeface="Courier New" pitchFamily="49" charset="-120"/>
              </a:rPr>
              <a:t>Your SBOM</a:t>
            </a:r>
            <a:endParaRPr lang="en-US" sz="1400" dirty="0"/>
          </a:p>
        </p:txBody>
      </p:sp>
      <p:sp>
        <p:nvSpPr>
          <p:cNvPr id="6" name="Text 4"/>
          <p:cNvSpPr/>
          <p:nvPr/>
        </p:nvSpPr>
        <p:spPr>
          <a:xfrm>
            <a:off x="1047750" y="3849241"/>
            <a:ext cx="2459228"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8"/>
                </a:solidFill>
                <a:latin typeface="Verdana" pitchFamily="34" charset="0"/>
                <a:ea typeface="Verdana" pitchFamily="34" charset="-122"/>
                <a:cs typeface="Verdana" pitchFamily="34" charset="-120"/>
              </a:rPr>
              <a:t>One component per package, each named by a package URL</a:t>
            </a:r>
            <a:endParaRPr lang="en-US" sz="1400" dirty="0"/>
          </a:p>
        </p:txBody>
      </p:sp>
      <p:pic>
        <p:nvPicPr>
          <p:cNvPr id="7" name="Image 0" descr="arrow-right">    </p:cNvPr>
          <p:cNvPicPr>
            <a:picLocks noChangeAspect="1"/>
          </p:cNvPicPr>
          <p:nvPr/>
        </p:nvPicPr>
        <p:blipFill>
          <a:blip r:embed="rId1"/>
          <a:srcRect l="0" r="0" t="0" b="0"/>
          <a:stretch/>
        </p:blipFill>
        <p:spPr>
          <a:xfrm>
            <a:off x="3822700" y="3861941"/>
            <a:ext cx="698500" cy="355600"/>
          </a:xfrm>
          <a:prstGeom prst="rect">
            <a:avLst/>
          </a:prstGeom>
        </p:spPr>
      </p:pic>
      <p:sp>
        <p:nvSpPr>
          <p:cNvPr id="8" name="Shape 5"/>
          <p:cNvSpPr/>
          <p:nvPr/>
        </p:nvSpPr>
        <p:spPr>
          <a:xfrm>
            <a:off x="4673600" y="3068241"/>
            <a:ext cx="2844800" cy="1943001"/>
          </a:xfrm>
          <a:prstGeom prst="roundRect">
            <a:avLst>
              <a:gd name="adj" fmla="val 5229"/>
            </a:avLst>
          </a:prstGeom>
          <a:solidFill>
            <a:srgbClr val="10212B"/>
          </a:solidFill>
          <a:ln/>
        </p:spPr>
      </p:sp>
      <p:sp>
        <p:nvSpPr>
          <p:cNvPr id="9" name="Text 6"/>
          <p:cNvSpPr/>
          <p:nvPr/>
        </p:nvSpPr>
        <p:spPr>
          <a:xfrm>
            <a:off x="4902200" y="3296841"/>
            <a:ext cx="245922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FBFAE"/>
                </a:solidFill>
                <a:latin typeface="Courier New" pitchFamily="49" charset="0"/>
                <a:ea typeface="Courier New" pitchFamily="49" charset="-122"/>
                <a:cs typeface="Courier New" pitchFamily="49" charset="-120"/>
              </a:rPr>
              <a:t>pkg:pypi/requests@2.25.1</a:t>
            </a:r>
            <a:endParaRPr lang="en-US" sz="1400" dirty="0"/>
          </a:p>
        </p:txBody>
      </p:sp>
      <p:sp>
        <p:nvSpPr>
          <p:cNvPr id="10" name="Text 7"/>
          <p:cNvSpPr/>
          <p:nvPr/>
        </p:nvSpPr>
        <p:spPr>
          <a:xfrm>
            <a:off x="4902200" y="3858121"/>
            <a:ext cx="2459228" cy="94992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C4CA"/>
                </a:solidFill>
                <a:latin typeface="Verdana" pitchFamily="34" charset="0"/>
                <a:ea typeface="Verdana" pitchFamily="34" charset="-122"/>
                <a:cs typeface="Verdana" pitchFamily="34" charset="-120"/>
              </a:rPr>
              <a:t>The purl: the join key every scanner and advisory database matches on</a:t>
            </a:r>
            <a:endParaRPr lang="en-US" sz="1400" dirty="0"/>
          </a:p>
        </p:txBody>
      </p:sp>
      <p:pic>
        <p:nvPicPr>
          <p:cNvPr id="11" name="Image 1" descr="arrow-right">    </p:cNvPr>
          <p:cNvPicPr>
            <a:picLocks noChangeAspect="1"/>
          </p:cNvPicPr>
          <p:nvPr/>
        </p:nvPicPr>
        <p:blipFill>
          <a:blip r:embed="rId2"/>
          <a:srcRect l="0" r="0" t="0" b="0"/>
          <a:stretch/>
        </p:blipFill>
        <p:spPr>
          <a:xfrm>
            <a:off x="7670800" y="3861941"/>
            <a:ext cx="698500" cy="355600"/>
          </a:xfrm>
          <a:prstGeom prst="rect">
            <a:avLst/>
          </a:prstGeom>
        </p:spPr>
      </p:pic>
      <p:sp>
        <p:nvSpPr>
          <p:cNvPr id="12" name="Shape 8"/>
          <p:cNvSpPr/>
          <p:nvPr/>
        </p:nvSpPr>
        <p:spPr>
          <a:xfrm>
            <a:off x="8524875" y="3420616"/>
            <a:ext cx="2851150" cy="1238200"/>
          </a:xfrm>
          <a:prstGeom prst="roundRect">
            <a:avLst>
              <a:gd name="adj" fmla="val 7949"/>
            </a:avLst>
          </a:prstGeom>
          <a:solidFill>
            <a:srgbClr val="FFFFFF"/>
          </a:solidFill>
          <a:ln w="6350">
            <a:solidFill>
              <a:srgbClr val="DFE3DE"/>
            </a:solidFill>
            <a:prstDash val="solid"/>
          </a:ln>
        </p:spPr>
      </p:sp>
      <p:sp>
        <p:nvSpPr>
          <p:cNvPr id="13" name="Text 9"/>
          <p:cNvSpPr/>
          <p:nvPr/>
        </p:nvSpPr>
        <p:spPr>
          <a:xfrm>
            <a:off x="8756650" y="3652391"/>
            <a:ext cx="245922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12B"/>
                </a:solidFill>
                <a:latin typeface="Courier New" pitchFamily="49" charset="0"/>
                <a:ea typeface="Courier New" pitchFamily="49" charset="-122"/>
                <a:cs typeface="Courier New" pitchFamily="49" charset="-120"/>
              </a:rPr>
              <a:t>Advisories</a:t>
            </a:r>
            <a:endParaRPr lang="en-US" sz="1400" dirty="0"/>
          </a:p>
        </p:txBody>
      </p:sp>
      <p:sp>
        <p:nvSpPr>
          <p:cNvPr id="14" name="Text 10"/>
          <p:cNvSpPr/>
          <p:nvPr/>
        </p:nvSpPr>
        <p:spPr>
          <a:xfrm>
            <a:off x="8756650" y="3964781"/>
            <a:ext cx="2459228"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A5568"/>
                </a:solidFill>
                <a:latin typeface="Verdana" pitchFamily="34" charset="0"/>
                <a:ea typeface="Verdana" pitchFamily="34" charset="-122"/>
                <a:cs typeface="Verdana" pitchFamily="34" charset="-120"/>
              </a:rPr>
              <a:t>OSV, GitHub, CISA: filed against that same identity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The hole: the right package, under a name nobody searches</a:t>
            </a:r>
            <a:endParaRPr lang="en-US" sz="3600" dirty="0"/>
          </a:p>
        </p:txBody>
      </p:sp>
      <p:sp>
        <p:nvSpPr>
          <p:cNvPr id="3" name="Text 1"/>
          <p:cNvSpPr/>
          <p:nvPr/>
        </p:nvSpPr>
        <p:spPr>
          <a:xfrm>
            <a:off x="812800" y="2097980"/>
            <a:ext cx="104648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Verdana" pitchFamily="34" charset="0"/>
                <a:ea typeface="Verdana" pitchFamily="34" charset="-122"/>
                <a:cs typeface="Verdana" pitchFamily="34" charset="-120"/>
              </a:rPr>
              <a:t>A pixi or conda environment is conda packages and PyPI packages, resolved together. NumPy comes from conda-forge, so a tool that does emit it names it the conda way.</a:t>
            </a:r>
            <a:endParaRPr lang="en-US" sz="1800" dirty="0"/>
          </a:p>
        </p:txBody>
      </p:sp>
      <p:sp>
        <p:nvSpPr>
          <p:cNvPr id="4" name="Shape 2"/>
          <p:cNvSpPr/>
          <p:nvPr/>
        </p:nvSpPr>
        <p:spPr>
          <a:xfrm>
            <a:off x="815975" y="3020616"/>
            <a:ext cx="5181600" cy="1771600"/>
          </a:xfrm>
          <a:prstGeom prst="roundRect">
            <a:avLst>
              <a:gd name="adj" fmla="val 5556"/>
            </a:avLst>
          </a:prstGeom>
          <a:solidFill>
            <a:srgbClr val="FFFFFF"/>
          </a:solidFill>
          <a:ln w="6350">
            <a:solidFill>
              <a:srgbClr val="DFE3DE"/>
            </a:solidFill>
            <a:prstDash val="solid"/>
          </a:ln>
        </p:spPr>
      </p:sp>
      <p:sp>
        <p:nvSpPr>
          <p:cNvPr id="5" name="Text 3"/>
          <p:cNvSpPr/>
          <p:nvPr/>
        </p:nvSpPr>
        <p:spPr>
          <a:xfrm>
            <a:off x="1073150" y="3277791"/>
            <a:ext cx="48072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12B"/>
                </a:solidFill>
                <a:latin typeface="Verdana" pitchFamily="34" charset="0"/>
                <a:ea typeface="Verdana" pitchFamily="34" charset="-122"/>
                <a:cs typeface="Verdana" pitchFamily="34" charset="-120"/>
              </a:rPr>
              <a:t>What most tools write</a:t>
            </a:r>
            <a:endParaRPr lang="en-US" sz="1600" dirty="0"/>
          </a:p>
        </p:txBody>
      </p:sp>
      <p:sp>
        <p:nvSpPr>
          <p:cNvPr id="6" name="Text 4"/>
          <p:cNvSpPr/>
          <p:nvPr/>
        </p:nvSpPr>
        <p:spPr>
          <a:xfrm>
            <a:off x="1073150" y="3610521"/>
            <a:ext cx="4807268"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0212B"/>
                </a:solidFill>
                <a:latin typeface="Courier New" pitchFamily="49" charset="0"/>
                <a:ea typeface="Courier New" pitchFamily="49" charset="-122"/>
                <a:cs typeface="Courier New" pitchFamily="49" charset="-120"/>
              </a:rPr>
              <a:t>pkg:conda/numpy@2.3.1</a:t>
            </a:r>
            <a:endParaRPr lang="en-US" sz="1700" dirty="0"/>
          </a:p>
        </p:txBody>
      </p:sp>
      <p:sp>
        <p:nvSpPr>
          <p:cNvPr id="7" name="Text 5"/>
          <p:cNvSpPr/>
          <p:nvPr/>
        </p:nvSpPr>
        <p:spPr>
          <a:xfrm>
            <a:off x="1073150" y="4001641"/>
            <a:ext cx="48072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Verdana" pitchFamily="34" charset="0"/>
                <a:ea typeface="Verdana" pitchFamily="34" charset="-122"/>
                <a:cs typeface="Verdana" pitchFamily="34" charset="-120"/>
              </a:rPr>
              <a:t>Correct, valid against the schema, and matched by almost no advisory database.</a:t>
            </a:r>
            <a:endParaRPr lang="en-US" sz="1500" dirty="0"/>
          </a:p>
        </p:txBody>
      </p:sp>
      <p:sp>
        <p:nvSpPr>
          <p:cNvPr id="8" name="Shape 6"/>
          <p:cNvSpPr/>
          <p:nvPr/>
        </p:nvSpPr>
        <p:spPr>
          <a:xfrm>
            <a:off x="6203950" y="3017441"/>
            <a:ext cx="5175250" cy="1777950"/>
          </a:xfrm>
          <a:prstGeom prst="roundRect">
            <a:avLst>
              <a:gd name="adj" fmla="val 5714"/>
            </a:avLst>
          </a:prstGeom>
          <a:solidFill>
            <a:srgbClr val="10212B"/>
          </a:solidFill>
          <a:ln/>
        </p:spPr>
      </p:sp>
      <p:sp>
        <p:nvSpPr>
          <p:cNvPr id="9" name="Text 7"/>
          <p:cNvSpPr/>
          <p:nvPr/>
        </p:nvSpPr>
        <p:spPr>
          <a:xfrm>
            <a:off x="6457950" y="3271441"/>
            <a:ext cx="48072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FBFAE"/>
                </a:solidFill>
                <a:latin typeface="Verdana" pitchFamily="34" charset="0"/>
                <a:ea typeface="Verdana" pitchFamily="34" charset="-122"/>
                <a:cs typeface="Verdana" pitchFamily="34" charset="-120"/>
              </a:rPr>
              <a:t>Where NumPy's advisories are filed</a:t>
            </a:r>
            <a:endParaRPr lang="en-US" sz="1600" dirty="0"/>
          </a:p>
        </p:txBody>
      </p:sp>
      <p:sp>
        <p:nvSpPr>
          <p:cNvPr id="10" name="Text 8"/>
          <p:cNvSpPr/>
          <p:nvPr/>
        </p:nvSpPr>
        <p:spPr>
          <a:xfrm>
            <a:off x="6457950" y="3604171"/>
            <a:ext cx="4807268"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7F8F6"/>
                </a:solidFill>
                <a:latin typeface="Courier New" pitchFamily="49" charset="0"/>
                <a:ea typeface="Courier New" pitchFamily="49" charset="-122"/>
                <a:cs typeface="Courier New" pitchFamily="49" charset="-120"/>
              </a:rPr>
              <a:t>pkg:pypi/numpy@2.3.1</a:t>
            </a:r>
            <a:endParaRPr lang="en-US" sz="1700" dirty="0"/>
          </a:p>
        </p:txBody>
      </p:sp>
      <p:sp>
        <p:nvSpPr>
          <p:cNvPr id="11" name="Text 9"/>
          <p:cNvSpPr/>
          <p:nvPr/>
        </p:nvSpPr>
        <p:spPr>
          <a:xfrm>
            <a:off x="6457950" y="3995291"/>
            <a:ext cx="48072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5C4CA"/>
                </a:solidFill>
                <a:latin typeface="Verdana" pitchFamily="34" charset="0"/>
                <a:ea typeface="Verdana" pitchFamily="34" charset="-122"/>
                <a:cs typeface="Verdana" pitchFamily="34" charset="-120"/>
              </a:rPr>
              <a:t>Same code, same version. The scanner only finds it under this name.</a:t>
            </a:r>
            <a:endParaRPr lang="en-US" sz="1500" dirty="0"/>
          </a:p>
        </p:txBody>
      </p:sp>
      <p:sp>
        <p:nvSpPr>
          <p:cNvPr id="12" name="Text 10"/>
          <p:cNvSpPr/>
          <p:nvPr/>
        </p:nvSpPr>
        <p:spPr>
          <a:xfrm>
            <a:off x="812800" y="5074791"/>
            <a:ext cx="105956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0212B"/>
                </a:solidFill>
                <a:latin typeface="Verdana" pitchFamily="34" charset="0"/>
                <a:ea typeface="Verdana" pitchFamily="34" charset="-122"/>
                <a:cs typeface="Verdana" pitchFamily="34" charset="-120"/>
              </a:rPr>
              <a:t>The document is present, well formed and hollow. Nobody chases an empty result that looks like a clean one.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1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8F6"/>
                </a:solidFill>
                <a:latin typeface="Verdana" pitchFamily="34" charset="0"/>
                <a:ea typeface="Verdana" pitchFamily="34" charset="-122"/>
                <a:cs typeface="Verdana" pitchFamily="34" charset="-120"/>
              </a:rPr>
              <a:t>How big the hole is</a:t>
            </a:r>
            <a:endParaRPr lang="en-US" sz="3600" dirty="0"/>
          </a:p>
        </p:txBody>
      </p:sp>
      <p:sp>
        <p:nvSpPr>
          <p:cNvPr id="3" name="Text 1"/>
          <p:cNvSpPr/>
          <p:nvPr/>
        </p:nvSpPr>
        <p:spPr>
          <a:xfrm>
            <a:off x="812800" y="1645890"/>
            <a:ext cx="1059561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5C4CA"/>
                </a:solidFill>
                <a:latin typeface="Verdana" pitchFamily="34" charset="0"/>
                <a:ea typeface="Verdana" pitchFamily="34" charset="-122"/>
                <a:cs typeface="Verdana" pitchFamily="34" charset="-120"/>
              </a:rPr>
              <a:t>118 public conda and pixi workspaces, 15,722 packages, each looked up twice with only the identity changed.</a:t>
            </a:r>
            <a:endParaRPr lang="en-US" sz="2000" dirty="0"/>
          </a:p>
        </p:txBody>
      </p:sp>
      <p:sp>
        <p:nvSpPr>
          <p:cNvPr id="4" name="Shape 2"/>
          <p:cNvSpPr/>
          <p:nvPr/>
        </p:nvSpPr>
        <p:spPr>
          <a:xfrm>
            <a:off x="812800" y="2661890"/>
            <a:ext cx="3403600" cy="1929755"/>
          </a:xfrm>
          <a:prstGeom prst="roundRect">
            <a:avLst>
              <a:gd name="adj" fmla="val 5265"/>
            </a:avLst>
          </a:prstGeom>
          <a:solidFill>
            <a:srgbClr val="18313E"/>
          </a:solidFill>
          <a:ln/>
        </p:spPr>
      </p:sp>
      <p:sp>
        <p:nvSpPr>
          <p:cNvPr id="5" name="Text 3"/>
          <p:cNvSpPr/>
          <p:nvPr/>
        </p:nvSpPr>
        <p:spPr>
          <a:xfrm>
            <a:off x="1066800" y="2915890"/>
            <a:ext cx="2982468"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6FBFAE"/>
                </a:solidFill>
                <a:latin typeface="Verdana" pitchFamily="34" charset="0"/>
                <a:ea typeface="Verdana" pitchFamily="34" charset="-122"/>
                <a:cs typeface="Verdana" pitchFamily="34" charset="-120"/>
              </a:rPr>
              <a:t>+37.1%</a:t>
            </a:r>
            <a:endParaRPr lang="en-US" sz="4400" dirty="0"/>
          </a:p>
        </p:txBody>
      </p:sp>
      <p:sp>
        <p:nvSpPr>
          <p:cNvPr id="6" name="Text 4"/>
          <p:cNvSpPr/>
          <p:nvPr/>
        </p:nvSpPr>
        <p:spPr>
          <a:xfrm>
            <a:off x="1066800" y="3566120"/>
            <a:ext cx="298246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C4CA"/>
                </a:solidFill>
                <a:latin typeface="Verdana" pitchFamily="34" charset="0"/>
                <a:ea typeface="Verdana" pitchFamily="34" charset="-122"/>
                <a:cs typeface="Verdana" pitchFamily="34" charset="-120"/>
              </a:rPr>
              <a:t>1,274 advisories visible only under the PyPI identity</a:t>
            </a:r>
            <a:endParaRPr lang="en-US" sz="1500" dirty="0"/>
          </a:p>
        </p:txBody>
      </p:sp>
      <p:sp>
        <p:nvSpPr>
          <p:cNvPr id="7" name="Shape 5"/>
          <p:cNvSpPr/>
          <p:nvPr/>
        </p:nvSpPr>
        <p:spPr>
          <a:xfrm>
            <a:off x="4394200" y="2661890"/>
            <a:ext cx="3403600" cy="1929755"/>
          </a:xfrm>
          <a:prstGeom prst="roundRect">
            <a:avLst>
              <a:gd name="adj" fmla="val 5265"/>
            </a:avLst>
          </a:prstGeom>
          <a:solidFill>
            <a:srgbClr val="18313E"/>
          </a:solidFill>
          <a:ln/>
        </p:spPr>
      </p:sp>
      <p:sp>
        <p:nvSpPr>
          <p:cNvPr id="8" name="Text 6"/>
          <p:cNvSpPr/>
          <p:nvPr/>
        </p:nvSpPr>
        <p:spPr>
          <a:xfrm>
            <a:off x="4648200" y="2915890"/>
            <a:ext cx="2982468"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6FBFAE"/>
                </a:solidFill>
                <a:latin typeface="Verdana" pitchFamily="34" charset="0"/>
                <a:ea typeface="Verdana" pitchFamily="34" charset="-122"/>
                <a:cs typeface="Verdana" pitchFamily="34" charset="-120"/>
              </a:rPr>
              <a:t>45 of 96</a:t>
            </a:r>
            <a:endParaRPr lang="en-US" sz="4400" dirty="0"/>
          </a:p>
        </p:txBody>
      </p:sp>
      <p:sp>
        <p:nvSpPr>
          <p:cNvPr id="9" name="Text 7"/>
          <p:cNvSpPr/>
          <p:nvPr/>
        </p:nvSpPr>
        <p:spPr>
          <a:xfrm>
            <a:off x="4648200" y="3566120"/>
            <a:ext cx="2982468"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C4CA"/>
                </a:solidFill>
                <a:latin typeface="Verdana" pitchFamily="34" charset="0"/>
                <a:ea typeface="Verdana" pitchFamily="34" charset="-122"/>
                <a:cs typeface="Verdana" pitchFamily="34" charset="-120"/>
              </a:rPr>
              <a:t>affected workspaces showed no advisories at all the conventional way</a:t>
            </a:r>
            <a:endParaRPr lang="en-US" sz="1500" dirty="0"/>
          </a:p>
        </p:txBody>
      </p:sp>
      <p:sp>
        <p:nvSpPr>
          <p:cNvPr id="10" name="Shape 8"/>
          <p:cNvSpPr/>
          <p:nvPr/>
        </p:nvSpPr>
        <p:spPr>
          <a:xfrm>
            <a:off x="7975600" y="2661890"/>
            <a:ext cx="3403600" cy="1929755"/>
          </a:xfrm>
          <a:prstGeom prst="roundRect">
            <a:avLst>
              <a:gd name="adj" fmla="val 5265"/>
            </a:avLst>
          </a:prstGeom>
          <a:solidFill>
            <a:srgbClr val="18313E"/>
          </a:solidFill>
          <a:ln/>
        </p:spPr>
      </p:sp>
      <p:sp>
        <p:nvSpPr>
          <p:cNvPr id="11" name="Text 9"/>
          <p:cNvSpPr/>
          <p:nvPr/>
        </p:nvSpPr>
        <p:spPr>
          <a:xfrm>
            <a:off x="8229600" y="2915890"/>
            <a:ext cx="2982468"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6FBFAE"/>
                </a:solidFill>
                <a:latin typeface="Verdana" pitchFamily="34" charset="0"/>
                <a:ea typeface="Verdana" pitchFamily="34" charset="-122"/>
                <a:cs typeface="Verdana" pitchFamily="34" charset="-120"/>
              </a:rPr>
              <a:t>0</a:t>
            </a:r>
            <a:endParaRPr lang="en-US" sz="4400" dirty="0"/>
          </a:p>
        </p:txBody>
      </p:sp>
      <p:sp>
        <p:nvSpPr>
          <p:cNvPr id="12" name="Text 10"/>
          <p:cNvSpPr/>
          <p:nvPr/>
        </p:nvSpPr>
        <p:spPr>
          <a:xfrm>
            <a:off x="8229600" y="3566120"/>
            <a:ext cx="298246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C4CA"/>
                </a:solidFill>
                <a:latin typeface="Verdana" pitchFamily="34" charset="0"/>
                <a:ea typeface="Verdana" pitchFamily="34" charset="-122"/>
                <a:cs typeface="Verdana" pitchFamily="34" charset="-120"/>
              </a:rPr>
              <a:t>advisories lost by adding the PyPI identity</a:t>
            </a:r>
            <a:endParaRPr lang="en-US" sz="1500" dirty="0"/>
          </a:p>
        </p:txBody>
      </p:sp>
      <p:sp>
        <p:nvSpPr>
          <p:cNvPr id="13" name="Text 11"/>
          <p:cNvSpPr/>
          <p:nvPr/>
        </p:nvSpPr>
        <p:spPr>
          <a:xfrm>
            <a:off x="812800" y="6238280"/>
            <a:ext cx="74399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C93"/>
                </a:solidFill>
                <a:latin typeface="Verdana" pitchFamily="34" charset="0"/>
                <a:ea typeface="Verdana" pitchFamily="34" charset="-122"/>
                <a:cs typeface="Verdana" pitchFamily="34" charset="-120"/>
              </a:rPr>
              <a:t>Source: pixi-sbom repository, docs/papers · measured 30 Sep 2026 against OSV</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1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8F6"/>
                </a:solidFill>
                <a:latin typeface="Verdana" pitchFamily="34" charset="0"/>
                <a:ea typeface="Verdana" pitchFamily="34" charset="-122"/>
                <a:cs typeface="Verdana" pitchFamily="34" charset="-120"/>
              </a:rPr>
              <a:t>The fix: give every package both of its names</a:t>
            </a:r>
            <a:endParaRPr lang="en-US" sz="3600" dirty="0"/>
          </a:p>
        </p:txBody>
      </p:sp>
      <p:sp>
        <p:nvSpPr>
          <p:cNvPr id="3" name="Text 1"/>
          <p:cNvSpPr/>
          <p:nvPr/>
        </p:nvSpPr>
        <p:spPr>
          <a:xfrm>
            <a:off x="812800" y="2123380"/>
            <a:ext cx="1059561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5C4CA"/>
                </a:solidFill>
                <a:latin typeface="Verdana" pitchFamily="34" charset="0"/>
                <a:ea typeface="Verdana" pitchFamily="34" charset="-122"/>
                <a:cs typeface="Verdana" pitchFamily="34" charset="-120"/>
              </a:rPr>
              <a:t>pixi-sbom reads the lockfile and writes CycloneDX or SPDX. A conda package that is a Python project keeps its conda identity and also gets its PyPI one.</a:t>
            </a:r>
            <a:endParaRPr lang="en-US" sz="2000" dirty="0"/>
          </a:p>
        </p:txBody>
      </p:sp>
      <p:sp>
        <p:nvSpPr>
          <p:cNvPr id="4" name="Shape 2"/>
          <p:cNvSpPr/>
          <p:nvPr/>
        </p:nvSpPr>
        <p:spPr>
          <a:xfrm>
            <a:off x="812800" y="3113980"/>
            <a:ext cx="10566400" cy="1630660"/>
          </a:xfrm>
          <a:prstGeom prst="roundRect">
            <a:avLst>
              <a:gd name="adj" fmla="val 6231"/>
            </a:avLst>
          </a:prstGeom>
          <a:solidFill>
            <a:srgbClr val="18313E"/>
          </a:solidFill>
          <a:ln/>
        </p:spPr>
      </p:sp>
      <p:sp>
        <p:nvSpPr>
          <p:cNvPr id="5" name="Text 3"/>
          <p:cNvSpPr/>
          <p:nvPr/>
        </p:nvSpPr>
        <p:spPr>
          <a:xfrm>
            <a:off x="1092200" y="3393380"/>
            <a:ext cx="1030782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8F6"/>
                </a:solidFill>
                <a:latin typeface="Courier New" pitchFamily="49" charset="0"/>
                <a:ea typeface="Courier New" pitchFamily="49" charset="-122"/>
                <a:cs typeface="Courier New" pitchFamily="49" charset="-120"/>
              </a:rPr>
              <a:t>numpy 2.3.4, from conda-forge</a:t>
            </a:r>
            <a:endParaRPr lang="en-US" sz="1600" dirty="0"/>
          </a:p>
        </p:txBody>
      </p:sp>
      <p:sp>
        <p:nvSpPr>
          <p:cNvPr id="6" name="Text 4"/>
          <p:cNvSpPr/>
          <p:nvPr/>
        </p:nvSpPr>
        <p:spPr>
          <a:xfrm>
            <a:off x="1092200" y="3804841"/>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5C4CA"/>
                </a:solidFill>
                <a:latin typeface="Courier New" pitchFamily="49" charset="0"/>
                <a:ea typeface="Courier New" pitchFamily="49" charset="-122"/>
                <a:cs typeface="Courier New" pitchFamily="49" charset="-120"/>
              </a:rPr>
              <a:t>pkg:conda/numpy@2.3.4?build=py312h33ff503_0&amp;channel=conda-forge</a:t>
            </a:r>
            <a:endParaRPr lang="en-US" sz="1500" dirty="0"/>
          </a:p>
        </p:txBody>
      </p:sp>
      <p:sp>
        <p:nvSpPr>
          <p:cNvPr id="7" name="Text 5"/>
          <p:cNvSpPr/>
          <p:nvPr/>
        </p:nvSpPr>
        <p:spPr>
          <a:xfrm>
            <a:off x="1092200" y="4198541"/>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FBFAE"/>
                </a:solidFill>
                <a:latin typeface="Courier New" pitchFamily="49" charset="0"/>
                <a:ea typeface="Courier New" pitchFamily="49" charset="-122"/>
                <a:cs typeface="Courier New" pitchFamily="49" charset="-120"/>
              </a:rPr>
              <a:t>pkg:pypi/numpy@2.3.4</a:t>
            </a:r>
            <a:endParaRPr lang="en-US" sz="1500" dirty="0"/>
          </a:p>
        </p:txBody>
      </p:sp>
      <p:sp>
        <p:nvSpPr>
          <p:cNvPr id="8" name="Text 6"/>
          <p:cNvSpPr/>
          <p:nvPr/>
        </p:nvSpPr>
        <p:spPr>
          <a:xfrm>
            <a:off x="812800" y="5049441"/>
            <a:ext cx="105956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C4CA"/>
                </a:solidFill>
                <a:latin typeface="Verdana" pitchFamily="34" charset="0"/>
                <a:ea typeface="Verdana" pitchFamily="34" charset="-122"/>
                <a:cs typeface="Verdana" pitchFamily="34" charset="-120"/>
              </a:rPr>
              <a:t>The PyPI name comes from the mapping conda-forge publishes, matched by the package's hash. A scanner can match either 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6C"/>
                </a:solidFill>
                <a:latin typeface="Courier New" pitchFamily="49" charset="0"/>
                <a:ea typeface="Courier New" pitchFamily="49" charset="-122"/>
                <a:cs typeface="Courier New" pitchFamily="49" charset="-120"/>
              </a:rPr>
              <a:t>DEMO 1 OF 3 · READ</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One command, one document</a:t>
            </a:r>
            <a:endParaRPr lang="en-US" sz="3600" dirty="0"/>
          </a:p>
        </p:txBody>
      </p:sp>
      <p:sp>
        <p:nvSpPr>
          <p:cNvPr id="4" name="Shape 2"/>
          <p:cNvSpPr/>
          <p:nvPr/>
        </p:nvSpPr>
        <p:spPr>
          <a:xfrm>
            <a:off x="812800" y="2037011"/>
            <a:ext cx="10566400" cy="1930251"/>
          </a:xfrm>
          <a:prstGeom prst="roundRect">
            <a:avLst>
              <a:gd name="adj" fmla="val 5264"/>
            </a:avLst>
          </a:prstGeom>
          <a:solidFill>
            <a:srgbClr val="10212B"/>
          </a:solidFill>
          <a:ln/>
        </p:spPr>
      </p:sp>
      <p:sp>
        <p:nvSpPr>
          <p:cNvPr id="5" name="Text 3"/>
          <p:cNvSpPr/>
          <p:nvPr/>
        </p:nvSpPr>
        <p:spPr>
          <a:xfrm>
            <a:off x="1066800" y="2291011"/>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FBFAE"/>
                </a:solidFill>
                <a:latin typeface="Courier New" pitchFamily="49" charset="0"/>
                <a:ea typeface="Courier New" pitchFamily="49" charset="-122"/>
                <a:cs typeface="Courier New" pitchFamily="49" charset="-120"/>
              </a:rPr>
              <a:t>$ pixi sbom --lockfile examples/projects/pixi/01-django/pixi.lock -p linux-64 --report packages</a:t>
            </a:r>
            <a:endParaRPr lang="en-US" sz="1400" dirty="0"/>
          </a:p>
        </p:txBody>
      </p:sp>
      <p:sp>
        <p:nvSpPr>
          <p:cNvPr id="6" name="Text 4"/>
          <p:cNvSpPr/>
          <p:nvPr/>
        </p:nvSpPr>
        <p:spPr>
          <a:xfrm>
            <a:off x="1066800" y="2877691"/>
            <a:ext cx="103601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8F6"/>
                </a:solidFill>
                <a:latin typeface="Courier New" pitchFamily="49" charset="0"/>
                <a:ea typeface="Courier New" pitchFamily="49" charset="-122"/>
                <a:cs typeface="Courier New" pitchFamily="49" charset="-120"/>
              </a:rPr>
              <a:t>Summary: 66 packages, 9 declared by the workspace</a:t>
            </a:r>
            <a:endParaRPr lang="en-US" sz="1400" dirty="0"/>
          </a:p>
        </p:txBody>
      </p:sp>
      <p:sp>
        <p:nvSpPr>
          <p:cNvPr id="7" name="Text 5"/>
          <p:cNvSpPr/>
          <p:nvPr/>
        </p:nvSpPr>
        <p:spPr>
          <a:xfrm>
            <a:off x="1066800" y="3215481"/>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FBFAE"/>
                </a:solidFill>
                <a:latin typeface="Courier New" pitchFamily="49" charset="0"/>
                <a:ea typeface="Courier New" pitchFamily="49" charset="-122"/>
                <a:cs typeface="Courier New" pitchFamily="49" charset="-120"/>
              </a:rPr>
              <a:t>$ pixi sbom --lockfile examples/projects/pixi/01-django/pixi.lock -p linux-64 --output sbom.cdx.json</a:t>
            </a:r>
            <a:endParaRPr lang="en-US" sz="1400" dirty="0"/>
          </a:p>
        </p:txBody>
      </p:sp>
      <p:sp>
        <p:nvSpPr>
          <p:cNvPr id="8" name="Text 6"/>
          <p:cNvSpPr/>
          <p:nvPr/>
        </p:nvSpPr>
        <p:spPr>
          <a:xfrm>
            <a:off x="812800" y="4221262"/>
            <a:ext cx="105956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Verdana" pitchFamily="34" charset="0"/>
                <a:ea typeface="Verdana" pitchFamily="34" charset="-122"/>
                <a:cs typeface="Verdana" pitchFamily="34" charset="-120"/>
              </a:rPr>
              <a:t>A pixi workspace with Django on an old LTS: conda packages, PyPI packages, an editable local package. The interpreter and its system libraries are in the inventory too.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6C"/>
                </a:solidFill>
                <a:latin typeface="Courier New" pitchFamily="49" charset="0"/>
                <a:ea typeface="Courier New" pitchFamily="49" charset="-122"/>
                <a:cs typeface="Courier New" pitchFamily="49" charset="-120"/>
              </a:rPr>
              <a:t>DEMO 2 OF 3 · FIND AND GATE</a:t>
            </a:r>
            <a:endParaRPr lang="en-US" sz="1200" dirty="0"/>
          </a:p>
        </p:txBody>
      </p:sp>
      <p:sp>
        <p:nvSpPr>
          <p:cNvPr id="3" name="Text 1"/>
          <p:cNvSpPr/>
          <p:nvPr>
            <p:ph type="title"/>
          </p:nvPr>
        </p:nvSpPr>
        <p:spPr>
          <a:xfrm>
            <a:off x="812800" y="12801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Find what is known, rank it, fail the build</a:t>
            </a:r>
            <a:endParaRPr lang="en-US" sz="3600" dirty="0"/>
          </a:p>
        </p:txBody>
      </p:sp>
      <p:sp>
        <p:nvSpPr>
          <p:cNvPr id="4" name="Shape 2"/>
          <p:cNvSpPr/>
          <p:nvPr/>
        </p:nvSpPr>
        <p:spPr>
          <a:xfrm>
            <a:off x="812800" y="2539901"/>
            <a:ext cx="10566400" cy="2268041"/>
          </a:xfrm>
          <a:prstGeom prst="roundRect">
            <a:avLst>
              <a:gd name="adj" fmla="val 4480"/>
            </a:avLst>
          </a:prstGeom>
          <a:solidFill>
            <a:srgbClr val="10212B"/>
          </a:solidFill>
          <a:ln/>
        </p:spPr>
      </p:sp>
      <p:sp>
        <p:nvSpPr>
          <p:cNvPr id="5" name="Text 3"/>
          <p:cNvSpPr/>
          <p:nvPr/>
        </p:nvSpPr>
        <p:spPr>
          <a:xfrm>
            <a:off x="1066800" y="2793901"/>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FBFAE"/>
                </a:solidFill>
                <a:latin typeface="Courier New" pitchFamily="49" charset="0"/>
                <a:ea typeface="Courier New" pitchFamily="49" charset="-122"/>
                <a:cs typeface="Courier New" pitchFamily="49" charset="-120"/>
              </a:rPr>
              <a:t>$ pixi sbom --lockfile examples/projects/uv/02-flask/uv.lock -p linux-64 --vulnerabilities osv --kev --epss --report vulnerabilities</a:t>
            </a:r>
            <a:endParaRPr lang="en-US" sz="1400" dirty="0"/>
          </a:p>
        </p:txBody>
      </p:sp>
      <p:sp>
        <p:nvSpPr>
          <p:cNvPr id="6" name="Text 4"/>
          <p:cNvSpPr/>
          <p:nvPr/>
        </p:nvSpPr>
        <p:spPr>
          <a:xfrm>
            <a:off x="1066800" y="3380581"/>
            <a:ext cx="103601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8F6"/>
                </a:solidFill>
                <a:latin typeface="Courier New" pitchFamily="49" charset="0"/>
                <a:ea typeface="Courier New" pitchFamily="49" charset="-122"/>
                <a:cs typeface="Courier New" pitchFamily="49" charset="-120"/>
              </a:rPr>
              <a:t>Summary: 41 findings in 8 packages</a:t>
            </a:r>
            <a:endParaRPr lang="en-US" sz="1400" dirty="0"/>
          </a:p>
        </p:txBody>
      </p:sp>
      <p:sp>
        <p:nvSpPr>
          <p:cNvPr id="7" name="Text 5"/>
          <p:cNvSpPr/>
          <p:nvPr/>
        </p:nvSpPr>
        <p:spPr>
          <a:xfrm>
            <a:off x="1066800" y="3718371"/>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FBFAE"/>
                </a:solidFill>
                <a:latin typeface="Courier New" pitchFamily="49" charset="0"/>
                <a:ea typeface="Courier New" pitchFamily="49" charset="-122"/>
                <a:cs typeface="Courier New" pitchFamily="49" charset="-120"/>
              </a:rPr>
              <a:t>$ pixi sbom --lockfile examples/projects/uv/02-flask/uv.lock -p linux-64 --vulnerabilities osv --fail-on-severity high --output sbom.cdx.json</a:t>
            </a:r>
            <a:endParaRPr lang="en-US" sz="1400" dirty="0"/>
          </a:p>
        </p:txBody>
      </p:sp>
      <p:sp>
        <p:nvSpPr>
          <p:cNvPr id="8" name="Text 6"/>
          <p:cNvSpPr/>
          <p:nvPr/>
        </p:nvSpPr>
        <p:spPr>
          <a:xfrm>
            <a:off x="1066800" y="4305052"/>
            <a:ext cx="103601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8F6"/>
                </a:solidFill>
                <a:latin typeface="Courier New" pitchFamily="49" charset="0"/>
                <a:ea typeface="Courier New" pitchFamily="49" charset="-122"/>
                <a:cs typeface="Courier New" pitchFamily="49" charset="-120"/>
              </a:rPr>
              <a:t>Gate failed: vulnerabilities (17). Exiting 4.</a:t>
            </a:r>
            <a:endParaRPr lang="en-US" sz="1400" dirty="0"/>
          </a:p>
        </p:txBody>
      </p:sp>
      <p:sp>
        <p:nvSpPr>
          <p:cNvPr id="9" name="Text 7"/>
          <p:cNvSpPr/>
          <p:nvPr/>
        </p:nvSpPr>
        <p:spPr>
          <a:xfrm>
            <a:off x="812800" y="5061942"/>
            <a:ext cx="105956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Verdana" pitchFamily="34" charset="0"/>
                <a:ea typeface="Verdana" pitchFamily="34" charset="-122"/>
                <a:cs typeface="Verdana" pitchFamily="34" charset="-120"/>
              </a:rPr>
              <a:t>CISA's KEV marks what is exploited now; FIRST's EPSS scores how likely the rest is. Each gate has its own exit code, and the document is written either way.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27161"/>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F7A6C"/>
                </a:solidFill>
                <a:latin typeface="Courier New" pitchFamily="49" charset="0"/>
                <a:ea typeface="Courier New" pitchFamily="49" charset="-122"/>
                <a:cs typeface="Courier New" pitchFamily="49" charset="-120"/>
              </a:rPr>
              <a:t>DEMO 3 OF 3 · SOMEONE ELSE'S SBOM</a:t>
            </a:r>
            <a:endParaRPr lang="en-US" sz="1159" dirty="0"/>
          </a:p>
        </p:txBody>
      </p:sp>
      <p:sp>
        <p:nvSpPr>
          <p:cNvPr id="3" name="Text 1"/>
          <p:cNvSpPr/>
          <p:nvPr>
            <p:ph type="title"/>
          </p:nvPr>
        </p:nvSpPr>
        <p:spPr>
          <a:xfrm>
            <a:off x="812800" y="1268561"/>
            <a:ext cx="10883392" cy="976709"/>
          </a:xfrm>
          <a:prstGeom prst="rect">
            <a:avLst/>
          </a:prstGeom>
          <a:noFill/>
          <a:ln/>
        </p:spPr>
        <p:txBody>
          <a:bodyPr wrap="square" lIns="0" tIns="0" rIns="0" bIns="0" rtlCol="0" anchor="t">
            <a:normAutofit/>
          </a:bodyPr>
          <a:lstStyle/>
          <a:p>
            <a:pPr algn="l" indent="0" marL="0">
              <a:lnSpc>
                <a:spcPts val="3762"/>
              </a:lnSpc>
              <a:buNone/>
            </a:pPr>
            <a:r>
              <a:rPr lang="en-US" sz="3420" b="1" i="0" dirty="0">
                <a:solidFill>
                  <a:srgbClr val="10212B"/>
                </a:solidFill>
                <a:latin typeface="Verdana" pitchFamily="34" charset="0"/>
                <a:ea typeface="Verdana" pitchFamily="34" charset="-122"/>
                <a:cs typeface="Verdana" pitchFamily="34" charset="-120"/>
              </a:rPr>
              <a:t>Check a supplier's SBOM before you accept it</a:t>
            </a:r>
            <a:endParaRPr lang="en-US" sz="3420" dirty="0"/>
          </a:p>
        </p:txBody>
      </p:sp>
      <p:sp>
        <p:nvSpPr>
          <p:cNvPr id="4" name="Shape 2"/>
          <p:cNvSpPr/>
          <p:nvPr/>
        </p:nvSpPr>
        <p:spPr>
          <a:xfrm>
            <a:off x="812800" y="2473871"/>
            <a:ext cx="10566400" cy="2576016"/>
          </a:xfrm>
          <a:prstGeom prst="roundRect">
            <a:avLst>
              <a:gd name="adj" fmla="val 3944"/>
            </a:avLst>
          </a:prstGeom>
          <a:solidFill>
            <a:srgbClr val="10212B"/>
          </a:solidFill>
          <a:ln/>
        </p:spPr>
      </p:sp>
      <p:sp>
        <p:nvSpPr>
          <p:cNvPr id="5" name="Text 3"/>
          <p:cNvSpPr/>
          <p:nvPr/>
        </p:nvSpPr>
        <p:spPr>
          <a:xfrm>
            <a:off x="1066800" y="2727871"/>
            <a:ext cx="10360152" cy="257324"/>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6FBFAE"/>
                </a:solidFill>
                <a:latin typeface="Courier New" pitchFamily="49" charset="0"/>
                <a:ea typeface="Courier New" pitchFamily="49" charset="-122"/>
                <a:cs typeface="Courier New" pitchFamily="49" charset="-120"/>
              </a:rPr>
              <a:t>$ pixi sbom --from-sbom vendor.cdx.json --report quality</a:t>
            </a:r>
            <a:endParaRPr lang="en-US" sz="1339" dirty="0"/>
          </a:p>
        </p:txBody>
      </p:sp>
      <p:sp>
        <p:nvSpPr>
          <p:cNvPr id="6" name="Text 4"/>
          <p:cNvSpPr/>
          <p:nvPr/>
        </p:nvSpPr>
        <p:spPr>
          <a:xfrm>
            <a:off x="1066800" y="3048695"/>
            <a:ext cx="10360152" cy="257324"/>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F7F8F6"/>
                </a:solidFill>
                <a:latin typeface="Courier New" pitchFamily="49" charset="0"/>
                <a:ea typeface="Courier New" pitchFamily="49" charset="-122"/>
                <a:cs typeface="Courier New" pitchFamily="49" charset="-120"/>
              </a:rPr>
              <a:t>Quality: 77 of 100 for 24 packages</a:t>
            </a:r>
            <a:endParaRPr lang="en-US" sz="1339" dirty="0"/>
          </a:p>
        </p:txBody>
      </p:sp>
      <p:sp>
        <p:nvSpPr>
          <p:cNvPr id="7" name="Text 5"/>
          <p:cNvSpPr/>
          <p:nvPr/>
        </p:nvSpPr>
        <p:spPr>
          <a:xfrm>
            <a:off x="1066800" y="3369518"/>
            <a:ext cx="10360152" cy="257324"/>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6FBFAE"/>
                </a:solidFill>
                <a:latin typeface="Courier New" pitchFamily="49" charset="0"/>
                <a:ea typeface="Courier New" pitchFamily="49" charset="-122"/>
                <a:cs typeface="Courier New" pitchFamily="49" charset="-120"/>
              </a:rPr>
              <a:t>$ pixi sbom --from-sbom vendor.cdx.json --min-quality 80 --output -</a:t>
            </a:r>
            <a:endParaRPr lang="en-US" sz="1339" dirty="0"/>
          </a:p>
        </p:txBody>
      </p:sp>
      <p:sp>
        <p:nvSpPr>
          <p:cNvPr id="8" name="Text 6"/>
          <p:cNvSpPr/>
          <p:nvPr/>
        </p:nvSpPr>
        <p:spPr>
          <a:xfrm>
            <a:off x="1066800" y="3690342"/>
            <a:ext cx="10360152" cy="257324"/>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F7F8F6"/>
                </a:solidFill>
                <a:latin typeface="Courier New" pitchFamily="49" charset="0"/>
                <a:ea typeface="Courier New" pitchFamily="49" charset="-122"/>
                <a:cs typeface="Courier New" pitchFamily="49" charset="-120"/>
              </a:rPr>
              <a:t>Gate failed: quality (1). Exiting 10.</a:t>
            </a:r>
            <a:endParaRPr lang="en-US" sz="1339" dirty="0"/>
          </a:p>
        </p:txBody>
      </p:sp>
      <p:sp>
        <p:nvSpPr>
          <p:cNvPr id="9" name="Text 7"/>
          <p:cNvSpPr/>
          <p:nvPr/>
        </p:nvSpPr>
        <p:spPr>
          <a:xfrm>
            <a:off x="1066800" y="4011166"/>
            <a:ext cx="10360152" cy="489297"/>
          </a:xfrm>
          <a:prstGeom prst="rect">
            <a:avLst/>
          </a:prstGeom>
          <a:noFill/>
          <a:ln/>
        </p:spPr>
        <p:txBody>
          <a:bodyPr wrap="square" lIns="0" tIns="0" rIns="0" bIns="0" rtlCol="0" anchor="t">
            <a:normAutofit/>
          </a:bodyPr>
          <a:lstStyle/>
          <a:p>
            <a:pPr algn="l" indent="0" marL="0">
              <a:lnSpc>
                <a:spcPts val="1831"/>
              </a:lnSpc>
              <a:buNone/>
            </a:pPr>
            <a:r>
              <a:rPr lang="en-US" sz="1308" dirty="0">
                <a:solidFill>
                  <a:srgbClr val="6FBFAE"/>
                </a:solidFill>
                <a:latin typeface="Courier New" pitchFamily="49" charset="0"/>
                <a:ea typeface="Courier New" pitchFamily="49" charset="-122"/>
                <a:cs typeface="Courier New" pitchFamily="49" charset="-120"/>
              </a:rPr>
              <a:t>$ pixi sbom --lockfile examples/projects/uv/02-flask/uv.lock -p linux-64 --vulnerabilities osv --vex-in examples/lab/vendor.openvex.json --report vulnerabilities</a:t>
            </a:r>
            <a:endParaRPr lang="en-US" sz="1308" dirty="0"/>
          </a:p>
        </p:txBody>
      </p:sp>
      <p:sp>
        <p:nvSpPr>
          <p:cNvPr id="10" name="Text 8"/>
          <p:cNvSpPr/>
          <p:nvPr/>
        </p:nvSpPr>
        <p:spPr>
          <a:xfrm>
            <a:off x="1066800" y="4563963"/>
            <a:ext cx="10360152" cy="257324"/>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F7F8F6"/>
                </a:solidFill>
                <a:latin typeface="Courier New" pitchFamily="49" charset="0"/>
                <a:ea typeface="Courier New" pitchFamily="49" charset="-122"/>
                <a:cs typeface="Courier New" pitchFamily="49" charset="-120"/>
              </a:rPr>
              <a:t>Summary: 40 open findings in 8 packages, 1 ignored</a:t>
            </a:r>
            <a:endParaRPr lang="en-US" sz="1339" dirty="0"/>
          </a:p>
        </p:txBody>
      </p:sp>
      <p:sp>
        <p:nvSpPr>
          <p:cNvPr id="11" name="Text 9"/>
          <p:cNvSpPr/>
          <p:nvPr/>
        </p:nvSpPr>
        <p:spPr>
          <a:xfrm>
            <a:off x="812800" y="5303887"/>
            <a:ext cx="10595610" cy="563513"/>
          </a:xfrm>
          <a:prstGeom prst="rect">
            <a:avLst/>
          </a:prstGeom>
          <a:noFill/>
          <a:ln/>
        </p:spPr>
        <p:txBody>
          <a:bodyPr wrap="square" lIns="0" tIns="0" rIns="0" bIns="0" rtlCol="0" anchor="t">
            <a:normAutofit/>
          </a:bodyPr>
          <a:lstStyle/>
          <a:p>
            <a:pPr algn="l" indent="0" marL="0">
              <a:lnSpc>
                <a:spcPts val="2135"/>
              </a:lnSpc>
              <a:buNone/>
            </a:pPr>
            <a:r>
              <a:rPr lang="en-US" sz="1525" dirty="0">
                <a:solidFill>
                  <a:srgbClr val="4A5568"/>
                </a:solidFill>
                <a:latin typeface="Verdana" pitchFamily="34" charset="0"/>
                <a:ea typeface="Verdana" pitchFamily="34" charset="-122"/>
                <a:cs typeface="Verdana" pitchFamily="34" charset="-120"/>
              </a:rPr>
              <a:t>Score what you were sent, gate on it, and take a supplier's "not affected" statements as VEX, with their reasons kept in the record.</a:t>
            </a:r>
            <a:endParaRPr lang="en-US" sz="15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1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8F6"/>
                </a:solidFill>
                <a:latin typeface="Verdana" pitchFamily="34" charset="0"/>
                <a:ea typeface="Verdana" pitchFamily="34" charset="-122"/>
                <a:cs typeface="Verdana" pitchFamily="34" charset="-120"/>
              </a:rPr>
              <a:t>Not only pixi: any locked Python project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3154561"/>
        </p:xfrm>
        <a:graphic>
          <a:graphicData uri="http://schemas.openxmlformats.org/drawingml/2006/table">
            <a:tbl>
              <a:tblPr/>
              <a:tblGrid>
                <a:gridCol w="5276850"/>
                <a:gridCol w="5276850"/>
              </a:tblGrid>
              <a:tr h="525760">
                <a:tc>
                  <a:txBody>
                    <a:bodyPr/>
                    <a:lstStyle/>
                    <a:p>
                      <a:pPr indent="0" marL="0">
                        <a:lnSpc>
                          <a:spcPts val="2240"/>
                        </a:lnSpc>
                        <a:buNone/>
                      </a:pPr>
                      <a:r>
                        <a:rPr lang="en-US" sz="1600" b="1" dirty="0">
                          <a:solidFill>
                            <a:srgbClr val="6FBFAE"/>
                          </a:solidFill>
                          <a:latin typeface="Verdana" pitchFamily="34" charset="0"/>
                          <a:ea typeface="Verdana" pitchFamily="34" charset="-122"/>
                          <a:cs typeface="Verdana" pitchFamily="34" charset="-120"/>
                        </a:rPr>
                        <a:t>Your project has</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525E64"/>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525E64"/>
                      </a:solidFill>
                      <a:prstDash val="solid"/>
                      <a:round/>
                      <a:headEnd type="none" w="med" len="med"/>
                      <a:tailEnd type="none" w="med" len="med"/>
                    </a:lnB>
                    <a:solidFill>
                      <a:srgbClr val="23323B"/>
                    </a:solidFill>
                  </a:tcPr>
                </a:tc>
                <a:tc>
                  <a:txBody>
                    <a:bodyPr/>
                    <a:lstStyle/>
                    <a:p>
                      <a:pPr indent="0" marL="0">
                        <a:lnSpc>
                          <a:spcPts val="2240"/>
                        </a:lnSpc>
                        <a:buNone/>
                      </a:pPr>
                      <a:r>
                        <a:rPr lang="en-US" sz="1600" b="1" dirty="0">
                          <a:solidFill>
                            <a:srgbClr val="6FBFAE"/>
                          </a:solidFill>
                          <a:latin typeface="Verdana" pitchFamily="34" charset="0"/>
                          <a:ea typeface="Verdana" pitchFamily="34" charset="-122"/>
                          <a:cs typeface="Verdana" pitchFamily="34" charset="-120"/>
                        </a:rPr>
                        <a:t>Point it at</a:t>
                      </a:r>
                      <a:endParaRPr lang="en-US" sz="1600" dirty="0">
                        <a:latin typeface="Verdana" charset="0"/>
                        <a:ea typeface="Verdana" charset="0"/>
                        <a:cs typeface="Verdana" charset="0"/>
                      </a:endParaRPr>
                    </a:p>
                  </a:txBody>
                  <a:tcPr marL="152400" marR="152400" marT="114300" marB="114300" anchor="t">
                    <a:lnL w="12700" cap="flat" cmpd="sng" algn="ctr">
                      <a:solidFill>
                        <a:srgbClr val="525E64"/>
                      </a:solidFill>
                      <a:prstDash val="solid"/>
                      <a:round/>
                      <a:headEnd type="none" w="med" len="med"/>
                      <a:tailEnd type="none" w="med" len="med"/>
                    </a:lnL>
                    <a:lnR w="12700" cap="flat" cmpd="sng" algn="ctr">
                      <a:solidFill>
                        <a:srgbClr val="525E64"/>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525E64"/>
                      </a:solidFill>
                      <a:prstDash val="solid"/>
                      <a:round/>
                      <a:headEnd type="none" w="med" len="med"/>
                      <a:tailEnd type="none" w="med" len="med"/>
                    </a:lnB>
                    <a:solidFill>
                      <a:srgbClr val="23323B"/>
                    </a:solidFill>
                  </a:tcPr>
                </a:tc>
              </a:tr>
              <a:tr h="525760">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pixi or conda-lock</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525E64"/>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pixi.lock, conda-lock.yml</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525E64"/>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r>
              <a:tr h="525760">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uv</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uv.lock</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r>
              <a:tr h="525760">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Poetry, PDM or PEP 751</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poetry.lock, pdm.lock, pylock.toml</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r>
              <a:tr h="525760">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pip, pinned</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requirements.txt</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r>
              <a:tr h="525760">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Someone else's SBOM</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c>
                  <a:txBody>
                    <a:bodyPr/>
                    <a:lstStyle/>
                    <a:p>
                      <a:pPr indent="0" marL="0">
                        <a:lnSpc>
                          <a:spcPts val="2240"/>
                        </a:lnSpc>
                        <a:buNone/>
                      </a:pPr>
                      <a:r>
                        <a:rPr lang="en-US" sz="1600" dirty="0">
                          <a:solidFill>
                            <a:srgbClr val="F7F8F6"/>
                          </a:solidFill>
                          <a:latin typeface="Verdana" pitchFamily="34" charset="0"/>
                          <a:ea typeface="Verdana" pitchFamily="34" charset="-122"/>
                          <a:cs typeface="Verdana" pitchFamily="34" charset="-120"/>
                        </a:rPr>
                        <a:t>--from-sbom file.cdx.json</a:t>
                      </a:r>
                      <a:endParaRPr lang="en-US" sz="1600" dirty="0">
                        <a:latin typeface="Verdana" charset="0"/>
                        <a:ea typeface="Verdana" charset="0"/>
                        <a:cs typeface="Verdana" charset="0"/>
                      </a:endParaRPr>
                    </a:p>
                  </a:txBody>
                  <a:tcPr marL="152400" marR="152400" marT="114300" marB="114300" anchor="t">
                    <a:lnL w="12700" cap="flat" cmpd="sng" algn="ctr">
                      <a:solidFill>
                        <a:srgbClr val="435157"/>
                      </a:solidFill>
                      <a:prstDash val="solid"/>
                      <a:round/>
                      <a:headEnd type="none" w="med" len="med"/>
                      <a:tailEnd type="none" w="med" len="med"/>
                    </a:lnL>
                    <a:lnR w="12700" cap="flat" cmpd="sng" algn="ctr">
                      <a:solidFill>
                        <a:srgbClr val="435157"/>
                      </a:solidFill>
                      <a:prstDash val="solid"/>
                      <a:round/>
                      <a:headEnd type="none" w="med" len="med"/>
                      <a:tailEnd type="none" w="med" len="med"/>
                    </a:lnR>
                    <a:lnT w="12700" cap="flat" cmpd="sng" algn="ctr">
                      <a:solidFill>
                        <a:srgbClr val="435157"/>
                      </a:solidFill>
                      <a:prstDash val="solid"/>
                      <a:round/>
                      <a:headEnd type="none" w="med" len="med"/>
                      <a:tailEnd type="none" w="med" len="med"/>
                    </a:lnT>
                    <a:lnB w="12700" cap="flat" cmpd="sng" algn="ctr">
                      <a:solidFill>
                        <a:srgbClr val="435157"/>
                      </a:solidFill>
                      <a:prstDash val="solid"/>
                      <a:round/>
                      <a:headEnd type="none" w="med" len="med"/>
                      <a:tailEnd type="none" w="med" len="med"/>
                    </a:lnB>
                  </a:tcPr>
                </a:tc>
              </a:tr>
            </a:tbl>
          </a:graphicData>
        </a:graphic>
      </p:graphicFrame>
      <p:sp>
        <p:nvSpPr>
          <p:cNvPr id="4" name="Text 1"/>
          <p:cNvSpPr/>
          <p:nvPr/>
        </p:nvSpPr>
        <p:spPr>
          <a:xfrm>
            <a:off x="812800" y="5092551"/>
            <a:ext cx="105956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C4CA"/>
                </a:solidFill>
                <a:latin typeface="Verdana" pitchFamily="34" charset="0"/>
                <a:ea typeface="Verdana" pitchFamily="34" charset="-122"/>
                <a:cs typeface="Verdana" pitchFamily="34" charset="-120"/>
              </a:rPr>
              <a:t>Without pixi too: pip install pixi-sbom, uvx pixi-sbom, or a signed binary from the release.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892274"/>
          </a:xfrm>
          <a:prstGeom prst="rect">
            <a:avLst/>
          </a:prstGeom>
          <a:noFill/>
          <a:ln/>
        </p:spPr>
        <p:txBody>
          <a:bodyPr wrap="square" lIns="0" tIns="0" rIns="0" bIns="0" rtlCol="0" anchor="t">
            <a:normAutofit/>
          </a:bodyPr>
          <a:lstStyle/>
          <a:p>
            <a:pPr algn="l" indent="0" marL="0">
              <a:lnSpc>
                <a:spcPts val="3527"/>
              </a:lnSpc>
              <a:buNone/>
            </a:pPr>
            <a:r>
              <a:rPr lang="en-US" sz="3206" b="1" i="0" dirty="0">
                <a:solidFill>
                  <a:srgbClr val="10212B"/>
                </a:solidFill>
                <a:latin typeface="Verdana" pitchFamily="34" charset="0"/>
                <a:ea typeface="Verdana" pitchFamily="34" charset="-122"/>
                <a:cs typeface="Verdana" pitchFamily="34" charset="-120"/>
              </a:rPr>
              <a:t>In CI: one step, a gate, an attached document</a:t>
            </a:r>
            <a:endParaRPr lang="en-US" sz="3206" dirty="0"/>
          </a:p>
        </p:txBody>
      </p:sp>
      <p:sp>
        <p:nvSpPr>
          <p:cNvPr id="3" name="Shape 1"/>
          <p:cNvSpPr/>
          <p:nvPr/>
        </p:nvSpPr>
        <p:spPr>
          <a:xfrm>
            <a:off x="812800" y="1959074"/>
            <a:ext cx="10566400" cy="1765548"/>
          </a:xfrm>
          <a:prstGeom prst="roundRect">
            <a:avLst>
              <a:gd name="adj" fmla="val 5755"/>
            </a:avLst>
          </a:prstGeom>
          <a:solidFill>
            <a:srgbClr val="10212B"/>
          </a:solidFill>
          <a:ln/>
        </p:spPr>
      </p:sp>
      <p:sp>
        <p:nvSpPr>
          <p:cNvPr id="4" name="Text 2"/>
          <p:cNvSpPr/>
          <p:nvPr/>
        </p:nvSpPr>
        <p:spPr>
          <a:xfrm>
            <a:off x="1066800" y="2162274"/>
            <a:ext cx="10360152" cy="22021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6FBFAE"/>
                </a:solidFill>
                <a:latin typeface="Courier New" pitchFamily="49" charset="0"/>
                <a:ea typeface="Courier New" pitchFamily="49" charset="-122"/>
                <a:cs typeface="Courier New" pitchFamily="49" charset="-120"/>
              </a:rPr>
              <a:t>- uses: millsks/pixi-sbom@v1</a:t>
            </a:r>
            <a:endParaRPr lang="en-US" sz="1121" dirty="0"/>
          </a:p>
        </p:txBody>
      </p:sp>
      <p:sp>
        <p:nvSpPr>
          <p:cNvPr id="5" name="Text 3"/>
          <p:cNvSpPr/>
          <p:nvPr/>
        </p:nvSpPr>
        <p:spPr>
          <a:xfrm>
            <a:off x="1066800" y="2395190"/>
            <a:ext cx="10360152" cy="22016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F7F8F6"/>
                </a:solidFill>
                <a:latin typeface="Courier New" pitchFamily="49" charset="0"/>
                <a:ea typeface="Courier New" pitchFamily="49" charset="-122"/>
                <a:cs typeface="Courier New" pitchFamily="49" charset="-120"/>
              </a:rPr>
              <a:t>with:</a:t>
            </a:r>
            <a:endParaRPr lang="en-US" sz="1121" dirty="0"/>
          </a:p>
        </p:txBody>
      </p:sp>
      <p:sp>
        <p:nvSpPr>
          <p:cNvPr id="6" name="Text 4"/>
          <p:cNvSpPr/>
          <p:nvPr/>
        </p:nvSpPr>
        <p:spPr>
          <a:xfrm>
            <a:off x="1066800" y="2628057"/>
            <a:ext cx="10360152" cy="22016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F7F8F6"/>
                </a:solidFill>
                <a:latin typeface="Courier New" pitchFamily="49" charset="0"/>
                <a:ea typeface="Courier New" pitchFamily="49" charset="-122"/>
                <a:cs typeface="Courier New" pitchFamily="49" charset="-120"/>
              </a:rPr>
              <a:t>vulnerabilities: osv</a:t>
            </a:r>
            <a:endParaRPr lang="en-US" sz="1121" dirty="0"/>
          </a:p>
        </p:txBody>
      </p:sp>
      <p:sp>
        <p:nvSpPr>
          <p:cNvPr id="7" name="Text 5"/>
          <p:cNvSpPr/>
          <p:nvPr/>
        </p:nvSpPr>
        <p:spPr>
          <a:xfrm>
            <a:off x="1066800" y="2860923"/>
            <a:ext cx="10360152" cy="22016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F7F8F6"/>
                </a:solidFill>
                <a:latin typeface="Courier New" pitchFamily="49" charset="0"/>
                <a:ea typeface="Courier New" pitchFamily="49" charset="-122"/>
                <a:cs typeface="Courier New" pitchFamily="49" charset="-120"/>
              </a:rPr>
              <a:t>kev: "true"</a:t>
            </a:r>
            <a:endParaRPr lang="en-US" sz="1121" dirty="0"/>
          </a:p>
        </p:txBody>
      </p:sp>
      <p:sp>
        <p:nvSpPr>
          <p:cNvPr id="8" name="Text 6"/>
          <p:cNvSpPr/>
          <p:nvPr/>
        </p:nvSpPr>
        <p:spPr>
          <a:xfrm>
            <a:off x="1066800" y="3093789"/>
            <a:ext cx="10360152" cy="22016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F7F8F6"/>
                </a:solidFill>
                <a:latin typeface="Courier New" pitchFamily="49" charset="0"/>
                <a:ea typeface="Courier New" pitchFamily="49" charset="-122"/>
                <a:cs typeface="Courier New" pitchFamily="49" charset="-120"/>
              </a:rPr>
              <a:t>fail-on-kev: "true"</a:t>
            </a:r>
            <a:endParaRPr lang="en-US" sz="1121" dirty="0"/>
          </a:p>
        </p:txBody>
      </p:sp>
      <p:sp>
        <p:nvSpPr>
          <p:cNvPr id="9" name="Text 7"/>
          <p:cNvSpPr/>
          <p:nvPr/>
        </p:nvSpPr>
        <p:spPr>
          <a:xfrm>
            <a:off x="1066800" y="3326656"/>
            <a:ext cx="10360152" cy="220166"/>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F7F8F6"/>
                </a:solidFill>
                <a:latin typeface="Courier New" pitchFamily="49" charset="0"/>
                <a:ea typeface="Courier New" pitchFamily="49" charset="-122"/>
                <a:cs typeface="Courier New" pitchFamily="49" charset="-120"/>
              </a:rPr>
              <a:t>fail-on-severity: high</a:t>
            </a:r>
            <a:endParaRPr lang="en-US" sz="1121" dirty="0"/>
          </a:p>
        </p:txBody>
      </p:sp>
      <p:sp>
        <p:nvSpPr>
          <p:cNvPr id="10" name="Shape 8"/>
          <p:cNvSpPr/>
          <p:nvPr/>
        </p:nvSpPr>
        <p:spPr>
          <a:xfrm>
            <a:off x="815975" y="4007197"/>
            <a:ext cx="2540000" cy="1061889"/>
          </a:xfrm>
          <a:prstGeom prst="roundRect">
            <a:avLst>
              <a:gd name="adj" fmla="val 9269"/>
            </a:avLst>
          </a:prstGeom>
          <a:solidFill>
            <a:srgbClr val="FFFFFF"/>
          </a:solidFill>
          <a:ln w="6350">
            <a:solidFill>
              <a:srgbClr val="DFE3DE"/>
            </a:solidFill>
            <a:prstDash val="solid"/>
          </a:ln>
        </p:spPr>
      </p:sp>
      <p:sp>
        <p:nvSpPr>
          <p:cNvPr id="11" name="Text 9"/>
          <p:cNvSpPr/>
          <p:nvPr/>
        </p:nvSpPr>
        <p:spPr>
          <a:xfrm>
            <a:off x="996950" y="4188172"/>
            <a:ext cx="2243392" cy="334913"/>
          </a:xfrm>
          <a:prstGeom prst="rect">
            <a:avLst/>
          </a:prstGeom>
          <a:noFill/>
          <a:ln/>
        </p:spPr>
        <p:txBody>
          <a:bodyPr wrap="square" lIns="0" tIns="0" rIns="0" bIns="0" rtlCol="0" anchor="t">
            <a:normAutofit/>
          </a:bodyPr>
          <a:lstStyle/>
          <a:p>
            <a:pPr algn="l" indent="0" marL="0">
              <a:lnSpc>
                <a:spcPts val="2474"/>
              </a:lnSpc>
              <a:buNone/>
            </a:pPr>
            <a:r>
              <a:rPr lang="en-US" sz="1767" b="1" dirty="0">
                <a:solidFill>
                  <a:srgbClr val="1F7A6C"/>
                </a:solidFill>
                <a:latin typeface="Courier New" pitchFamily="49" charset="0"/>
                <a:ea typeface="Courier New" pitchFamily="49" charset="-122"/>
                <a:cs typeface="Courier New" pitchFamily="49" charset="-120"/>
              </a:rPr>
              <a:t>4</a:t>
            </a:r>
            <a:endParaRPr lang="en-US" sz="1767" dirty="0"/>
          </a:p>
        </p:txBody>
      </p:sp>
      <p:sp>
        <p:nvSpPr>
          <p:cNvPr id="12" name="Text 10"/>
          <p:cNvSpPr/>
          <p:nvPr/>
        </p:nvSpPr>
        <p:spPr>
          <a:xfrm>
            <a:off x="996950" y="4548485"/>
            <a:ext cx="2355850" cy="365026"/>
          </a:xfrm>
          <a:prstGeom prst="rect">
            <a:avLst/>
          </a:prstGeom>
          <a:noFill/>
          <a:ln/>
        </p:spPr>
        <p:txBody>
          <a:bodyPr wrap="square" lIns="0" tIns="0" rIns="0" bIns="0" rtlCol="0" anchor="t">
            <a:normAutofit/>
          </a:bodyPr>
          <a:lstStyle/>
          <a:p>
            <a:pPr algn="l" indent="0" marL="0">
              <a:lnSpc>
                <a:spcPts val="1621"/>
              </a:lnSpc>
              <a:buNone/>
            </a:pPr>
            <a:r>
              <a:rPr lang="en-US" sz="1247" dirty="0">
                <a:solidFill>
                  <a:srgbClr val="4A5568"/>
                </a:solidFill>
                <a:latin typeface="Verdana" pitchFamily="34" charset="0"/>
                <a:ea typeface="Verdana" pitchFamily="34" charset="-122"/>
                <a:cs typeface="Verdana" pitchFamily="34" charset="-120"/>
              </a:rPr>
              <a:t>a vulnerability past the line</a:t>
            </a:r>
            <a:endParaRPr lang="en-US" sz="1247" dirty="0"/>
          </a:p>
        </p:txBody>
      </p:sp>
      <p:sp>
        <p:nvSpPr>
          <p:cNvPr id="13" name="Shape 11"/>
          <p:cNvSpPr/>
          <p:nvPr/>
        </p:nvSpPr>
        <p:spPr>
          <a:xfrm>
            <a:off x="3489325" y="4007197"/>
            <a:ext cx="2540000" cy="1061889"/>
          </a:xfrm>
          <a:prstGeom prst="roundRect">
            <a:avLst>
              <a:gd name="adj" fmla="val 9269"/>
            </a:avLst>
          </a:prstGeom>
          <a:solidFill>
            <a:srgbClr val="FFFFFF"/>
          </a:solidFill>
          <a:ln w="6350">
            <a:solidFill>
              <a:srgbClr val="DFE3DE"/>
            </a:solidFill>
            <a:prstDash val="solid"/>
          </a:ln>
        </p:spPr>
      </p:sp>
      <p:sp>
        <p:nvSpPr>
          <p:cNvPr id="14" name="Text 12"/>
          <p:cNvSpPr/>
          <p:nvPr/>
        </p:nvSpPr>
        <p:spPr>
          <a:xfrm>
            <a:off x="3670300" y="4188172"/>
            <a:ext cx="2243392" cy="334913"/>
          </a:xfrm>
          <a:prstGeom prst="rect">
            <a:avLst/>
          </a:prstGeom>
          <a:noFill/>
          <a:ln/>
        </p:spPr>
        <p:txBody>
          <a:bodyPr wrap="square" lIns="0" tIns="0" rIns="0" bIns="0" rtlCol="0" anchor="t">
            <a:normAutofit/>
          </a:bodyPr>
          <a:lstStyle/>
          <a:p>
            <a:pPr algn="l" indent="0" marL="0">
              <a:lnSpc>
                <a:spcPts val="2474"/>
              </a:lnSpc>
              <a:buNone/>
            </a:pPr>
            <a:r>
              <a:rPr lang="en-US" sz="1767" b="1" dirty="0">
                <a:solidFill>
                  <a:srgbClr val="1F7A6C"/>
                </a:solidFill>
                <a:latin typeface="Courier New" pitchFamily="49" charset="0"/>
                <a:ea typeface="Courier New" pitchFamily="49" charset="-122"/>
                <a:cs typeface="Courier New" pitchFamily="49" charset="-120"/>
              </a:rPr>
              <a:t>3</a:t>
            </a:r>
            <a:endParaRPr lang="en-US" sz="1767" dirty="0"/>
          </a:p>
        </p:txBody>
      </p:sp>
      <p:sp>
        <p:nvSpPr>
          <p:cNvPr id="15" name="Text 13"/>
          <p:cNvSpPr/>
          <p:nvPr/>
        </p:nvSpPr>
        <p:spPr>
          <a:xfrm>
            <a:off x="3670300" y="4548485"/>
            <a:ext cx="2355850" cy="365026"/>
          </a:xfrm>
          <a:prstGeom prst="rect">
            <a:avLst/>
          </a:prstGeom>
          <a:noFill/>
          <a:ln/>
        </p:spPr>
        <p:txBody>
          <a:bodyPr wrap="square" lIns="0" tIns="0" rIns="0" bIns="0" rtlCol="0" anchor="t">
            <a:normAutofit/>
          </a:bodyPr>
          <a:lstStyle/>
          <a:p>
            <a:pPr algn="l" indent="0" marL="0">
              <a:lnSpc>
                <a:spcPts val="1664"/>
              </a:lnSpc>
              <a:buNone/>
            </a:pPr>
            <a:r>
              <a:rPr lang="en-US" sz="1280" dirty="0">
                <a:solidFill>
                  <a:srgbClr val="4A5568"/>
                </a:solidFill>
                <a:latin typeface="Verdana" pitchFamily="34" charset="0"/>
                <a:ea typeface="Verdana" pitchFamily="34" charset="-122"/>
                <a:cs typeface="Verdana" pitchFamily="34" charset="-120"/>
              </a:rPr>
              <a:t>a license the policy forbids</a:t>
            </a:r>
            <a:endParaRPr lang="en-US" sz="1280" dirty="0"/>
          </a:p>
        </p:txBody>
      </p:sp>
      <p:sp>
        <p:nvSpPr>
          <p:cNvPr id="16" name="Shape 14"/>
          <p:cNvSpPr/>
          <p:nvPr/>
        </p:nvSpPr>
        <p:spPr>
          <a:xfrm>
            <a:off x="6162675" y="4007197"/>
            <a:ext cx="2540000" cy="1061889"/>
          </a:xfrm>
          <a:prstGeom prst="roundRect">
            <a:avLst>
              <a:gd name="adj" fmla="val 9269"/>
            </a:avLst>
          </a:prstGeom>
          <a:solidFill>
            <a:srgbClr val="FFFFFF"/>
          </a:solidFill>
          <a:ln w="6350">
            <a:solidFill>
              <a:srgbClr val="DFE3DE"/>
            </a:solidFill>
            <a:prstDash val="solid"/>
          </a:ln>
        </p:spPr>
      </p:sp>
      <p:sp>
        <p:nvSpPr>
          <p:cNvPr id="17" name="Text 15"/>
          <p:cNvSpPr/>
          <p:nvPr/>
        </p:nvSpPr>
        <p:spPr>
          <a:xfrm>
            <a:off x="6343650" y="4188172"/>
            <a:ext cx="2243392" cy="334913"/>
          </a:xfrm>
          <a:prstGeom prst="rect">
            <a:avLst/>
          </a:prstGeom>
          <a:noFill/>
          <a:ln/>
        </p:spPr>
        <p:txBody>
          <a:bodyPr wrap="square" lIns="0" tIns="0" rIns="0" bIns="0" rtlCol="0" anchor="t">
            <a:normAutofit/>
          </a:bodyPr>
          <a:lstStyle/>
          <a:p>
            <a:pPr algn="l" indent="0" marL="0">
              <a:lnSpc>
                <a:spcPts val="2474"/>
              </a:lnSpc>
              <a:buNone/>
            </a:pPr>
            <a:r>
              <a:rPr lang="en-US" sz="1767" b="1" dirty="0">
                <a:solidFill>
                  <a:srgbClr val="1F7A6C"/>
                </a:solidFill>
                <a:latin typeface="Courier New" pitchFamily="49" charset="0"/>
                <a:ea typeface="Courier New" pitchFamily="49" charset="-122"/>
                <a:cs typeface="Courier New" pitchFamily="49" charset="-120"/>
              </a:rPr>
              <a:t>6</a:t>
            </a:r>
            <a:endParaRPr lang="en-US" sz="1767" dirty="0"/>
          </a:p>
        </p:txBody>
      </p:sp>
      <p:sp>
        <p:nvSpPr>
          <p:cNvPr id="18" name="Text 16"/>
          <p:cNvSpPr/>
          <p:nvPr/>
        </p:nvSpPr>
        <p:spPr>
          <a:xfrm>
            <a:off x="6343650" y="4548485"/>
            <a:ext cx="2355850" cy="365026"/>
          </a:xfrm>
          <a:prstGeom prst="rect">
            <a:avLst/>
          </a:prstGeom>
          <a:noFill/>
          <a:ln/>
        </p:spPr>
        <p:txBody>
          <a:bodyPr wrap="square" lIns="0" tIns="0" rIns="0" bIns="0" rtlCol="0" anchor="t">
            <a:normAutofit/>
          </a:bodyPr>
          <a:lstStyle/>
          <a:p>
            <a:pPr algn="l" indent="0" marL="0">
              <a:lnSpc>
                <a:spcPts val="1510"/>
              </a:lnSpc>
              <a:buNone/>
            </a:pPr>
            <a:r>
              <a:rPr lang="en-US" sz="1162" dirty="0">
                <a:solidFill>
                  <a:srgbClr val="4A5568"/>
                </a:solidFill>
                <a:latin typeface="Verdana" pitchFamily="34" charset="0"/>
                <a:ea typeface="Verdana" pitchFamily="34" charset="-122"/>
                <a:cs typeface="Verdana" pitchFamily="34" charset="-120"/>
              </a:rPr>
              <a:t>a change from the last SBOM</a:t>
            </a:r>
            <a:endParaRPr lang="en-US" sz="1162" dirty="0"/>
          </a:p>
        </p:txBody>
      </p:sp>
      <p:sp>
        <p:nvSpPr>
          <p:cNvPr id="19" name="Shape 17"/>
          <p:cNvSpPr/>
          <p:nvPr/>
        </p:nvSpPr>
        <p:spPr>
          <a:xfrm>
            <a:off x="8836025" y="4007197"/>
            <a:ext cx="2540000" cy="1061889"/>
          </a:xfrm>
          <a:prstGeom prst="roundRect">
            <a:avLst>
              <a:gd name="adj" fmla="val 9269"/>
            </a:avLst>
          </a:prstGeom>
          <a:solidFill>
            <a:srgbClr val="FFFFFF"/>
          </a:solidFill>
          <a:ln w="6350">
            <a:solidFill>
              <a:srgbClr val="DFE3DE"/>
            </a:solidFill>
            <a:prstDash val="solid"/>
          </a:ln>
        </p:spPr>
      </p:sp>
      <p:sp>
        <p:nvSpPr>
          <p:cNvPr id="20" name="Text 18"/>
          <p:cNvSpPr/>
          <p:nvPr/>
        </p:nvSpPr>
        <p:spPr>
          <a:xfrm>
            <a:off x="9017000" y="4188172"/>
            <a:ext cx="2243392" cy="334913"/>
          </a:xfrm>
          <a:prstGeom prst="rect">
            <a:avLst/>
          </a:prstGeom>
          <a:noFill/>
          <a:ln/>
        </p:spPr>
        <p:txBody>
          <a:bodyPr wrap="square" lIns="0" tIns="0" rIns="0" bIns="0" rtlCol="0" anchor="t">
            <a:normAutofit/>
          </a:bodyPr>
          <a:lstStyle/>
          <a:p>
            <a:pPr algn="l" indent="0" marL="0">
              <a:lnSpc>
                <a:spcPts val="2474"/>
              </a:lnSpc>
              <a:buNone/>
            </a:pPr>
            <a:r>
              <a:rPr lang="en-US" sz="1767" b="1" dirty="0">
                <a:solidFill>
                  <a:srgbClr val="1F7A6C"/>
                </a:solidFill>
                <a:latin typeface="Courier New" pitchFamily="49" charset="0"/>
                <a:ea typeface="Courier New" pitchFamily="49" charset="-122"/>
                <a:cs typeface="Courier New" pitchFamily="49" charset="-120"/>
              </a:rPr>
              <a:t>10</a:t>
            </a:r>
            <a:endParaRPr lang="en-US" sz="1767" dirty="0"/>
          </a:p>
        </p:txBody>
      </p:sp>
      <p:sp>
        <p:nvSpPr>
          <p:cNvPr id="21" name="Text 19"/>
          <p:cNvSpPr/>
          <p:nvPr/>
        </p:nvSpPr>
        <p:spPr>
          <a:xfrm>
            <a:off x="9017000" y="4548485"/>
            <a:ext cx="2355850" cy="365026"/>
          </a:xfrm>
          <a:prstGeom prst="rect">
            <a:avLst/>
          </a:prstGeom>
          <a:noFill/>
          <a:ln/>
        </p:spPr>
        <p:txBody>
          <a:bodyPr wrap="square" lIns="0" tIns="0" rIns="0" bIns="0" rtlCol="0" anchor="t">
            <a:normAutofit/>
          </a:bodyPr>
          <a:lstStyle/>
          <a:p>
            <a:pPr algn="l" indent="0" marL="0">
              <a:lnSpc>
                <a:spcPts val="1563"/>
              </a:lnSpc>
              <a:buNone/>
            </a:pPr>
            <a:r>
              <a:rPr lang="en-US" sz="1203" dirty="0">
                <a:solidFill>
                  <a:srgbClr val="4A5568"/>
                </a:solidFill>
                <a:latin typeface="Verdana" pitchFamily="34" charset="0"/>
                <a:ea typeface="Verdana" pitchFamily="34" charset="-122"/>
                <a:cs typeface="Verdana" pitchFamily="34" charset="-120"/>
              </a:rPr>
              <a:t>a document too thin to trust</a:t>
            </a:r>
            <a:endParaRPr lang="en-US" sz="1203" dirty="0"/>
          </a:p>
        </p:txBody>
      </p:sp>
      <p:sp>
        <p:nvSpPr>
          <p:cNvPr id="22" name="Text 20"/>
          <p:cNvSpPr/>
          <p:nvPr/>
        </p:nvSpPr>
        <p:spPr>
          <a:xfrm>
            <a:off x="812800" y="5351661"/>
            <a:ext cx="11379200" cy="515739"/>
          </a:xfrm>
          <a:prstGeom prst="rect">
            <a:avLst/>
          </a:prstGeom>
          <a:noFill/>
          <a:ln/>
        </p:spPr>
        <p:txBody>
          <a:bodyPr wrap="square" lIns="0" tIns="0" rIns="0" bIns="0" rtlCol="0" anchor="t">
            <a:normAutofit/>
          </a:bodyPr>
          <a:lstStyle/>
          <a:p>
            <a:pPr algn="l" indent="0" marL="0">
              <a:lnSpc>
                <a:spcPts val="2149"/>
              </a:lnSpc>
              <a:buNone/>
            </a:pPr>
            <a:r>
              <a:rPr lang="en-US" sz="1535" dirty="0">
                <a:solidFill>
                  <a:srgbClr val="4A5568"/>
                </a:solidFill>
                <a:latin typeface="Verdana" pitchFamily="34" charset="0"/>
                <a:ea typeface="Verdana" pitchFamily="34" charset="-122"/>
                <a:cs typeface="Verdana" pitchFamily="34" charset="-120"/>
              </a:rPr>
              <a:t>Each gate has its own exit code, so the pipeline can tell what failed. The document is written either way.</a:t>
            </a:r>
            <a:endParaRPr lang="en-US" sz="15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12B"/>
                </a:solidFill>
                <a:latin typeface="Verdana" pitchFamily="34" charset="0"/>
                <a:ea typeface="Verdana" pitchFamily="34" charset="-122"/>
                <a:cs typeface="Verdana" pitchFamily="34" charset="-120"/>
              </a:rPr>
              <a:t>What it does not do</a:t>
            </a:r>
            <a:endParaRPr lang="en-US" sz="3600" dirty="0"/>
          </a:p>
        </p:txBody>
      </p:sp>
      <p:sp>
        <p:nvSpPr>
          <p:cNvPr id="3" name="Shape 1"/>
          <p:cNvSpPr/>
          <p:nvPr/>
        </p:nvSpPr>
        <p:spPr>
          <a:xfrm>
            <a:off x="812800" y="1598265"/>
            <a:ext cx="10566400" cy="0"/>
          </a:xfrm>
          <a:prstGeom prst="line">
            <a:avLst/>
          </a:prstGeom>
          <a:noFill/>
          <a:ln w="6350">
            <a:solidFill>
              <a:srgbClr val="DFE3DE"/>
            </a:solidFill>
            <a:prstDash val="solid"/>
          </a:ln>
        </p:spPr>
      </p:sp>
      <p:sp>
        <p:nvSpPr>
          <p:cNvPr id="4" name="Text 2"/>
          <p:cNvSpPr/>
          <p:nvPr/>
        </p:nvSpPr>
        <p:spPr>
          <a:xfrm>
            <a:off x="812800" y="1779240"/>
            <a:ext cx="3401060" cy="55880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0212B"/>
                </a:solidFill>
                <a:latin typeface="Verdana" pitchFamily="34" charset="0"/>
                <a:ea typeface="Verdana" pitchFamily="34" charset="-122"/>
                <a:cs typeface="Verdana" pitchFamily="34" charset="-120"/>
              </a:rPr>
              <a:t>Prove you are safe</a:t>
            </a:r>
            <a:endParaRPr lang="en-US" sz="1700" dirty="0"/>
          </a:p>
        </p:txBody>
      </p:sp>
      <p:sp>
        <p:nvSpPr>
          <p:cNvPr id="5" name="Text 3"/>
          <p:cNvSpPr/>
          <p:nvPr/>
        </p:nvSpPr>
        <p:spPr>
          <a:xfrm>
            <a:off x="4318000" y="1779240"/>
            <a:ext cx="72730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Verdana" pitchFamily="34" charset="0"/>
                <a:ea typeface="Verdana" pitchFamily="34" charset="-122"/>
                <a:cs typeface="Verdana" pitchFamily="34" charset="-120"/>
              </a:rPr>
              <a:t>It finds what is already published. An advisory that does not exist yet is not in any database.</a:t>
            </a:r>
            <a:endParaRPr lang="en-US" sz="1500" dirty="0"/>
          </a:p>
        </p:txBody>
      </p:sp>
      <p:sp>
        <p:nvSpPr>
          <p:cNvPr id="6" name="Shape 4"/>
          <p:cNvSpPr/>
          <p:nvPr/>
        </p:nvSpPr>
        <p:spPr>
          <a:xfrm>
            <a:off x="812800" y="2493615"/>
            <a:ext cx="10566400" cy="0"/>
          </a:xfrm>
          <a:prstGeom prst="line">
            <a:avLst/>
          </a:prstGeom>
          <a:noFill/>
          <a:ln w="6350">
            <a:solidFill>
              <a:srgbClr val="DFE3DE"/>
            </a:solidFill>
            <a:prstDash val="solid"/>
          </a:ln>
        </p:spPr>
      </p:sp>
      <p:sp>
        <p:nvSpPr>
          <p:cNvPr id="7" name="Text 5"/>
          <p:cNvSpPr/>
          <p:nvPr/>
        </p:nvSpPr>
        <p:spPr>
          <a:xfrm>
            <a:off x="812800" y="2674590"/>
            <a:ext cx="3401060" cy="55880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0212B"/>
                </a:solidFill>
                <a:latin typeface="Verdana" pitchFamily="34" charset="0"/>
                <a:ea typeface="Verdana" pitchFamily="34" charset="-122"/>
                <a:cs typeface="Verdana" pitchFamily="34" charset="-120"/>
              </a:rPr>
              <a:t>See what is not locked</a:t>
            </a:r>
            <a:endParaRPr lang="en-US" sz="1700" dirty="0"/>
          </a:p>
        </p:txBody>
      </p:sp>
      <p:sp>
        <p:nvSpPr>
          <p:cNvPr id="8" name="Text 6"/>
          <p:cNvSpPr/>
          <p:nvPr/>
        </p:nvSpPr>
        <p:spPr>
          <a:xfrm>
            <a:off x="4318000" y="2674590"/>
            <a:ext cx="72730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Verdana" pitchFamily="34" charset="0"/>
                <a:ea typeface="Verdana" pitchFamily="34" charset="-122"/>
                <a:cs typeface="Verdana" pitchFamily="34" charset="-120"/>
              </a:rPr>
              <a:t>Vendored code, a binary copied into the image, a package installed by hand: the lockfile does not name them.</a:t>
            </a:r>
            <a:endParaRPr lang="en-US" sz="1500" dirty="0"/>
          </a:p>
        </p:txBody>
      </p:sp>
      <p:sp>
        <p:nvSpPr>
          <p:cNvPr id="9" name="Shape 7"/>
          <p:cNvSpPr/>
          <p:nvPr/>
        </p:nvSpPr>
        <p:spPr>
          <a:xfrm>
            <a:off x="812800" y="3388965"/>
            <a:ext cx="10566400" cy="0"/>
          </a:xfrm>
          <a:prstGeom prst="line">
            <a:avLst/>
          </a:prstGeom>
          <a:noFill/>
          <a:ln w="6350">
            <a:solidFill>
              <a:srgbClr val="DFE3DE"/>
            </a:solidFill>
            <a:prstDash val="solid"/>
          </a:ln>
        </p:spPr>
      </p:sp>
      <p:sp>
        <p:nvSpPr>
          <p:cNvPr id="10" name="Text 8"/>
          <p:cNvSpPr/>
          <p:nvPr/>
        </p:nvSpPr>
        <p:spPr>
          <a:xfrm>
            <a:off x="812800" y="3569940"/>
            <a:ext cx="3401060" cy="55880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0212B"/>
                </a:solidFill>
                <a:latin typeface="Verdana" pitchFamily="34" charset="0"/>
                <a:ea typeface="Verdana" pitchFamily="34" charset="-122"/>
                <a:cs typeface="Verdana" pitchFamily="34" charset="-120"/>
              </a:rPr>
              <a:t>Decide reachability</a:t>
            </a:r>
            <a:endParaRPr lang="en-US" sz="1700" dirty="0"/>
          </a:p>
        </p:txBody>
      </p:sp>
      <p:sp>
        <p:nvSpPr>
          <p:cNvPr id="11" name="Text 9"/>
          <p:cNvSpPr/>
          <p:nvPr/>
        </p:nvSpPr>
        <p:spPr>
          <a:xfrm>
            <a:off x="4318000" y="3569940"/>
            <a:ext cx="72730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Verdana" pitchFamily="34" charset="0"/>
                <a:ea typeface="Verdana" pitchFamily="34" charset="-122"/>
                <a:cs typeface="Verdana" pitchFamily="34" charset="-120"/>
              </a:rPr>
              <a:t>A finding means a vulnerable version is present, not that your code calls it. VEX records that judgment; it does not make it.</a:t>
            </a:r>
            <a:endParaRPr lang="en-US" sz="1500" dirty="0"/>
          </a:p>
        </p:txBody>
      </p:sp>
      <p:sp>
        <p:nvSpPr>
          <p:cNvPr id="12" name="Shape 10"/>
          <p:cNvSpPr/>
          <p:nvPr/>
        </p:nvSpPr>
        <p:spPr>
          <a:xfrm>
            <a:off x="812800" y="4284315"/>
            <a:ext cx="10566400" cy="0"/>
          </a:xfrm>
          <a:prstGeom prst="line">
            <a:avLst/>
          </a:prstGeom>
          <a:noFill/>
          <a:ln w="6350">
            <a:solidFill>
              <a:srgbClr val="DFE3DE"/>
            </a:solidFill>
            <a:prstDash val="solid"/>
          </a:ln>
        </p:spPr>
      </p:sp>
      <p:sp>
        <p:nvSpPr>
          <p:cNvPr id="13" name="Shape 11"/>
          <p:cNvSpPr/>
          <p:nvPr/>
        </p:nvSpPr>
        <p:spPr>
          <a:xfrm>
            <a:off x="812800" y="5179665"/>
            <a:ext cx="10566400" cy="0"/>
          </a:xfrm>
          <a:prstGeom prst="line">
            <a:avLst/>
          </a:prstGeom>
          <a:noFill/>
          <a:ln w="6350">
            <a:solidFill>
              <a:srgbClr val="DFE3DE"/>
            </a:solidFill>
            <a:prstDash val="solid"/>
          </a:ln>
        </p:spPr>
      </p:sp>
      <p:sp>
        <p:nvSpPr>
          <p:cNvPr id="14" name="Text 12"/>
          <p:cNvSpPr/>
          <p:nvPr/>
        </p:nvSpPr>
        <p:spPr>
          <a:xfrm>
            <a:off x="812800" y="4465290"/>
            <a:ext cx="3401060" cy="55880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0212B"/>
                </a:solidFill>
                <a:latin typeface="Verdana" pitchFamily="34" charset="0"/>
                <a:ea typeface="Verdana" pitchFamily="34" charset="-122"/>
                <a:cs typeface="Verdana" pitchFamily="34" charset="-120"/>
              </a:rPr>
              <a:t>Replace the mapping</a:t>
            </a:r>
            <a:endParaRPr lang="en-US" sz="1700" dirty="0"/>
          </a:p>
        </p:txBody>
      </p:sp>
      <p:sp>
        <p:nvSpPr>
          <p:cNvPr id="15" name="Text 13"/>
          <p:cNvSpPr/>
          <p:nvPr/>
        </p:nvSpPr>
        <p:spPr>
          <a:xfrm>
            <a:off x="4318000" y="4465290"/>
            <a:ext cx="72730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Verdana" pitchFamily="34" charset="0"/>
                <a:ea typeface="Verdana" pitchFamily="34" charset="-122"/>
                <a:cs typeface="Verdana" pitchFamily="34" charset="-120"/>
              </a:rPr>
              <a:t>The PyPI identity is only as good as conda-forge's mapping. Where there is none, it says so.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12B"/>
        </a:solidFill>
      </p:bgPr>
    </p:bg>
    <p:spTree>
      <p:nvGrpSpPr>
        <p:cNvPr id="1" name=""/>
        <p:cNvGrpSpPr/>
        <p:nvPr/>
      </p:nvGrpSpPr>
      <p:grpSpPr>
        <a:xfrm>
          <a:off x="0" y="0"/>
          <a:ext cx="0" cy="0"/>
          <a:chOff x="0" y="0"/>
          <a:chExt cx="0" cy="0"/>
        </a:xfrm>
      </p:grpSpPr>
      <p:sp>
        <p:nvSpPr>
          <p:cNvPr id="2" name="Text 0"/>
          <p:cNvSpPr/>
          <p:nvPr>
            <p:ph type="title"/>
          </p:nvPr>
        </p:nvSpPr>
        <p:spPr>
          <a:xfrm>
            <a:off x="812800" y="1295450"/>
            <a:ext cx="9810750"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8F6"/>
                </a:solidFill>
                <a:latin typeface="Verdana" pitchFamily="34" charset="0"/>
                <a:ea typeface="Verdana" pitchFamily="34" charset="-122"/>
                <a:cs typeface="Verdana" pitchFamily="34" charset="-120"/>
              </a:rPr>
              <a:t>Look at your own SBOM: is the hole there?</a:t>
            </a:r>
            <a:endParaRPr lang="en-US" sz="4800" dirty="0"/>
          </a:p>
        </p:txBody>
      </p:sp>
      <p:sp>
        <p:nvSpPr>
          <p:cNvPr id="3" name="Text 1"/>
          <p:cNvSpPr/>
          <p:nvPr/>
        </p:nvSpPr>
        <p:spPr>
          <a:xfrm>
            <a:off x="812800" y="285497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6FBFAE"/>
                </a:solidFill>
                <a:latin typeface="Courier New" pitchFamily="49" charset="0"/>
                <a:ea typeface="Courier New" pitchFamily="49" charset="-122"/>
                <a:cs typeface="Courier New" pitchFamily="49" charset="-120"/>
              </a:rPr>
              <a:t>pixi global install pixi-sbom</a:t>
            </a:r>
            <a:endParaRPr lang="en-US" sz="1800" dirty="0"/>
          </a:p>
        </p:txBody>
      </p:sp>
      <p:sp>
        <p:nvSpPr>
          <p:cNvPr id="4" name="Text 2"/>
          <p:cNvSpPr/>
          <p:nvPr/>
        </p:nvSpPr>
        <p:spPr>
          <a:xfrm>
            <a:off x="812800" y="327660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6FBFAE"/>
                </a:solidFill>
                <a:latin typeface="Courier New" pitchFamily="49" charset="0"/>
                <a:ea typeface="Courier New" pitchFamily="49" charset="-122"/>
                <a:cs typeface="Courier New" pitchFamily="49" charset="-120"/>
              </a:rPr>
              <a:t>uvx pixi-sbom --lockfile uv.lock</a:t>
            </a:r>
            <a:endParaRPr lang="en-US" sz="1800" dirty="0"/>
          </a:p>
        </p:txBody>
      </p:sp>
      <p:sp>
        <p:nvSpPr>
          <p:cNvPr id="5" name="Text 3"/>
          <p:cNvSpPr/>
          <p:nvPr/>
        </p:nvSpPr>
        <p:spPr>
          <a:xfrm>
            <a:off x="812800" y="369823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6FBFAE"/>
                </a:solidFill>
                <a:latin typeface="Courier New" pitchFamily="49" charset="0"/>
                <a:ea typeface="Courier New" pitchFamily="49" charset="-122"/>
                <a:cs typeface="Courier New" pitchFamily="49" charset="-120"/>
              </a:rPr>
              <a:t>uses: millsks/pixi-sbom@v1</a:t>
            </a:r>
            <a:endParaRPr lang="en-US" sz="1800" dirty="0"/>
          </a:p>
        </p:txBody>
      </p:sp>
      <p:sp>
        <p:nvSpPr>
          <p:cNvPr id="6" name="Text 4"/>
          <p:cNvSpPr/>
          <p:nvPr/>
        </p:nvSpPr>
        <p:spPr>
          <a:xfrm>
            <a:off x="812800" y="411986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6FBFAE"/>
                </a:solidFill>
                <a:latin typeface="Courier New" pitchFamily="49" charset="0"/>
                <a:ea typeface="Courier New" pitchFamily="49" charset="-122"/>
                <a:cs typeface="Courier New" pitchFamily="49" charset="-120"/>
              </a:rPr>
              <a:t>repo: https://github.com/millsks/pixi-sbom-pre-commit</a:t>
            </a:r>
            <a:endParaRPr lang="en-US" sz="1800" dirty="0"/>
          </a:p>
        </p:txBody>
      </p:sp>
      <p:sp>
        <p:nvSpPr>
          <p:cNvPr id="7" name="Text 5"/>
          <p:cNvSpPr/>
          <p:nvPr/>
        </p:nvSpPr>
        <p:spPr>
          <a:xfrm>
            <a:off x="812800" y="4719290"/>
            <a:ext cx="98107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5C4CA"/>
                </a:solidFill>
                <a:latin typeface="Verdana" pitchFamily="34" charset="0"/>
                <a:ea typeface="Verdana" pitchFamily="34" charset="-122"/>
                <a:cs typeface="Verdana" pitchFamily="34" charset="-120"/>
              </a:rPr>
              <a:t>Docs, the field manual and a hands-on lab: millsks.github.io/pixi-sbom</a:t>
            </a:r>
            <a:endParaRPr lang="en-US" sz="1800" dirty="0"/>
          </a:p>
          <a:p>
            <a:pPr algn="l" indent="0" marL="0">
              <a:lnSpc>
                <a:spcPts val="2520"/>
              </a:lnSpc>
              <a:buNone/>
            </a:pPr>
            <a:r>
              <a:rPr lang="en-US" sz="1800" dirty="0">
                <a:solidFill>
                  <a:srgbClr val="B5C4CA"/>
                </a:solidFill>
                <a:latin typeface="Verdana" pitchFamily="34" charset="0"/>
                <a:ea typeface="Verdana" pitchFamily="34" charset="-122"/>
                <a:cs typeface="Verdana" pitchFamily="34" charset="-120"/>
              </a:rPr>
              <a:t>Source, examples and the paper: github.com/millsks/pixi-sbom</a:t>
            </a:r>
            <a:endParaRPr lang="en-US" sz="1800" dirty="0"/>
          </a:p>
        </p:txBody>
      </p:sp>
    </p:spTree>
  </p:cSld>
  <p:clrMapOvr>
    <a:masterClrMapping/>
  </p:clrMapOvr>
</p:sld>
</file>

<file path=ppt/theme/theme1.xml><?xml version="1.0" encoding="utf-8"?>
<a:theme xmlns:a="http://schemas.openxmlformats.org/drawingml/2006/main" name="The Hole in Your SBOM">
  <a:themeElements>
    <a:clrScheme name="The Hole in Your SBOM">
      <a:dk1>
        <a:srgbClr val="10212B"/>
      </a:dk1>
      <a:lt1>
        <a:srgbClr val="F7F8F6"/>
      </a:lt1>
      <a:dk2>
        <a:srgbClr val="4A575E"/>
      </a:dk2>
      <a:lt2>
        <a:srgbClr val="E0E3E2"/>
      </a:lt2>
      <a:accent1>
        <a:srgbClr val="6FBFAE"/>
      </a:accent1>
      <a:accent2>
        <a:srgbClr val="1F7A6C"/>
      </a:accent2>
      <a:accent3>
        <a:srgbClr val="4A5568"/>
      </a:accent3>
      <a:accent4>
        <a:srgbClr val="B5C4CA"/>
      </a:accent4>
      <a:accent5>
        <a:srgbClr val="7A8C93"/>
      </a:accent5>
      <a:accent6>
        <a:srgbClr val="9AA0A6"/>
      </a:accent6>
      <a:hlink>
        <a:srgbClr val="0563C1"/>
      </a:hlink>
      <a:folHlink>
        <a:srgbClr val="954F72"/>
      </a:folHlink>
    </a:clrScheme>
    <a:fontScheme name="The Hole in Your SBOM">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Ne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Hole in Your SBOM</dc:title>
  <dc:subject/>
  <dc:creator/>
  <cp:lastModifiedBy/>
  <cp:revision>1</cp:revision>
  <dcterms:created xsi:type="dcterms:W3CDTF">2026-10-10T00:25:30Z</dcterms:created>
  <dcterms:modified xsi:type="dcterms:W3CDTF">2026-10-10T00:25:30Z</dcterms:modified>
</cp:coreProperties>
</file>